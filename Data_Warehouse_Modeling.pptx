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377440" cy="237744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 MODELING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guide to Kimball, Inmon &amp; Data Vault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8229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non-technical readers  •  Concepts, analogies &amp; examples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 warehouse?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one well-organized library for all of a company's data.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HR, and Marketing each run their own systems, filled with data in different formats. A data warehouse pulls it all into one place and organizes it — so anyone can ask a question like “what were our best-selling products last quarter?” and get a fast, reliable answer.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57800" y="173736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1737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12280" y="2125980"/>
            <a:ext cx="7772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57800" y="288036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3268980"/>
            <a:ext cx="7772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57800" y="402336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4023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4411980"/>
            <a:ext cx="77724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23317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23317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organized home for all company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Modeling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“modeling” matter?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is simply deciding how information is arranged and connected — before it's stored.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DEDE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model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is a custom, slow puzzle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customer looks different in every system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don't match between teams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analysts take weeks to get oriented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AF3E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model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269748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structure everyone reports from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has one consistent record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match, every time, everywhere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analysts are productive in days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Modeling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organize a warehouse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schools of thought have emerged over the years — each with its own trade-offs.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22402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8516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Kimball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675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4160520"/>
            <a:ext cx="17830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434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small, fast, easy-to-query “star” structures aimed at business questions.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00700" y="22402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60070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29768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97680" y="3675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0" y="4160520"/>
            <a:ext cx="17830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3434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complete, tightly-controlled master structure first, then serve reports from it.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187452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49740" y="224028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934974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04672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Vault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46720" y="3675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• Link • Satellite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69680" y="4160520"/>
            <a:ext cx="178308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434340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flexible skeleton that adapts easily as source systems change.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Modeling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Kimball: the star schema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center table of “what happened”, surrounded by tables that describe “who, what, when, where.”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54480" y="2606040"/>
            <a:ext cx="2423160" cy="105156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77640" y="2606040"/>
            <a:ext cx="2423160" cy="105156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554480" y="3657600"/>
            <a:ext cx="2423160" cy="105156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977640" y="3657600"/>
            <a:ext cx="2423160" cy="105156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 w="15875">
            <a:solidFill>
              <a:srgbClr val="9FB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311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Customer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151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city, segment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94960" y="21031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 w="15875">
            <a:solidFill>
              <a:srgbClr val="9FB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2311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Product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261518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brand, price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 w="15875">
            <a:solidFill>
              <a:srgbClr val="9FB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Date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7183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day, month, quarter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420624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 w="15875">
            <a:solidFill>
              <a:srgbClr val="9FB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Store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47183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format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71800" y="31546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06324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Sales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63240" y="3685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sold, revenue, cost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18120" y="1600200"/>
            <a:ext cx="3794760" cy="4251960"/>
          </a:xfrm>
          <a:prstGeom prst="roundRect">
            <a:avLst>
              <a:gd name="adj" fmla="val 2410"/>
            </a:avLst>
          </a:prstGeom>
          <a:solidFill>
            <a:srgbClr val="F7F1E3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92440" y="224028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= the events or measurements (a sale, a click, a shipment)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 = the descriptive labels around each event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dashboards — fast, intuitive, business-friendly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“Revenue by Product Category, by Month” is a simple join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Modeling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Inmon: one single source of truth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whole “city plan” first — a complete, consistent core — then let neighborhoods (reports) branch off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2308860"/>
            <a:ext cx="502920" cy="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78892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88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77440" y="3131820"/>
            <a:ext cx="50292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61188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flipV="1">
            <a:off x="2377440" y="3954780"/>
            <a:ext cx="502920" cy="-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965960"/>
            <a:ext cx="283464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331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• one version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fact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313182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20840" y="173736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EAF3EC"/>
          </a:solidFill>
          <a:ln w="12700">
            <a:solidFill>
              <a:srgbClr val="BFDC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17373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Mart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265176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EAF3EC"/>
          </a:solidFill>
          <a:ln w="12700">
            <a:solidFill>
              <a:srgbClr val="BFDC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6517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Mart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356616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EAF3EC"/>
          </a:solidFill>
          <a:ln w="12700">
            <a:solidFill>
              <a:srgbClr val="BFDC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566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20840" y="448056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EAF3EC"/>
          </a:solidFill>
          <a:ln w="12700">
            <a:solidFill>
              <a:srgbClr val="BFDC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480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Mart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15400" y="1600200"/>
            <a:ext cx="2651760" cy="4251960"/>
          </a:xfrm>
          <a:prstGeom prst="roundRect">
            <a:avLst>
              <a:gd name="adj" fmla="val 3448"/>
            </a:avLst>
          </a:prstGeom>
          <a:solidFill>
            <a:srgbClr val="F7F1E3"/>
          </a:solidFill>
          <a:ln/>
        </p:spPr>
      </p:sp>
      <p:sp>
        <p:nvSpPr>
          <p:cNvPr id="26" name="Text 24"/>
          <p:cNvSpPr/>
          <p:nvPr/>
        </p:nvSpPr>
        <p:spPr>
          <a:xfrm>
            <a:off x="909828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98280" y="2240280"/>
            <a:ext cx="2331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first, speed second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launch, but very trustworthy long-term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 for large, regulated enterprises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Modeling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Vault: built for change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filing system with three simple folder types — easy to extend when source systems change.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5478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key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 list of “who/what exists” — e.g. every unique Customer ID.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0248" y="3520440"/>
            <a:ext cx="68580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51960" y="19202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2240280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562356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51960" y="3154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51960" y="35478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26280" y="39776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hubs connect — e.g. this Customer bought this Product.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90688" y="3520440"/>
            <a:ext cx="68580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72400" y="192024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0" y="22402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0" y="3154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SATELLITE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0" y="35478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changing details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46720" y="397764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time-stamped attributes — e.g. address history, price changes.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5349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when a source system changes, you add a new folder — you don't rebuild the cabinet.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Modeling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approaches compare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3566160"/>
        </p:xfrm>
        <a:graphic>
          <a:graphicData uri="http://schemas.openxmlformats.org/drawingml/2006/table">
            <a:tbl>
              <a:tblPr/>
              <a:tblGrid>
                <a:gridCol w="2286000"/>
                <a:gridCol w="3566160"/>
                <a:gridCol w="173736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to launch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Kimball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(Star Schema)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reporting &amp; dashboards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(Enterprise DW)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Enterprise-wide consistency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Fast-changing sources, audit trails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Medium-High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7F1E3"/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50749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wins when speed and usability matter most. Inmon wins when consistency and governance matter most. Data Vault wins when your sources change often and you need full history.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Modeling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practice: combine them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ingredients → an organized pantry → ready-to-eat meals.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09748" y="320040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78028" y="23317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6708" y="2560320"/>
            <a:ext cx="594360" cy="594360"/>
          </a:xfrm>
          <a:prstGeom prst="ellipse">
            <a:avLst/>
          </a:prstGeom>
          <a:solidFill>
            <a:srgbClr val="8E8E8E"/>
          </a:solidFill>
          <a:ln/>
        </p:spPr>
      </p:sp>
      <p:sp>
        <p:nvSpPr>
          <p:cNvPr id="7" name="Text 5"/>
          <p:cNvSpPr/>
          <p:nvPr/>
        </p:nvSpPr>
        <p:spPr>
          <a:xfrm>
            <a:off x="1546708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9468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7756" y="361188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from source systems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12668" y="23317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1348" y="2560320"/>
            <a:ext cx="594360" cy="59436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4381348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04108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Vault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22396" y="361188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staging with full history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79028" y="3200400"/>
            <a:ext cx="50292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47308" y="23317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15988" y="25603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215988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8748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57036" y="361188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Kimball-style, business-friendly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81948" y="23317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 w="12700">
            <a:solidFill>
              <a:srgbClr val="D7D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0628" y="256032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0628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73388" y="3246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91676" y="3611880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answers for everyone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4709160"/>
            <a:ext cx="105156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4709160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Vault absorbs messy, changing source systems without breaking things. The star schema on top gives business users a simple, fast layer for reports — the best of both worlds.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Modeling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325880"/>
            <a:ext cx="82296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556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6733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= organizing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08760" y="20208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just means deciding how information is arranged before it's stored, so it's fast and easy to 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= quick wins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508760" y="291693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schemas are simple and fast — great for dashboards and business reporting.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5478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46557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Inmon = consistency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508760" y="38130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normalized core keeps every number aligned across the whole enterprise.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44398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3616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Vault = flexibility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08760" y="47091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Hubs, links, and satellites absorb change and keep full history without a rebuild.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3400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257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blend them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08760" y="5605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(or similar) for staging, star schema for the reporting layer people actually use.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Modeling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2026-09-08T13:51:09Z</dcterms:created>
  <dcterms:modified xsi:type="dcterms:W3CDTF">2026-09-08T13:51:09Z</dcterms:modified>
</cp:coreProperties>
</file>