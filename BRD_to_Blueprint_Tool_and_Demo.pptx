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8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what goes in, what the BRD Programme and Architect Reviewer agents do with it, and what comes out. Every stage ends with a review page and waits for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client through the blueprint in this order: frame, design, build and run, prove and deliver, govern. Then switch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from the HTML blueprint with an example project (Customer 360: Customer Master, Billing, Orders). Use the numbers to walk the audience through the page before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5"/>
                </a:solidFill>
              </a:rPr>
              <a:t>BRD to Blueprint playbook | Agentic tool at a glance and demo | For discussion purposes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F5C"/>
                </a:solidFill>
              </a:rPr>
              <a:t>Agentic tool at a glance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275"/>
                </a:solidFill>
              </a:rPr>
              <a:t>Verticals' BRDs go in; two agents analyse them with you, stage by stage; a rebuilt BRD per vertical and one project blueprint come out</a:t>
            </a:r>
            <a:endParaRPr lang="en-US" sz="1500" dirty="0"/>
          </a:p>
        </p:txBody>
      </p:sp>
      <p:sp>
        <p:nvSpPr>
          <p:cNvPr id="4" name="Column INPUT"/>
          <p:cNvSpPr/>
          <p:nvPr/>
        </p:nvSpPr>
        <p:spPr>
          <a:xfrm>
            <a:off x="45720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566928" cy="566928"/>
          </a:xfrm>
          <a:prstGeom prst="ellipse">
            <a:avLst/>
          </a:prstGeom>
          <a:solidFill>
            <a:srgbClr val="C77B30"/>
          </a:solidFill>
          <a:ln w="12700">
            <a:solidFill>
              <a:srgbClr val="C77B3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C77B30"/>
                </a:solidFill>
              </a:rPr>
              <a:t>INPUT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44752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275"/>
                </a:solidFill>
              </a:rPr>
              <a:t>What you give it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514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BRD files per vertical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Summary + Business &amp; Technical BRD, in Markdown; any number of verticals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1927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Databricks metadata via Genie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70432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Tables, columns, procedures, dependencies, read-only (optional)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12394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70432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Technology and guardrails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1170432" y="4352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Databricks or Fabric, with its design rules and checklist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92861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70432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Your answers and decisions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170432" y="51572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Given on review pages or in chat; recorded with your name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050792" y="3387852"/>
            <a:ext cx="219456" cy="402336"/>
          </a:xfrm>
          <a:prstGeom prst="chevron">
            <a:avLst/>
          </a:prstGeom>
          <a:solidFill>
            <a:srgbClr val="1F2F5C"/>
          </a:solidFill>
          <a:ln w="12700">
            <a:solidFill>
              <a:srgbClr val="1F2F5C"/>
            </a:solidFill>
            <a:prstDash val="solid"/>
          </a:ln>
        </p:spPr>
      </p:sp>
      <p:sp>
        <p:nvSpPr>
          <p:cNvPr id="22" name="Column ANALYSIS"/>
          <p:cNvSpPr/>
          <p:nvPr/>
        </p:nvSpPr>
        <p:spPr>
          <a:xfrm>
            <a:off x="434340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EEBF7"/>
          </a:solidFill>
          <a:ln w="9525">
            <a:solidFill>
              <a:srgbClr val="EEEBF7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617720" y="1673352"/>
            <a:ext cx="566928" cy="566928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181965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3095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6B5CA5"/>
                </a:solidFill>
              </a:rPr>
              <a:t>ANALYSIS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5330952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275"/>
                </a:solidFill>
              </a:rPr>
              <a:t>What the agents do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251460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056632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Read and understand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5056632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Reads every vertical first, then each one in depth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33192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056632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Find and close gaps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5056632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Inside each vertical and at the edges between them; Genie first, then you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4123944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056632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Connect the verticals</a:t>
            </a:r>
            <a:endParaRPr lang="en-US" sz="1400" dirty="0"/>
          </a:p>
        </p:txBody>
      </p:sp>
      <p:sp>
        <p:nvSpPr>
          <p:cNvPr id="35" name="Text 24"/>
          <p:cNvSpPr txBox="1"/>
          <p:nvPr/>
        </p:nvSpPr>
        <p:spPr>
          <a:xfrm>
            <a:off x="5056632" y="4352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Relationships, shared definitions, build order, readiness</a:t>
            </a:r>
            <a:endParaRPr lang="en-US" sz="12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008" y="4928616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056632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Rebuild, design, challenge</a:t>
            </a:r>
            <a:endParaRPr lang="en-US" sz="1400" dirty="0"/>
          </a:p>
        </p:txBody>
      </p:sp>
      <p:sp>
        <p:nvSpPr>
          <p:cNvPr id="38" name="Text 26"/>
          <p:cNvSpPr txBox="1"/>
          <p:nvPr/>
        </p:nvSpPr>
        <p:spPr>
          <a:xfrm>
            <a:off x="5056632" y="51572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Versioned BRDs, blueprint in 7 parts, Architect Reviewer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7936992" y="3387852"/>
            <a:ext cx="219456" cy="402336"/>
          </a:xfrm>
          <a:prstGeom prst="chevron">
            <a:avLst/>
          </a:prstGeom>
          <a:solidFill>
            <a:srgbClr val="1F2F5C"/>
          </a:solidFill>
          <a:ln w="12700">
            <a:solidFill>
              <a:srgbClr val="1F2F5C"/>
            </a:solidFill>
            <a:prstDash val="solid"/>
          </a:ln>
        </p:spPr>
      </p:sp>
      <p:sp>
        <p:nvSpPr>
          <p:cNvPr id="40" name="Column OUTPUT"/>
          <p:cNvSpPr/>
          <p:nvPr/>
        </p:nvSpPr>
        <p:spPr>
          <a:xfrm>
            <a:off x="822960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8F3EF"/>
          </a:solidFill>
          <a:ln w="9525">
            <a:solidFill>
              <a:srgbClr val="E8F3EF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8503920" y="1673352"/>
            <a:ext cx="566928" cy="566928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0224" y="1819656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21715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2F8F83"/>
                </a:solidFill>
              </a:rPr>
              <a:t>OUTPUT</a:t>
            </a:r>
            <a:endParaRPr lang="en-US" sz="1800" dirty="0"/>
          </a:p>
        </p:txBody>
      </p:sp>
      <p:sp>
        <p:nvSpPr>
          <p:cNvPr id="44" name="Text 31"/>
          <p:cNvSpPr txBox="1"/>
          <p:nvPr/>
        </p:nvSpPr>
        <p:spPr>
          <a:xfrm>
            <a:off x="9217152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275"/>
                </a:solidFill>
              </a:rPr>
              <a:t>What you get</a:t>
            </a:r>
            <a:endParaRPr lang="en-US" sz="13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2514600"/>
            <a:ext cx="256032" cy="25603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942832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Rebuilt BRD per vertical</a:t>
            </a:r>
            <a:endParaRPr lang="en-US" sz="1400" dirty="0"/>
          </a:p>
        </p:txBody>
      </p:sp>
      <p:sp>
        <p:nvSpPr>
          <p:cNvPr id="47" name="Text 33"/>
          <p:cNvSpPr txBox="1"/>
          <p:nvPr/>
        </p:nvSpPr>
        <p:spPr>
          <a:xfrm>
            <a:off x="8942832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BRD_v1, v2 … with change log; approved version recorded</a:t>
            </a:r>
            <a:endParaRPr lang="en-US" sz="12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208" y="3319272"/>
            <a:ext cx="256032" cy="25603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942832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One project blueprint</a:t>
            </a:r>
            <a:endParaRPr lang="en-US" sz="1400" dirty="0"/>
          </a:p>
        </p:txBody>
      </p:sp>
      <p:sp>
        <p:nvSpPr>
          <p:cNvPr id="50" name="Text 35"/>
          <p:cNvSpPr txBox="1"/>
          <p:nvPr/>
        </p:nvSpPr>
        <p:spPr>
          <a:xfrm>
            <a:off x="8942832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Markdown + styled HTML: 23 sections and 3 appendices</a:t>
            </a:r>
            <a:endParaRPr lang="en-US" sz="12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22208" y="4123944"/>
            <a:ext cx="256032" cy="256032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8942832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Registers and evidence</a:t>
            </a:r>
            <a:endParaRPr lang="en-US" sz="1400" dirty="0"/>
          </a:p>
        </p:txBody>
      </p:sp>
      <p:sp>
        <p:nvSpPr>
          <p:cNvPr id="53" name="Text 37"/>
          <p:cNvSpPr txBox="1"/>
          <p:nvPr/>
        </p:nvSpPr>
        <p:spPr>
          <a:xfrm>
            <a:off x="8942832" y="43525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Relationships, gaps, decisions, Genie log, traceability</a:t>
            </a:r>
            <a:endParaRPr lang="en-US" sz="12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208" y="4928616"/>
            <a:ext cx="256032" cy="25603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942832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</a:rPr>
              <a:t>Review trail</a:t>
            </a:r>
            <a:endParaRPr lang="en-US" sz="1400" dirty="0"/>
          </a:p>
        </p:txBody>
      </p:sp>
      <p:sp>
        <p:nvSpPr>
          <p:cNvPr id="56" name="Text 39"/>
          <p:cNvSpPr txBox="1"/>
          <p:nvPr/>
        </p:nvSpPr>
        <p:spPr>
          <a:xfrm>
            <a:off x="8942832" y="51572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75"/>
                </a:solidFill>
              </a:rPr>
              <a:t>Every review page and feedback file, every round</a:t>
            </a:r>
            <a:endParaRPr lang="en-US" sz="12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961888"/>
            <a:ext cx="237744" cy="237744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804672" y="5943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F5C"/>
                </a:solidFill>
              </a:rPr>
              <a:t>Your approval at every stage</a:t>
            </a:r>
            <a:endParaRPr lang="en-US" sz="13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1840" y="5961888"/>
            <a:ext cx="237744" cy="237744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3639312" y="5943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F5C"/>
                </a:solidFill>
              </a:rPr>
              <a:t>Read-only against Databricks</a:t>
            </a:r>
            <a:endParaRPr lang="en-US" sz="1300" dirty="0"/>
          </a:p>
        </p:txBody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6480" y="5961888"/>
            <a:ext cx="237744" cy="237744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6473952" y="5943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F5C"/>
                </a:solidFill>
              </a:rPr>
              <a:t>Every statement cites its source</a:t>
            </a:r>
            <a:endParaRPr lang="en-US" sz="1300" dirty="0"/>
          </a:p>
        </p:txBody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61120" y="5961888"/>
            <a:ext cx="237744" cy="237744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9308592" y="5943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F5C"/>
                </a:solidFill>
              </a:rPr>
              <a:t>Nothing overwritten; versions kept</a:t>
            </a:r>
            <a:endParaRPr lang="en-US" sz="13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F5C"/>
                </a:solidFill>
              </a:rPr>
              <a:t>Demo: what the output contains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275"/>
                </a:solidFill>
              </a:rPr>
              <a:t>One project blueprint with 23 sections and 3 appendices, walked through with the client before implementation</a:t>
            </a:r>
            <a:endParaRPr lang="en-US" sz="1500" dirty="0"/>
          </a:p>
        </p:txBody>
      </p:sp>
      <p:sp>
        <p:nvSpPr>
          <p:cNvPr id="4" name="Group Frame the work"/>
          <p:cNvSpPr/>
          <p:nvPr/>
        </p:nvSpPr>
        <p:spPr>
          <a:xfrm>
            <a:off x="457200" y="141732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0200"/>
            <a:ext cx="457200" cy="457200"/>
          </a:xfrm>
          <a:prstGeom prst="ellipse">
            <a:avLst/>
          </a:prstGeom>
          <a:solidFill>
            <a:srgbClr val="1F2F5C"/>
          </a:solidFill>
          <a:ln w="12700">
            <a:solidFill>
              <a:srgbClr val="1F2F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Frame the work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Document control: versions, sources, approvals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Executive summary: figures, decisions, top risks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Ecosystem overview: verticals, flows, build order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What we are fixing: every BRD gap and its fix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Requirements baseline per vertical</a:t>
            </a:r>
            <a:endParaRPr lang="en-US" sz="1200" dirty="0"/>
          </a:p>
        </p:txBody>
      </p:sp>
      <p:sp>
        <p:nvSpPr>
          <p:cNvPr id="10" name="Group Design the solution"/>
          <p:cNvSpPr/>
          <p:nvPr/>
        </p:nvSpPr>
        <p:spPr>
          <a:xfrm>
            <a:off x="4261104" y="141732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1600200"/>
            <a:ext cx="457200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7190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38344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Design the solution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489704" y="219456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Solution architecture: layers, components, ADRs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Shared data across verticals: keys, contracts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One chapter per vertical: inputs, consumers, data model, mapping, rules, procedure migration, DQ</a:t>
            </a:r>
            <a:endParaRPr lang="en-US" sz="1200" dirty="0"/>
          </a:p>
        </p:txBody>
      </p:sp>
      <p:sp>
        <p:nvSpPr>
          <p:cNvPr id="16" name="Group Build and run it"/>
          <p:cNvSpPr/>
          <p:nvPr/>
        </p:nvSpPr>
        <p:spPr>
          <a:xfrm>
            <a:off x="8065008" y="141732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66176" y="1600200"/>
            <a:ext cx="457200" cy="457200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71907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42248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Build and run it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93608" y="219456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Processing and orchestration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Non-functional design: volumes, cost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Security and compliance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Operations: monitoring, alerts, runbook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Environments and release</a:t>
            </a:r>
            <a:endParaRPr lang="en-US" sz="1200" dirty="0"/>
          </a:p>
        </p:txBody>
      </p:sp>
      <p:sp>
        <p:nvSpPr>
          <p:cNvPr id="22" name="Group Prove and deliver it"/>
          <p:cNvSpPr/>
          <p:nvPr/>
        </p:nvSpPr>
        <p:spPr>
          <a:xfrm>
            <a:off x="457200" y="379476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965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Prove and deliver it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" y="457200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Quality and testing: every rule tested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Migration and cutover with go / no-go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Delivery plan: epics, sprints, RACI</a:t>
            </a:r>
            <a:endParaRPr lang="en-US" sz="1200" dirty="0"/>
          </a:p>
        </p:txBody>
      </p:sp>
      <p:sp>
        <p:nvSpPr>
          <p:cNvPr id="28" name="Group Govern it"/>
          <p:cNvSpPr/>
          <p:nvPr/>
        </p:nvSpPr>
        <p:spPr>
          <a:xfrm>
            <a:off x="4261104" y="379476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62272" y="3977640"/>
            <a:ext cx="457200" cy="457200"/>
          </a:xfrm>
          <a:prstGeom prst="ellipse">
            <a:avLst/>
          </a:prstGeom>
          <a:solidFill>
            <a:srgbClr val="C77B30"/>
          </a:solidFill>
          <a:ln w="12700">
            <a:solidFill>
              <a:srgbClr val="C77B3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409651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38344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Govern it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489704" y="457200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Guardrail compliance: Pass / Exception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Risks and assumptions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Clarifications still needed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Traceability: requirement → test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Genie usage · Architect review · Glossary</a:t>
            </a:r>
            <a:endParaRPr lang="en-US" sz="1200" dirty="0"/>
          </a:p>
        </p:txBody>
      </p:sp>
      <p:sp>
        <p:nvSpPr>
          <p:cNvPr id="34" name="Group Appendices"/>
          <p:cNvSpPr/>
          <p:nvPr/>
        </p:nvSpPr>
        <p:spPr>
          <a:xfrm>
            <a:off x="8065008" y="3794760"/>
            <a:ext cx="362102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66176" y="3977640"/>
            <a:ext cx="457200" cy="457200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409651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842248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3"/>
                </a:solidFill>
              </a:rPr>
              <a:t>Appendices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8293608" y="4572000"/>
            <a:ext cx="32095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A. Architecture decision records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B. Full source-to-target mapping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</a:rPr>
              <a:t>C. Full backlog with acceptance criteria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F5C"/>
                </a:solidFill>
              </a:rPr>
              <a:t>Also delivered: </a:t>
            </a:r>
            <a:r>
              <a:rPr lang="en-US" sz="1300" dirty="0">
                <a:solidFill>
                  <a:srgbClr val="5A6275"/>
                </a:solidFill>
              </a:rPr>
              <a:t>a rebuilt, versioned BRD per vertical · relationship, gap and decision registers · Genie log · every review page and feedback file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F5C"/>
                </a:solidFill>
              </a:rPr>
              <a:t>Demo: reading the blueprint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275"/>
                </a:solidFill>
              </a:rPr>
              <a:t>Four views of the HTML blueprint, read in the order of the live demo</a:t>
            </a:r>
            <a:endParaRPr lang="en-US" sz="1500" dirty="0"/>
          </a:p>
        </p:txBody>
      </p:sp>
      <p:sp>
        <p:nvSpPr>
          <p:cNvPr id="4" name="Panel Cover and document control"/>
          <p:cNvSpPr/>
          <p:nvPr/>
        </p:nvSpPr>
        <p:spPr>
          <a:xfrm>
            <a:off x="457200" y="1371600"/>
            <a:ext cx="5522976" cy="2395728"/>
          </a:xfrm>
          <a:prstGeom prst="roundRect">
            <a:avLst>
              <a:gd name="adj" fmla="val 2290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F5C"/>
                </a:solidFill>
              </a:rPr>
              <a:t>Cover and document control</a:t>
            </a:r>
            <a:endParaRPr lang="en-US" sz="1400" dirty="0"/>
          </a:p>
        </p:txBody>
      </p:sp>
      <p:sp>
        <p:nvSpPr>
          <p:cNvPr id="6" name="Cover and document control frame"/>
          <p:cNvSpPr/>
          <p:nvPr/>
        </p:nvSpPr>
        <p:spPr>
          <a:xfrm>
            <a:off x="996696" y="1856232"/>
            <a:ext cx="2889504" cy="1721383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</p:spPr>
      </p:sp>
      <p:pic>
        <p:nvPicPr>
          <p:cNvPr id="7" name="Image 0" descr="Cover and document contr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83664"/>
            <a:ext cx="2834640" cy="16665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" y="2264748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" y="22647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383620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69080" y="190195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69080" y="1901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398264" y="186537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Title and purpose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what is being built, in one line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" y="2898025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" y="289802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8680" y="3016897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9080" y="2505456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6908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398264" y="24688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Document strip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project, document ID, revision, platform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0936" y="3264659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" y="326465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8680" y="3383531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69080" y="3108960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69080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398264" y="307238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Traceable sign-off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source BRD versions, Genie status, approval</a:t>
            </a:r>
            <a:endParaRPr lang="en-US" sz="1100" dirty="0"/>
          </a:p>
        </p:txBody>
      </p:sp>
      <p:sp>
        <p:nvSpPr>
          <p:cNvPr id="26" name="Panel Executive summary"/>
          <p:cNvSpPr/>
          <p:nvPr/>
        </p:nvSpPr>
        <p:spPr>
          <a:xfrm>
            <a:off x="6208776" y="1371600"/>
            <a:ext cx="5522976" cy="2395728"/>
          </a:xfrm>
          <a:prstGeom prst="roundRect">
            <a:avLst>
              <a:gd name="adj" fmla="val 2290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83096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F5C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28" name="Executive summary frame"/>
          <p:cNvSpPr/>
          <p:nvPr/>
        </p:nvSpPr>
        <p:spPr>
          <a:xfrm>
            <a:off x="6748272" y="1856232"/>
            <a:ext cx="2889504" cy="1607597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</p:spPr>
      </p:sp>
      <p:pic>
        <p:nvPicPr>
          <p:cNvPr id="29" name="Image 1" descr="Executive summ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883664"/>
            <a:ext cx="2834640" cy="1552733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382512" y="223061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82512" y="2230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620256" y="2349484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820656" y="190195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820656" y="1901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149840" y="186537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Headline figures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verticals, requirements, gaps fixed, open items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82512" y="2665377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382512" y="26653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6620256" y="2784249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820656" y="2505456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820656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0149840" y="24688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The story in brief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what we build and why, in five sentences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382512" y="3069088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382512" y="3069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620256" y="3187960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820656" y="3108960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820656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0149840" y="307238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Decisions needed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what the client must decide, and by when</a:t>
            </a:r>
            <a:endParaRPr lang="en-US" sz="1100" dirty="0"/>
          </a:p>
        </p:txBody>
      </p:sp>
      <p:sp>
        <p:nvSpPr>
          <p:cNvPr id="48" name="Panel Ecosystem overview"/>
          <p:cNvSpPr/>
          <p:nvPr/>
        </p:nvSpPr>
        <p:spPr>
          <a:xfrm>
            <a:off x="457200" y="3931920"/>
            <a:ext cx="5522976" cy="2395728"/>
          </a:xfrm>
          <a:prstGeom prst="roundRect">
            <a:avLst>
              <a:gd name="adj" fmla="val 2290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31520" y="40599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F5C"/>
                </a:solidFill>
              </a:rPr>
              <a:t>Ecosystem overview</a:t>
            </a:r>
            <a:endParaRPr lang="en-US" sz="1400" dirty="0"/>
          </a:p>
        </p:txBody>
      </p:sp>
      <p:sp>
        <p:nvSpPr>
          <p:cNvPr id="50" name="Ecosystem overview frame"/>
          <p:cNvSpPr/>
          <p:nvPr/>
        </p:nvSpPr>
        <p:spPr>
          <a:xfrm>
            <a:off x="996696" y="4416552"/>
            <a:ext cx="1849374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</p:spPr>
      </p:sp>
      <p:pic>
        <p:nvPicPr>
          <p:cNvPr id="51" name="Image 2" descr="Ecosystem over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43984"/>
            <a:ext cx="1794510" cy="1737360"/>
          </a:xfrm>
          <a:prstGeom prst="rect">
            <a:avLst/>
          </a:prstGeom>
        </p:spPr>
      </p:pic>
      <p:sp>
        <p:nvSpPr>
          <p:cNvPr id="52" name="Shape 47"/>
          <p:cNvSpPr/>
          <p:nvPr/>
        </p:nvSpPr>
        <p:spPr>
          <a:xfrm>
            <a:off x="630936" y="4742078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30936" y="4742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68680" y="4860950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069080" y="446227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4069080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4398264" y="44256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Ecosystem layers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each vertical's role and the objects it owns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630936" y="5402275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630936" y="540227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868680" y="5521147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4069080" y="5065776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4069080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4398264" y="50292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Cross-vertical 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how data moves from ingest to serve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630936" y="581924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630936" y="5819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868680" y="5938114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4069080" y="5669280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4069080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4398264" y="563270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Relationship register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every link between verticals, with status</a:t>
            </a:r>
            <a:endParaRPr lang="en-US" sz="1100" dirty="0"/>
          </a:p>
        </p:txBody>
      </p:sp>
      <p:sp>
        <p:nvSpPr>
          <p:cNvPr id="70" name="Panel Governance and review"/>
          <p:cNvSpPr/>
          <p:nvPr/>
        </p:nvSpPr>
        <p:spPr>
          <a:xfrm>
            <a:off x="6208776" y="3931920"/>
            <a:ext cx="5522976" cy="2395728"/>
          </a:xfrm>
          <a:prstGeom prst="roundRect">
            <a:avLst>
              <a:gd name="adj" fmla="val 2290"/>
            </a:avLst>
          </a:prstGeom>
          <a:solidFill>
            <a:srgbClr val="F4F6FA"/>
          </a:solidFill>
          <a:ln w="9525">
            <a:solidFill>
              <a:srgbClr val="F4F6FA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6483096" y="40599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F5C"/>
                </a:solidFill>
              </a:rPr>
              <a:t>Governance and review</a:t>
            </a:r>
            <a:endParaRPr lang="en-US" sz="1400" dirty="0"/>
          </a:p>
        </p:txBody>
      </p:sp>
      <p:sp>
        <p:nvSpPr>
          <p:cNvPr id="72" name="Governance and review frame"/>
          <p:cNvSpPr/>
          <p:nvPr/>
        </p:nvSpPr>
        <p:spPr>
          <a:xfrm>
            <a:off x="6748272" y="4416552"/>
            <a:ext cx="2185845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9525">
            <a:solidFill>
              <a:srgbClr val="C9CEDA"/>
            </a:solidFill>
            <a:prstDash val="solid"/>
          </a:ln>
        </p:spPr>
      </p:sp>
      <p:pic>
        <p:nvPicPr>
          <p:cNvPr id="73" name="Image 3" descr="Governance and revi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443984"/>
            <a:ext cx="2130981" cy="1737360"/>
          </a:xfrm>
          <a:prstGeom prst="rect">
            <a:avLst/>
          </a:prstGeom>
        </p:spPr>
      </p:pic>
      <p:sp>
        <p:nvSpPr>
          <p:cNvPr id="74" name="Shape 68"/>
          <p:cNvSpPr/>
          <p:nvPr/>
        </p:nvSpPr>
        <p:spPr>
          <a:xfrm>
            <a:off x="6382512" y="4672584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6382512" y="4672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6" name="Shape 70"/>
          <p:cNvSpPr/>
          <p:nvPr/>
        </p:nvSpPr>
        <p:spPr>
          <a:xfrm>
            <a:off x="6620256" y="4791456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9820656" y="4462272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9820656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9" name="Text 73"/>
          <p:cNvSpPr txBox="1"/>
          <p:nvPr/>
        </p:nvSpPr>
        <p:spPr>
          <a:xfrm>
            <a:off x="10149840" y="442569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Guardrail compliance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every design rule: Pass or Exception</a:t>
            </a:r>
            <a:endParaRPr lang="en-US" sz="1100" dirty="0"/>
          </a:p>
        </p:txBody>
      </p:sp>
      <p:sp>
        <p:nvSpPr>
          <p:cNvPr id="80" name="Shape 74"/>
          <p:cNvSpPr/>
          <p:nvPr/>
        </p:nvSpPr>
        <p:spPr>
          <a:xfrm>
            <a:off x="6382512" y="5141671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81" name="Text 75"/>
          <p:cNvSpPr txBox="1"/>
          <p:nvPr/>
        </p:nvSpPr>
        <p:spPr>
          <a:xfrm>
            <a:off x="6382512" y="51416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82" name="Shape 76"/>
          <p:cNvSpPr/>
          <p:nvPr/>
        </p:nvSpPr>
        <p:spPr>
          <a:xfrm>
            <a:off x="6620256" y="5260543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9820656" y="5065776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9820656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85" name="Text 79"/>
          <p:cNvSpPr txBox="1"/>
          <p:nvPr/>
        </p:nvSpPr>
        <p:spPr>
          <a:xfrm>
            <a:off x="10149840" y="50292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Review controls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approve a section or request a change</a:t>
            </a:r>
            <a:endParaRPr lang="en-US" sz="1100" dirty="0"/>
          </a:p>
        </p:txBody>
      </p:sp>
      <p:sp>
        <p:nvSpPr>
          <p:cNvPr id="86" name="Shape 80"/>
          <p:cNvSpPr/>
          <p:nvPr/>
        </p:nvSpPr>
        <p:spPr>
          <a:xfrm>
            <a:off x="6382512" y="5801868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6382512" y="58018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88" name="Shape 82"/>
          <p:cNvSpPr/>
          <p:nvPr/>
        </p:nvSpPr>
        <p:spPr>
          <a:xfrm>
            <a:off x="6620256" y="5920740"/>
            <a:ext cx="128016" cy="0"/>
          </a:xfrm>
          <a:prstGeom prst="line">
            <a:avLst/>
          </a:prstGeom>
          <a:noFill/>
          <a:ln w="15875">
            <a:solidFill>
              <a:srgbClr val="D2452B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9820656" y="5669280"/>
            <a:ext cx="237744" cy="237744"/>
          </a:xfrm>
          <a:prstGeom prst="ellipse">
            <a:avLst/>
          </a:prstGeom>
          <a:solidFill>
            <a:srgbClr val="D2452B"/>
          </a:solidFill>
          <a:ln w="12700">
            <a:solidFill>
              <a:srgbClr val="D2452B"/>
            </a:solidFill>
            <a:prstDash val="solid"/>
          </a:ln>
        </p:spPr>
      </p:sp>
      <p:sp>
        <p:nvSpPr>
          <p:cNvPr id="90" name="Text 84"/>
          <p:cNvSpPr txBox="1"/>
          <p:nvPr/>
        </p:nvSpPr>
        <p:spPr>
          <a:xfrm>
            <a:off x="9820656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91" name="Text 85"/>
          <p:cNvSpPr txBox="1"/>
          <p:nvPr/>
        </p:nvSpPr>
        <p:spPr>
          <a:xfrm>
            <a:off x="10149840" y="563270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433"/>
                </a:solidFill>
              </a:rPr>
              <a:t>Risk register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275"/>
                </a:solidFill>
              </a:rPr>
              <a:t>impact, likelihood, mitigation, rating</a:t>
            </a:r>
            <a:endParaRPr lang="en-US" sz="11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D to Blueprint">
  <a:themeElements>
    <a:clrScheme name="BRD to Blueprint">
      <a:dk1>
        <a:srgbClr val="1E2433"/>
      </a:dk1>
      <a:lt1>
        <a:srgbClr val="FFFFFF"/>
      </a:lt1>
      <a:dk2>
        <a:srgbClr val="1F2F5C"/>
      </a:dk2>
      <a:lt2>
        <a:srgbClr val="F4F6FA"/>
      </a:lt2>
      <a:accent1>
        <a:srgbClr val="1F2F5C"/>
      </a:accent1>
      <a:accent2>
        <a:srgbClr val="6B5CA5"/>
      </a:accent2>
      <a:accent3>
        <a:srgbClr val="2F8F83"/>
      </a:accent3>
      <a:accent4>
        <a:srgbClr val="C77B30"/>
      </a:accent4>
      <a:accent5>
        <a:srgbClr val="2F6DB5"/>
      </a:accent5>
      <a:accent6>
        <a:srgbClr val="8C1D2F"/>
      </a:accent6>
      <a:hlink>
        <a:srgbClr val="2F6DB5"/>
      </a:hlink>
      <a:folHlink>
        <a:srgbClr val="6B5CA5"/>
      </a:folHlink>
    </a:clrScheme>
    <a:fontScheme name="BRD to Bluepri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Widescreen</PresentationFormat>
  <Paragraphs>132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BRD to Blueprint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BRD to Blueprint - agentic tool and demo</dc:title>
  <dc:subject>PptxGenJS Presentation</dc:subject>
  <dc:creator>PptxGenJS</dc:creator>
  <cp:lastModifiedBy>Arun Aravind</cp:lastModifiedBy>
  <cp:revision>2</cp:revision>
  <dcterms:created xsi:type="dcterms:W3CDTF">2026-10-28T11:32:31Z</dcterms:created>
  <dcterms:modified xsi:type="dcterms:W3CDTF">2026-10-28T11:37:22Z</dcterms:modified>
</cp:coreProperties>
</file>