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fecf8278-39ae-f6a9-8b13-1f91454c3d2e}">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playbook on one page. On the left is the evidence we already have: client documents, metadata exported read-only from SQL Server and Databricks, pipeline definitions, and the BRDs and memory files the team already produced, which we use but treat as unconfirmed. Anything new goes into an inbox at any time. Genie and Azure DevOps can be connected read-only; Genie is optional and DevOps comes when access arrives.
In the middle, inside VS Code with GitHub Copilot, two agents do the work. The BRD Reconstruction agent builds a memory of the system in four steps, then builds one BRD phase by phase. A separate Reviewer agent checks the work against the sources. The memory is versioned: new files raise the sub-version, and a separate consolidation agent raises the master version.
Along the bottom of the engine is the most important part: a person reviews every step in a browser page. Memory steps are advisory, so the reviewer can proceed without formal approval. Every BRD phase needs explicit approval before the next one starts.
On the right is what we deliver: the draft BRD in the client's template, stamped with the BRD, memory and playbook versions, plus the versioned memory, the full review trail, and a list of what the client still needs to confirm. Every statement is labelled Confirmed, From evidence, Inferred or Conflicting, so readers always know what has been signed off.
The controls row shows the safeguards: the BRD covers the current state only, versions appear everywhere, data access is read-only, no secrets go into chat, and nothing is 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lIns="0" tIns="0" rIns="0" bIns="0" rtlCol="0" anchor="ctr"/>
          <a:lstStyle/>
          <a:p>
            <a:pPr algn="l" indent="0" marL="0">
              <a:buNone/>
            </a:pPr>
            <a:r>
              <a:rPr lang="en-US" sz="3200" b="1" dirty="0">
                <a:solidFill>
                  <a:schemeClr val="tx1"/>
                </a:solidFill>
              </a:rPr>
              <a:t>How the BRD Reconstruction agent works</a:t>
            </a: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lIns="0" tIns="0" rIns="0" bIns="0" rtlCol="0" anchor="ctr"/>
          <a:lstStyle/>
          <a:p>
            <a:pPr indent="0" marL="0">
              <a:buNone/>
            </a:pPr>
            <a:r>
              <a:rPr lang="en-US" sz="1500" dirty="0">
                <a:solidFill>
                  <a:schemeClr val="accent6"/>
                </a:solidFill>
              </a:rPr>
              <a:t>Evidence in, a human-approved BRD out. Built and run in VS Code with GitHub Copilot.</a:t>
            </a:r>
            <a:endParaRPr lang="en-US" sz="1500" dirty="0"/>
          </a:p>
        </p:txBody>
      </p:sp>
      <p:sp>
        <p:nvSpPr>
          <p:cNvPr id="4" name="Evidence icon circle"/>
          <p:cNvSpPr/>
          <p:nvPr/>
        </p:nvSpPr>
        <p:spPr>
          <a:xfrm>
            <a:off x="411480" y="1389888"/>
            <a:ext cx="347472" cy="347472"/>
          </a:xfrm>
          <a:prstGeom prst="ellipse">
            <a:avLst/>
          </a:prstGeom>
          <a:solidFill>
            <a:schemeClr val="accent1"/>
          </a:solidFill>
          <a:ln/>
        </p:spPr>
      </p:sp>
      <p:pic>
        <p:nvPicPr>
          <p:cNvPr id="5" name="Image 0" descr="Evidence icon">    </p:cNvPr>
          <p:cNvPicPr>
            <a:picLocks noChangeAspect="1"/>
          </p:cNvPicPr>
          <p:nvPr/>
        </p:nvPicPr>
        <p:blipFill>
          <a:blip r:embed="rId1"/>
          <a:stretch>
            <a:fillRect/>
          </a:stretch>
        </p:blipFill>
        <p:spPr>
          <a:xfrm>
            <a:off x="494873" y="1473281"/>
            <a:ext cx="180685" cy="180685"/>
          </a:xfrm>
          <a:prstGeom prst="rect">
            <a:avLst/>
          </a:prstGeom>
        </p:spPr>
      </p:pic>
      <p:sp>
        <p:nvSpPr>
          <p:cNvPr id="6" name="Evidence heading"/>
          <p:cNvSpPr txBox="1"/>
          <p:nvPr/>
        </p:nvSpPr>
        <p:spPr>
          <a:xfrm>
            <a:off x="850392" y="1389888"/>
            <a:ext cx="1828800" cy="347472"/>
          </a:xfrm>
          <a:prstGeom prst="rect">
            <a:avLst/>
          </a:prstGeom>
          <a:noFill/>
          <a:ln/>
        </p:spPr>
        <p:txBody>
          <a:bodyPr wrap="square" lIns="0" tIns="0" rIns="0" bIns="0" rtlCol="0" anchor="ctr"/>
          <a:lstStyle/>
          <a:p>
            <a:pPr algn="l" indent="0" marL="0">
              <a:buNone/>
            </a:pPr>
            <a:r>
              <a:rPr lang="en-US" sz="1400" b="1" dirty="0">
                <a:solidFill>
                  <a:schemeClr val="tx1"/>
                </a:solidFill>
              </a:rPr>
              <a:t>Evidence in</a:t>
            </a:r>
            <a:endParaRPr lang="en-US" sz="1100" dirty="0"/>
          </a:p>
        </p:txBody>
      </p:sp>
      <p:sp>
        <p:nvSpPr>
          <p:cNvPr id="7" name="Input Client documents"/>
          <p:cNvSpPr/>
          <p:nvPr/>
        </p:nvSpPr>
        <p:spPr>
          <a:xfrm>
            <a:off x="411480" y="1847088"/>
            <a:ext cx="2331720" cy="512064"/>
          </a:xfrm>
          <a:prstGeom prst="roundRect">
            <a:avLst>
              <a:gd name="adj" fmla="val 10714"/>
            </a:avLst>
          </a:prstGeom>
          <a:solidFill>
            <a:schemeClr val="bg1"/>
          </a:solidFill>
          <a:ln w="12700">
            <a:solidFill>
              <a:srgbClr val="C9D5D3"/>
            </a:solidFill>
            <a:prstDash val="solid"/>
          </a:ln>
        </p:spPr>
      </p:sp>
      <p:sp>
        <p:nvSpPr>
          <p:cNvPr id="8" name="Input text Client documents"/>
          <p:cNvSpPr txBox="1"/>
          <p:nvPr/>
        </p:nvSpPr>
        <p:spPr>
          <a:xfrm>
            <a:off x="411480" y="1847088"/>
            <a:ext cx="2331720"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Client documents</a:t>
            </a:r>
            <a:endParaRPr lang="en-US" sz="1100" dirty="0"/>
          </a:p>
          <a:p>
            <a:pPr algn="l" indent="0" marL="0">
              <a:buNone/>
            </a:pPr>
            <a:r>
              <a:rPr lang="en-US" sz="1000" dirty="0">
                <a:solidFill>
                  <a:schemeClr val="accent6"/>
                </a:solidFill>
              </a:rPr>
              <a:t>implementation docs, slides, sheets</a:t>
            </a:r>
            <a:endParaRPr lang="en-US" sz="1100" dirty="0"/>
          </a:p>
        </p:txBody>
      </p:sp>
      <p:sp>
        <p:nvSpPr>
          <p:cNvPr id="9" name="Input Metadata exports"/>
          <p:cNvSpPr/>
          <p:nvPr/>
        </p:nvSpPr>
        <p:spPr>
          <a:xfrm>
            <a:off x="411480" y="2432304"/>
            <a:ext cx="2331720" cy="512064"/>
          </a:xfrm>
          <a:prstGeom prst="roundRect">
            <a:avLst>
              <a:gd name="adj" fmla="val 10714"/>
            </a:avLst>
          </a:prstGeom>
          <a:solidFill>
            <a:schemeClr val="bg1"/>
          </a:solidFill>
          <a:ln w="12700">
            <a:solidFill>
              <a:srgbClr val="C9D5D3"/>
            </a:solidFill>
            <a:prstDash val="solid"/>
          </a:ln>
        </p:spPr>
      </p:sp>
      <p:sp>
        <p:nvSpPr>
          <p:cNvPr id="10" name="Input text Metadata exports"/>
          <p:cNvSpPr txBox="1"/>
          <p:nvPr/>
        </p:nvSpPr>
        <p:spPr>
          <a:xfrm>
            <a:off x="411480" y="2432304"/>
            <a:ext cx="2331720"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Metadata exports</a:t>
            </a:r>
            <a:endParaRPr lang="en-US" sz="1100" dirty="0"/>
          </a:p>
          <a:p>
            <a:pPr algn="l" indent="0" marL="0">
              <a:buNone/>
            </a:pPr>
            <a:r>
              <a:rPr lang="en-US" sz="1000" dirty="0">
                <a:solidFill>
                  <a:schemeClr val="accent6"/>
                </a:solidFill>
              </a:rPr>
              <a:t>SQL Server and Databricks, read-only</a:t>
            </a:r>
            <a:endParaRPr lang="en-US" sz="1100" dirty="0"/>
          </a:p>
        </p:txBody>
      </p:sp>
      <p:sp>
        <p:nvSpPr>
          <p:cNvPr id="11" name="Input Pipeline definitions"/>
          <p:cNvSpPr/>
          <p:nvPr/>
        </p:nvSpPr>
        <p:spPr>
          <a:xfrm>
            <a:off x="411480" y="3017520"/>
            <a:ext cx="2331720" cy="512064"/>
          </a:xfrm>
          <a:prstGeom prst="roundRect">
            <a:avLst>
              <a:gd name="adj" fmla="val 10714"/>
            </a:avLst>
          </a:prstGeom>
          <a:solidFill>
            <a:schemeClr val="bg1"/>
          </a:solidFill>
          <a:ln w="12700">
            <a:solidFill>
              <a:srgbClr val="C9D5D3"/>
            </a:solidFill>
            <a:prstDash val="solid"/>
          </a:ln>
        </p:spPr>
      </p:sp>
      <p:sp>
        <p:nvSpPr>
          <p:cNvPr id="12" name="Input text Pipeline definitions"/>
          <p:cNvSpPr txBox="1"/>
          <p:nvPr/>
        </p:nvSpPr>
        <p:spPr>
          <a:xfrm>
            <a:off x="411480" y="3017520"/>
            <a:ext cx="2331720"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Pipeline definitions</a:t>
            </a:r>
            <a:endParaRPr lang="en-US" sz="1100" dirty="0"/>
          </a:p>
          <a:p>
            <a:pPr algn="l" indent="0" marL="0">
              <a:buNone/>
            </a:pPr>
            <a:r>
              <a:rPr lang="en-US" sz="1000" dirty="0">
                <a:solidFill>
                  <a:schemeClr val="accent6"/>
                </a:solidFill>
              </a:rPr>
              <a:t>Databricks jobs, ADF (JSON)</a:t>
            </a:r>
            <a:endParaRPr lang="en-US" sz="1100" dirty="0"/>
          </a:p>
        </p:txBody>
      </p:sp>
      <p:sp>
        <p:nvSpPr>
          <p:cNvPr id="13" name="Input Team BRDs, agent memory"/>
          <p:cNvSpPr/>
          <p:nvPr/>
        </p:nvSpPr>
        <p:spPr>
          <a:xfrm>
            <a:off x="411480" y="3602736"/>
            <a:ext cx="2331720" cy="512064"/>
          </a:xfrm>
          <a:prstGeom prst="roundRect">
            <a:avLst>
              <a:gd name="adj" fmla="val 10714"/>
            </a:avLst>
          </a:prstGeom>
          <a:solidFill>
            <a:schemeClr val="bg1"/>
          </a:solidFill>
          <a:ln w="12700">
            <a:solidFill>
              <a:srgbClr val="C9D5D3"/>
            </a:solidFill>
            <a:prstDash val="solid"/>
          </a:ln>
        </p:spPr>
      </p:sp>
      <p:sp>
        <p:nvSpPr>
          <p:cNvPr id="14" name="Input text Team BRDs, agent memory"/>
          <p:cNvSpPr txBox="1"/>
          <p:nvPr/>
        </p:nvSpPr>
        <p:spPr>
          <a:xfrm>
            <a:off x="411480" y="3602736"/>
            <a:ext cx="2331720"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Team BRDs, agent memory</a:t>
            </a:r>
            <a:endParaRPr lang="en-US" sz="1100" dirty="0"/>
          </a:p>
          <a:p>
            <a:pPr algn="l" indent="0" marL="0">
              <a:buNone/>
            </a:pPr>
            <a:r>
              <a:rPr lang="en-US" sz="1000" dirty="0">
                <a:solidFill>
                  <a:schemeClr val="accent6"/>
                </a:solidFill>
              </a:rPr>
              <a:t>used, but unconfirmed</a:t>
            </a:r>
            <a:endParaRPr lang="en-US" sz="1100" dirty="0"/>
          </a:p>
        </p:txBody>
      </p:sp>
      <p:sp>
        <p:nvSpPr>
          <p:cNvPr id="15" name="Input Inbox"/>
          <p:cNvSpPr/>
          <p:nvPr/>
        </p:nvSpPr>
        <p:spPr>
          <a:xfrm>
            <a:off x="411480" y="4187952"/>
            <a:ext cx="2331720" cy="512064"/>
          </a:xfrm>
          <a:prstGeom prst="roundRect">
            <a:avLst>
              <a:gd name="adj" fmla="val 10714"/>
            </a:avLst>
          </a:prstGeom>
          <a:solidFill>
            <a:schemeClr val="bg1"/>
          </a:solidFill>
          <a:ln w="12700">
            <a:solidFill>
              <a:srgbClr val="C9D5D3"/>
            </a:solidFill>
            <a:prstDash val="solid"/>
          </a:ln>
        </p:spPr>
      </p:sp>
      <p:sp>
        <p:nvSpPr>
          <p:cNvPr id="16" name="Input text Inbox"/>
          <p:cNvSpPr txBox="1"/>
          <p:nvPr/>
        </p:nvSpPr>
        <p:spPr>
          <a:xfrm>
            <a:off x="411480" y="4187952"/>
            <a:ext cx="2331720"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Inbox</a:t>
            </a:r>
            <a:endParaRPr lang="en-US" sz="1100" dirty="0"/>
          </a:p>
          <a:p>
            <a:pPr algn="l" indent="0" marL="0">
              <a:buNone/>
            </a:pPr>
            <a:r>
              <a:rPr lang="en-US" sz="1000" dirty="0">
                <a:solidFill>
                  <a:schemeClr val="accent6"/>
                </a:solidFill>
              </a:rPr>
              <a:t>anything new, any time</a:t>
            </a:r>
            <a:endParaRPr lang="en-US" sz="1100" dirty="0"/>
          </a:p>
        </p:txBody>
      </p:sp>
      <p:sp>
        <p:nvSpPr>
          <p:cNvPr id="17" name="Connections"/>
          <p:cNvSpPr/>
          <p:nvPr/>
        </p:nvSpPr>
        <p:spPr>
          <a:xfrm>
            <a:off x="411480" y="4846320"/>
            <a:ext cx="2331720" cy="777240"/>
          </a:xfrm>
          <a:prstGeom prst="roundRect">
            <a:avLst>
              <a:gd name="adj" fmla="val 7059"/>
            </a:avLst>
          </a:prstGeom>
          <a:solidFill>
            <a:schemeClr val="bg1"/>
          </a:solidFill>
          <a:ln w="12700">
            <a:solidFill>
              <a:schemeClr val="accent1"/>
            </a:solidFill>
            <a:prstDash val="dash"/>
          </a:ln>
        </p:spPr>
      </p:sp>
      <p:pic>
        <p:nvPicPr>
          <p:cNvPr id="18" name="Image 1" descr="Connections icon">    </p:cNvPr>
          <p:cNvPicPr>
            <a:picLocks noChangeAspect="1"/>
          </p:cNvPicPr>
          <p:nvPr/>
        </p:nvPicPr>
        <p:blipFill>
          <a:blip r:embed="rId2"/>
          <a:stretch>
            <a:fillRect/>
          </a:stretch>
        </p:blipFill>
        <p:spPr>
          <a:xfrm>
            <a:off x="502920" y="4919472"/>
            <a:ext cx="182880" cy="182880"/>
          </a:xfrm>
          <a:prstGeom prst="rect">
            <a:avLst/>
          </a:prstGeom>
        </p:spPr>
      </p:pic>
      <p:sp>
        <p:nvSpPr>
          <p:cNvPr id="19" name="Connections text"/>
          <p:cNvSpPr txBox="1"/>
          <p:nvPr/>
        </p:nvSpPr>
        <p:spPr>
          <a:xfrm>
            <a:off x="685800" y="4864608"/>
            <a:ext cx="2039112" cy="731520"/>
          </a:xfrm>
          <a:prstGeom prst="rect">
            <a:avLst/>
          </a:prstGeom>
          <a:noFill/>
          <a:ln/>
        </p:spPr>
        <p:txBody>
          <a:bodyPr wrap="square" lIns="25400" tIns="50800" rIns="50800" bIns="25400" rtlCol="0" anchor="ctr"/>
          <a:lstStyle/>
          <a:p>
            <a:pPr algn="l" indent="0" marL="0">
              <a:buNone/>
            </a:pPr>
            <a:r>
              <a:rPr lang="en-US" sz="1100" b="1" dirty="0">
                <a:solidFill>
                  <a:schemeClr val="tx1"/>
                </a:solidFill>
              </a:rPr>
              <a:t>Read-only connections</a:t>
            </a:r>
            <a:endParaRPr lang="en-US" sz="1100" dirty="0"/>
          </a:p>
          <a:p>
            <a:pPr algn="l" indent="0" marL="0">
              <a:buNone/>
            </a:pPr>
            <a:r>
              <a:rPr lang="en-US" sz="1000" dirty="0">
                <a:solidFill>
                  <a:schemeClr val="accent6"/>
                </a:solidFill>
              </a:rPr>
              <a:t>Databricks Genie · optional</a:t>
            </a:r>
            <a:endParaRPr lang="en-US" sz="1100" dirty="0"/>
          </a:p>
          <a:p>
            <a:pPr algn="l" indent="0" marL="0">
              <a:buNone/>
            </a:pPr>
            <a:r>
              <a:rPr lang="en-US" sz="1000" dirty="0">
                <a:solidFill>
                  <a:schemeClr val="accent6"/>
                </a:solidFill>
              </a:rPr>
              <a:t>Azure DevOps · when access arrives</a:t>
            </a:r>
            <a:endParaRPr lang="en-US" sz="1100" dirty="0"/>
          </a:p>
        </p:txBody>
      </p:sp>
      <p:sp>
        <p:nvSpPr>
          <p:cNvPr id="20" name="Evidence to engine"/>
          <p:cNvSpPr/>
          <p:nvPr/>
        </p:nvSpPr>
        <p:spPr>
          <a:xfrm>
            <a:off x="2798064" y="3520440"/>
            <a:ext cx="219456" cy="0"/>
          </a:xfrm>
          <a:prstGeom prst="line">
            <a:avLst/>
          </a:prstGeom>
          <a:noFill/>
          <a:ln w="15875">
            <a:solidFill>
              <a:schemeClr val="accent6"/>
            </a:solidFill>
            <a:prstDash val="solid"/>
            <a:tailEnd type="triangle"/>
          </a:ln>
        </p:spPr>
      </p:sp>
      <p:sp>
        <p:nvSpPr>
          <p:cNvPr id="21" name="Engine panel"/>
          <p:cNvSpPr/>
          <p:nvPr/>
        </p:nvSpPr>
        <p:spPr>
          <a:xfrm>
            <a:off x="3063240" y="1371600"/>
            <a:ext cx="6172200" cy="4251960"/>
          </a:xfrm>
          <a:prstGeom prst="roundRect">
            <a:avLst>
              <a:gd name="adj" fmla="val 1720"/>
            </a:avLst>
          </a:prstGeom>
          <a:solidFill>
            <a:schemeClr val="bg2"/>
          </a:solidFill>
          <a:ln w="12700">
            <a:solidFill>
              <a:srgbClr val="C9D5D3"/>
            </a:solidFill>
            <a:prstDash val="solid"/>
          </a:ln>
        </p:spPr>
      </p:sp>
      <p:sp>
        <p:nvSpPr>
          <p:cNvPr id="22" name="Copilot icon circle"/>
          <p:cNvSpPr/>
          <p:nvPr/>
        </p:nvSpPr>
        <p:spPr>
          <a:xfrm>
            <a:off x="3227832" y="1499616"/>
            <a:ext cx="347472" cy="347472"/>
          </a:xfrm>
          <a:prstGeom prst="ellipse">
            <a:avLst/>
          </a:prstGeom>
          <a:solidFill>
            <a:schemeClr val="accent1"/>
          </a:solidFill>
          <a:ln/>
        </p:spPr>
      </p:sp>
      <p:pic>
        <p:nvPicPr>
          <p:cNvPr id="23" name="Image 2" descr="Copilot icon">    </p:cNvPr>
          <p:cNvPicPr>
            <a:picLocks noChangeAspect="1"/>
          </p:cNvPicPr>
          <p:nvPr/>
        </p:nvPicPr>
        <p:blipFill>
          <a:blip r:embed="rId3"/>
          <a:stretch>
            <a:fillRect/>
          </a:stretch>
        </p:blipFill>
        <p:spPr>
          <a:xfrm>
            <a:off x="3311225" y="1583009"/>
            <a:ext cx="180685" cy="180685"/>
          </a:xfrm>
          <a:prstGeom prst="rect">
            <a:avLst/>
          </a:prstGeom>
        </p:spPr>
      </p:pic>
      <p:sp>
        <p:nvSpPr>
          <p:cNvPr id="24" name="Engine heading"/>
          <p:cNvSpPr txBox="1"/>
          <p:nvPr/>
        </p:nvSpPr>
        <p:spPr>
          <a:xfrm>
            <a:off x="3648456" y="1499616"/>
            <a:ext cx="2377440" cy="347472"/>
          </a:xfrm>
          <a:prstGeom prst="rect">
            <a:avLst/>
          </a:prstGeom>
          <a:noFill/>
          <a:ln/>
        </p:spPr>
        <p:txBody>
          <a:bodyPr wrap="square" lIns="0" tIns="0" rIns="0" bIns="0" rtlCol="0" anchor="ctr"/>
          <a:lstStyle/>
          <a:p>
            <a:pPr algn="l" indent="0" marL="0">
              <a:buNone/>
            </a:pPr>
            <a:r>
              <a:rPr lang="en-US" sz="1400" b="1" dirty="0">
                <a:solidFill>
                  <a:schemeClr val="tx1"/>
                </a:solidFill>
              </a:rPr>
              <a:t>VS Code + GitHub Copilot</a:t>
            </a:r>
            <a:endParaRPr lang="en-US" sz="1100" dirty="0"/>
          </a:p>
        </p:txBody>
      </p:sp>
      <p:sp>
        <p:nvSpPr>
          <p:cNvPr id="25" name="Agent chip author"/>
          <p:cNvSpPr/>
          <p:nvPr/>
        </p:nvSpPr>
        <p:spPr>
          <a:xfrm>
            <a:off x="5760720" y="1463040"/>
            <a:ext cx="1691640" cy="438912"/>
          </a:xfrm>
          <a:prstGeom prst="roundRect">
            <a:avLst>
              <a:gd name="adj" fmla="val 12500"/>
            </a:avLst>
          </a:prstGeom>
          <a:solidFill>
            <a:schemeClr val="bg1"/>
          </a:solidFill>
          <a:ln w="15875">
            <a:solidFill>
              <a:schemeClr val="accent1"/>
            </a:solidFill>
            <a:prstDash val="solid"/>
          </a:ln>
        </p:spPr>
      </p:sp>
      <p:sp>
        <p:nvSpPr>
          <p:cNvPr id="26" name="Agent chip author text"/>
          <p:cNvSpPr txBox="1"/>
          <p:nvPr/>
        </p:nvSpPr>
        <p:spPr>
          <a:xfrm>
            <a:off x="5760720" y="1463040"/>
            <a:ext cx="1691640" cy="438912"/>
          </a:xfrm>
          <a:prstGeom prst="rect">
            <a:avLst/>
          </a:prstGeom>
          <a:noFill/>
          <a:ln/>
        </p:spPr>
        <p:txBody>
          <a:bodyPr wrap="square" lIns="38100" tIns="76200" rIns="76200" bIns="38100" rtlCol="0" anchor="ctr"/>
          <a:lstStyle/>
          <a:p>
            <a:pPr algn="l" indent="0" marL="0">
              <a:buNone/>
            </a:pPr>
            <a:r>
              <a:rPr lang="en-US" sz="1050" b="1" dirty="0">
                <a:solidFill>
                  <a:schemeClr val="accent1"/>
                </a:solidFill>
              </a:rPr>
              <a:t>BRD Reconstruction</a:t>
            </a:r>
            <a:endParaRPr lang="en-US" sz="1100" dirty="0"/>
          </a:p>
          <a:p>
            <a:pPr algn="l" indent="0" marL="0">
              <a:buNone/>
            </a:pPr>
            <a:r>
              <a:rPr lang="en-US" sz="1000" dirty="0">
                <a:solidFill>
                  <a:schemeClr val="accent6"/>
                </a:solidFill>
              </a:rPr>
              <a:t>agent: does the work</a:t>
            </a:r>
            <a:endParaRPr lang="en-US" sz="1100" dirty="0"/>
          </a:p>
        </p:txBody>
      </p:sp>
      <p:sp>
        <p:nvSpPr>
          <p:cNvPr id="27" name="Agent chip reviewer"/>
          <p:cNvSpPr/>
          <p:nvPr/>
        </p:nvSpPr>
        <p:spPr>
          <a:xfrm>
            <a:off x="7543800" y="1463040"/>
            <a:ext cx="1554480" cy="438912"/>
          </a:xfrm>
          <a:prstGeom prst="roundRect">
            <a:avLst>
              <a:gd name="adj" fmla="val 12500"/>
            </a:avLst>
          </a:prstGeom>
          <a:solidFill>
            <a:schemeClr val="bg1"/>
          </a:solidFill>
          <a:ln w="15875">
            <a:solidFill>
              <a:schemeClr val="accent1"/>
            </a:solidFill>
            <a:prstDash val="dash"/>
          </a:ln>
        </p:spPr>
      </p:sp>
      <p:sp>
        <p:nvSpPr>
          <p:cNvPr id="28" name="Agent chip reviewer text"/>
          <p:cNvSpPr txBox="1"/>
          <p:nvPr/>
        </p:nvSpPr>
        <p:spPr>
          <a:xfrm>
            <a:off x="7543800" y="1463040"/>
            <a:ext cx="1554480" cy="438912"/>
          </a:xfrm>
          <a:prstGeom prst="rect">
            <a:avLst/>
          </a:prstGeom>
          <a:noFill/>
          <a:ln/>
        </p:spPr>
        <p:txBody>
          <a:bodyPr wrap="square" lIns="38100" tIns="76200" rIns="76200" bIns="38100" rtlCol="0" anchor="ctr"/>
          <a:lstStyle/>
          <a:p>
            <a:pPr algn="l" indent="0" marL="0">
              <a:buNone/>
            </a:pPr>
            <a:r>
              <a:rPr lang="en-US" sz="1050" b="1" dirty="0">
                <a:solidFill>
                  <a:schemeClr val="accent1"/>
                </a:solidFill>
              </a:rPr>
              <a:t>BRD Reviewer</a:t>
            </a:r>
            <a:endParaRPr lang="en-US" sz="1100" dirty="0"/>
          </a:p>
          <a:p>
            <a:pPr algn="l" indent="0" marL="0">
              <a:buNone/>
            </a:pPr>
            <a:r>
              <a:rPr lang="en-US" sz="1000" dirty="0">
                <a:solidFill>
                  <a:schemeClr val="accent6"/>
                </a:solidFill>
              </a:rPr>
              <a:t>agent: checks the work</a:t>
            </a:r>
            <a:endParaRPr lang="en-US" sz="1100" dirty="0"/>
          </a:p>
        </p:txBody>
      </p:sp>
      <p:sp>
        <p:nvSpPr>
          <p:cNvPr id="29" name="Stage 1 label"/>
          <p:cNvSpPr txBox="1"/>
          <p:nvPr/>
        </p:nvSpPr>
        <p:spPr>
          <a:xfrm>
            <a:off x="3246120" y="2029968"/>
            <a:ext cx="4114800" cy="274320"/>
          </a:xfrm>
          <a:prstGeom prst="rect">
            <a:avLst/>
          </a:prstGeom>
          <a:noFill/>
          <a:ln/>
        </p:spPr>
        <p:txBody>
          <a:bodyPr wrap="square" lIns="0" tIns="0" rIns="0" bIns="0" rtlCol="0" anchor="ctr"/>
          <a:lstStyle/>
          <a:p>
            <a:pPr algn="l" indent="0" marL="0">
              <a:buNone/>
            </a:pPr>
            <a:r>
              <a:rPr lang="en-US" sz="1200" b="1" dirty="0">
                <a:solidFill>
                  <a:schemeClr val="accent1"/>
                </a:solidFill>
              </a:rPr>
              <a:t>Stage 1 · Build the memory</a:t>
            </a:r>
            <a:endParaRPr lang="en-US" sz="1100" dirty="0"/>
          </a:p>
        </p:txBody>
      </p:sp>
      <p:sp>
        <p:nvSpPr>
          <p:cNvPr id="30" name="Memory step M1"/>
          <p:cNvSpPr/>
          <p:nvPr/>
        </p:nvSpPr>
        <p:spPr>
          <a:xfrm>
            <a:off x="3246120" y="2340864"/>
            <a:ext cx="914400" cy="548640"/>
          </a:xfrm>
          <a:prstGeom prst="roundRect">
            <a:avLst>
              <a:gd name="adj" fmla="val 10000"/>
            </a:avLst>
          </a:prstGeom>
          <a:solidFill>
            <a:schemeClr val="bg1"/>
          </a:solidFill>
          <a:ln w="15875">
            <a:solidFill>
              <a:schemeClr val="accent1"/>
            </a:solidFill>
            <a:prstDash val="solid"/>
          </a:ln>
        </p:spPr>
      </p:sp>
      <p:sp>
        <p:nvSpPr>
          <p:cNvPr id="31" name="Memory step text M1"/>
          <p:cNvSpPr txBox="1"/>
          <p:nvPr/>
        </p:nvSpPr>
        <p:spPr>
          <a:xfrm>
            <a:off x="3246120" y="2340864"/>
            <a:ext cx="914400" cy="548640"/>
          </a:xfrm>
          <a:prstGeom prst="rect">
            <a:avLst/>
          </a:prstGeom>
          <a:noFill/>
          <a:ln/>
        </p:spPr>
        <p:txBody>
          <a:bodyPr wrap="square" lIns="25400" tIns="25400" rIns="25400" bIns="25400" rtlCol="0" anchor="ctr"/>
          <a:lstStyle/>
          <a:p>
            <a:pPr algn="ctr" indent="0" marL="0">
              <a:buNone/>
            </a:pPr>
            <a:r>
              <a:rPr lang="en-US" sz="1000" b="1" dirty="0">
                <a:solidFill>
                  <a:schemeClr val="accent1"/>
                </a:solidFill>
              </a:rPr>
              <a:t>M1</a:t>
            </a:r>
            <a:endParaRPr lang="en-US" sz="1100" dirty="0"/>
          </a:p>
          <a:p>
            <a:pPr algn="ctr" indent="0" marL="0">
              <a:buNone/>
            </a:pPr>
            <a:r>
              <a:rPr lang="en-US" sz="1150" b="1" dirty="0">
                <a:solidFill>
                  <a:schemeClr val="tx1"/>
                </a:solidFill>
              </a:rPr>
              <a:t>Collect</a:t>
            </a:r>
            <a:endParaRPr lang="en-US" sz="1100" dirty="0"/>
          </a:p>
        </p:txBody>
      </p:sp>
      <p:sp>
        <p:nvSpPr>
          <p:cNvPr id="32" name="Memory arrow 0"/>
          <p:cNvSpPr/>
          <p:nvPr/>
        </p:nvSpPr>
        <p:spPr>
          <a:xfrm>
            <a:off x="4178808" y="2615184"/>
            <a:ext cx="164592" cy="0"/>
          </a:xfrm>
          <a:prstGeom prst="line">
            <a:avLst/>
          </a:prstGeom>
          <a:noFill/>
          <a:ln w="15875">
            <a:solidFill>
              <a:schemeClr val="accent6"/>
            </a:solidFill>
            <a:prstDash val="solid"/>
            <a:tailEnd type="triangle"/>
          </a:ln>
        </p:spPr>
      </p:sp>
      <p:sp>
        <p:nvSpPr>
          <p:cNvPr id="33" name="Memory step M2"/>
          <p:cNvSpPr/>
          <p:nvPr/>
        </p:nvSpPr>
        <p:spPr>
          <a:xfrm>
            <a:off x="4361688" y="2340864"/>
            <a:ext cx="914400" cy="548640"/>
          </a:xfrm>
          <a:prstGeom prst="roundRect">
            <a:avLst>
              <a:gd name="adj" fmla="val 10000"/>
            </a:avLst>
          </a:prstGeom>
          <a:solidFill>
            <a:schemeClr val="bg1"/>
          </a:solidFill>
          <a:ln w="15875">
            <a:solidFill>
              <a:schemeClr val="accent1"/>
            </a:solidFill>
            <a:prstDash val="solid"/>
          </a:ln>
        </p:spPr>
      </p:sp>
      <p:sp>
        <p:nvSpPr>
          <p:cNvPr id="34" name="Memory step text M2"/>
          <p:cNvSpPr txBox="1"/>
          <p:nvPr/>
        </p:nvSpPr>
        <p:spPr>
          <a:xfrm>
            <a:off x="4361688" y="2340864"/>
            <a:ext cx="914400" cy="548640"/>
          </a:xfrm>
          <a:prstGeom prst="rect">
            <a:avLst/>
          </a:prstGeom>
          <a:noFill/>
          <a:ln/>
        </p:spPr>
        <p:txBody>
          <a:bodyPr wrap="square" lIns="25400" tIns="25400" rIns="25400" bIns="25400" rtlCol="0" anchor="ctr"/>
          <a:lstStyle/>
          <a:p>
            <a:pPr algn="ctr" indent="0" marL="0">
              <a:buNone/>
            </a:pPr>
            <a:r>
              <a:rPr lang="en-US" sz="1000" b="1" dirty="0">
                <a:solidFill>
                  <a:schemeClr val="accent1"/>
                </a:solidFill>
              </a:rPr>
              <a:t>M2</a:t>
            </a:r>
            <a:endParaRPr lang="en-US" sz="1100" dirty="0"/>
          </a:p>
          <a:p>
            <a:pPr algn="ctr" indent="0" marL="0">
              <a:buNone/>
            </a:pPr>
            <a:r>
              <a:rPr lang="en-US" sz="1150" b="1" dirty="0">
                <a:solidFill>
                  <a:schemeClr val="tx1"/>
                </a:solidFill>
              </a:rPr>
              <a:t>Map</a:t>
            </a:r>
            <a:endParaRPr lang="en-US" sz="1100" dirty="0"/>
          </a:p>
        </p:txBody>
      </p:sp>
      <p:sp>
        <p:nvSpPr>
          <p:cNvPr id="35" name="Memory arrow 1"/>
          <p:cNvSpPr/>
          <p:nvPr/>
        </p:nvSpPr>
        <p:spPr>
          <a:xfrm>
            <a:off x="5294376" y="2615184"/>
            <a:ext cx="164592" cy="0"/>
          </a:xfrm>
          <a:prstGeom prst="line">
            <a:avLst/>
          </a:prstGeom>
          <a:noFill/>
          <a:ln w="15875">
            <a:solidFill>
              <a:schemeClr val="accent6"/>
            </a:solidFill>
            <a:prstDash val="solid"/>
            <a:tailEnd type="triangle"/>
          </a:ln>
        </p:spPr>
      </p:sp>
      <p:sp>
        <p:nvSpPr>
          <p:cNvPr id="36" name="Memory step M3"/>
          <p:cNvSpPr/>
          <p:nvPr/>
        </p:nvSpPr>
        <p:spPr>
          <a:xfrm>
            <a:off x="5477256" y="2340864"/>
            <a:ext cx="914400" cy="548640"/>
          </a:xfrm>
          <a:prstGeom prst="roundRect">
            <a:avLst>
              <a:gd name="adj" fmla="val 10000"/>
            </a:avLst>
          </a:prstGeom>
          <a:solidFill>
            <a:schemeClr val="bg1"/>
          </a:solidFill>
          <a:ln w="15875">
            <a:solidFill>
              <a:schemeClr val="accent1"/>
            </a:solidFill>
            <a:prstDash val="solid"/>
          </a:ln>
        </p:spPr>
      </p:sp>
      <p:sp>
        <p:nvSpPr>
          <p:cNvPr id="37" name="Memory step text M3"/>
          <p:cNvSpPr txBox="1"/>
          <p:nvPr/>
        </p:nvSpPr>
        <p:spPr>
          <a:xfrm>
            <a:off x="5477256" y="2340864"/>
            <a:ext cx="914400" cy="548640"/>
          </a:xfrm>
          <a:prstGeom prst="rect">
            <a:avLst/>
          </a:prstGeom>
          <a:noFill/>
          <a:ln/>
        </p:spPr>
        <p:txBody>
          <a:bodyPr wrap="square" lIns="25400" tIns="25400" rIns="25400" bIns="25400" rtlCol="0" anchor="ctr"/>
          <a:lstStyle/>
          <a:p>
            <a:pPr algn="ctr" indent="0" marL="0">
              <a:buNone/>
            </a:pPr>
            <a:r>
              <a:rPr lang="en-US" sz="1000" b="1" dirty="0">
                <a:solidFill>
                  <a:schemeClr val="accent1"/>
                </a:solidFill>
              </a:rPr>
              <a:t>M3</a:t>
            </a:r>
            <a:endParaRPr lang="en-US" sz="1100" dirty="0"/>
          </a:p>
          <a:p>
            <a:pPr algn="ctr" indent="0" marL="0">
              <a:buNone/>
            </a:pPr>
            <a:r>
              <a:rPr lang="en-US" sz="1150" b="1" dirty="0">
                <a:solidFill>
                  <a:schemeClr val="tx1"/>
                </a:solidFill>
              </a:rPr>
              <a:t>Understand</a:t>
            </a:r>
            <a:endParaRPr lang="en-US" sz="1100" dirty="0"/>
          </a:p>
        </p:txBody>
      </p:sp>
      <p:sp>
        <p:nvSpPr>
          <p:cNvPr id="38" name="Memory arrow 2"/>
          <p:cNvSpPr/>
          <p:nvPr/>
        </p:nvSpPr>
        <p:spPr>
          <a:xfrm>
            <a:off x="6409944" y="2615184"/>
            <a:ext cx="164592" cy="0"/>
          </a:xfrm>
          <a:prstGeom prst="line">
            <a:avLst/>
          </a:prstGeom>
          <a:noFill/>
          <a:ln w="15875">
            <a:solidFill>
              <a:schemeClr val="accent6"/>
            </a:solidFill>
            <a:prstDash val="solid"/>
            <a:tailEnd type="triangle"/>
          </a:ln>
        </p:spPr>
      </p:sp>
      <p:sp>
        <p:nvSpPr>
          <p:cNvPr id="39" name="Memory step M4"/>
          <p:cNvSpPr/>
          <p:nvPr/>
        </p:nvSpPr>
        <p:spPr>
          <a:xfrm>
            <a:off x="6592824" y="2340864"/>
            <a:ext cx="914400" cy="548640"/>
          </a:xfrm>
          <a:prstGeom prst="roundRect">
            <a:avLst>
              <a:gd name="adj" fmla="val 10000"/>
            </a:avLst>
          </a:prstGeom>
          <a:solidFill>
            <a:schemeClr val="bg1"/>
          </a:solidFill>
          <a:ln w="15875">
            <a:solidFill>
              <a:schemeClr val="accent2"/>
            </a:solidFill>
            <a:prstDash val="dash"/>
          </a:ln>
        </p:spPr>
      </p:sp>
      <p:sp>
        <p:nvSpPr>
          <p:cNvPr id="40" name="Memory step text M4"/>
          <p:cNvSpPr txBox="1"/>
          <p:nvPr/>
        </p:nvSpPr>
        <p:spPr>
          <a:xfrm>
            <a:off x="6592824" y="2340864"/>
            <a:ext cx="914400" cy="548640"/>
          </a:xfrm>
          <a:prstGeom prst="rect">
            <a:avLst/>
          </a:prstGeom>
          <a:noFill/>
          <a:ln/>
        </p:spPr>
        <p:txBody>
          <a:bodyPr wrap="square" lIns="25400" tIns="25400" rIns="25400" bIns="25400" rtlCol="0" anchor="ctr"/>
          <a:lstStyle/>
          <a:p>
            <a:pPr algn="ctr" indent="0" marL="0">
              <a:buNone/>
            </a:pPr>
            <a:r>
              <a:rPr lang="en-US" sz="1000" b="1" dirty="0">
                <a:solidFill>
                  <a:schemeClr val="accent2"/>
                </a:solidFill>
              </a:rPr>
              <a:t>M4</a:t>
            </a:r>
            <a:endParaRPr lang="en-US" sz="1100" dirty="0"/>
          </a:p>
          <a:p>
            <a:pPr algn="ctr" indent="0" marL="0">
              <a:buNone/>
            </a:pPr>
            <a:r>
              <a:rPr lang="en-US" sz="1150" b="1" dirty="0">
                <a:solidFill>
                  <a:schemeClr val="tx1"/>
                </a:solidFill>
              </a:rPr>
              <a:t>Review</a:t>
            </a:r>
            <a:endParaRPr lang="en-US" sz="1100" dirty="0"/>
          </a:p>
        </p:txBody>
      </p:sp>
      <p:sp>
        <p:nvSpPr>
          <p:cNvPr id="41" name="Memory to store"/>
          <p:cNvSpPr/>
          <p:nvPr/>
        </p:nvSpPr>
        <p:spPr>
          <a:xfrm>
            <a:off x="7525512" y="2615184"/>
            <a:ext cx="246888" cy="0"/>
          </a:xfrm>
          <a:prstGeom prst="line">
            <a:avLst/>
          </a:prstGeom>
          <a:noFill/>
          <a:ln w="15875">
            <a:solidFill>
              <a:schemeClr val="accent6"/>
            </a:solidFill>
            <a:prstDash val="solid"/>
            <a:tailEnd type="triangle"/>
          </a:ln>
        </p:spPr>
      </p:sp>
      <p:sp>
        <p:nvSpPr>
          <p:cNvPr id="42" name="Memory store"/>
          <p:cNvSpPr/>
          <p:nvPr/>
        </p:nvSpPr>
        <p:spPr>
          <a:xfrm>
            <a:off x="7790688" y="2029968"/>
            <a:ext cx="1307592" cy="1170432"/>
          </a:xfrm>
          <a:prstGeom prst="roundRect">
            <a:avLst>
              <a:gd name="adj" fmla="val 6250"/>
            </a:avLst>
          </a:prstGeom>
          <a:solidFill>
            <a:schemeClr val="accent1"/>
          </a:solidFill>
          <a:ln/>
        </p:spPr>
      </p:sp>
      <p:pic>
        <p:nvPicPr>
          <p:cNvPr id="43" name="Image 3" descr="Memory icon">    </p:cNvPr>
          <p:cNvPicPr>
            <a:picLocks noChangeAspect="1"/>
          </p:cNvPicPr>
          <p:nvPr/>
        </p:nvPicPr>
        <p:blipFill>
          <a:blip r:embed="rId4"/>
          <a:stretch>
            <a:fillRect/>
          </a:stretch>
        </p:blipFill>
        <p:spPr>
          <a:xfrm>
            <a:off x="7900416" y="2121408"/>
            <a:ext cx="219456" cy="219456"/>
          </a:xfrm>
          <a:prstGeom prst="rect">
            <a:avLst/>
          </a:prstGeom>
        </p:spPr>
      </p:pic>
      <p:sp>
        <p:nvSpPr>
          <p:cNvPr id="44" name="Memory store text"/>
          <p:cNvSpPr txBox="1"/>
          <p:nvPr/>
        </p:nvSpPr>
        <p:spPr>
          <a:xfrm>
            <a:off x="7790688" y="2377440"/>
            <a:ext cx="1307592" cy="804672"/>
          </a:xfrm>
          <a:prstGeom prst="rect">
            <a:avLst/>
          </a:prstGeom>
          <a:noFill/>
          <a:ln/>
        </p:spPr>
        <p:txBody>
          <a:bodyPr wrap="square" lIns="25400" tIns="101600" rIns="76200" bIns="25400" rtlCol="0" anchor="t"/>
          <a:lstStyle/>
          <a:p>
            <a:pPr algn="l" indent="0" marL="0">
              <a:buNone/>
            </a:pPr>
            <a:r>
              <a:rPr lang="en-US" sz="1300" b="1" dirty="0">
                <a:solidFill>
                  <a:schemeClr val="bg1"/>
                </a:solidFill>
              </a:rPr>
              <a:t>Memory v1.2</a:t>
            </a:r>
            <a:endParaRPr lang="en-US" sz="1100" dirty="0"/>
          </a:p>
          <a:p>
            <a:pPr algn="l" indent="0" marL="0">
              <a:buNone/>
            </a:pPr>
            <a:r>
              <a:rPr lang="en-US" sz="1000" dirty="0">
                <a:solidFill>
                  <a:schemeClr val="bg1"/>
                </a:solidFill>
              </a:rPr>
              <a:t>versioned master.sub</a:t>
            </a:r>
            <a:endParaRPr lang="en-US" sz="1100" dirty="0"/>
          </a:p>
          <a:p>
            <a:pPr algn="l" indent="0" marL="0">
              <a:buNone/>
            </a:pPr>
            <a:r>
              <a:rPr lang="en-US" sz="1000" dirty="0">
                <a:solidFill>
                  <a:schemeClr val="bg1"/>
                </a:solidFill>
              </a:rPr>
              <a:t>current and future state apart</a:t>
            </a:r>
            <a:endParaRPr lang="en-US" sz="1100" dirty="0"/>
          </a:p>
        </p:txBody>
      </p:sp>
      <p:sp>
        <p:nvSpPr>
          <p:cNvPr id="45" name="Memory update note"/>
          <p:cNvSpPr txBox="1"/>
          <p:nvPr/>
        </p:nvSpPr>
        <p:spPr>
          <a:xfrm>
            <a:off x="3246120" y="2944368"/>
            <a:ext cx="4526280" cy="274320"/>
          </a:xfrm>
          <a:prstGeom prst="rect">
            <a:avLst/>
          </a:prstGeom>
          <a:noFill/>
          <a:ln/>
        </p:spPr>
        <p:txBody>
          <a:bodyPr wrap="square" lIns="0" tIns="0" rIns="0" bIns="0" rtlCol="0" anchor="ctr"/>
          <a:lstStyle/>
          <a:p>
            <a:pPr algn="l" indent="0" marL="0">
              <a:buNone/>
            </a:pPr>
            <a:r>
              <a:rPr lang="en-US" sz="1000" dirty="0">
                <a:solidFill>
                  <a:schemeClr val="accent6"/>
                </a:solidFill>
              </a:rPr>
              <a:t>Inbox files → next sub-version (v1.3)   ·   Consolidation agent → next master (v2.0)</a:t>
            </a:r>
            <a:endParaRPr lang="en-US" sz="1100" dirty="0"/>
          </a:p>
        </p:txBody>
      </p:sp>
      <p:sp>
        <p:nvSpPr>
          <p:cNvPr id="46" name="Stage 2 label"/>
          <p:cNvSpPr txBox="1"/>
          <p:nvPr/>
        </p:nvSpPr>
        <p:spPr>
          <a:xfrm>
            <a:off x="3246120" y="3346704"/>
            <a:ext cx="4572000" cy="274320"/>
          </a:xfrm>
          <a:prstGeom prst="rect">
            <a:avLst/>
          </a:prstGeom>
          <a:noFill/>
          <a:ln/>
        </p:spPr>
        <p:txBody>
          <a:bodyPr wrap="square" lIns="0" tIns="0" rIns="0" bIns="0" rtlCol="0" anchor="ctr"/>
          <a:lstStyle/>
          <a:p>
            <a:pPr algn="l" indent="0" marL="0">
              <a:buNone/>
            </a:pPr>
            <a:r>
              <a:rPr lang="en-US" sz="1200" b="1" dirty="0">
                <a:solidFill>
                  <a:schemeClr val="accent1"/>
                </a:solidFill>
              </a:rPr>
              <a:t>Stage 2 · Build one BRD, phase by phase</a:t>
            </a:r>
            <a:endParaRPr lang="en-US" sz="1100" dirty="0"/>
          </a:p>
        </p:txBody>
      </p:sp>
      <p:sp>
        <p:nvSpPr>
          <p:cNvPr id="47" name="Phase Choose BRD"/>
          <p:cNvSpPr/>
          <p:nvPr/>
        </p:nvSpPr>
        <p:spPr>
          <a:xfrm>
            <a:off x="3246120" y="3657600"/>
            <a:ext cx="987552" cy="457200"/>
          </a:xfrm>
          <a:prstGeom prst="roundRect">
            <a:avLst>
              <a:gd name="adj" fmla="val 12000"/>
            </a:avLst>
          </a:prstGeom>
          <a:solidFill>
            <a:schemeClr val="bg1"/>
          </a:solidFill>
          <a:ln w="15875">
            <a:solidFill>
              <a:schemeClr val="accent1"/>
            </a:solidFill>
            <a:prstDash val="solid"/>
          </a:ln>
        </p:spPr>
      </p:sp>
      <p:sp>
        <p:nvSpPr>
          <p:cNvPr id="48" name="Phase text Choose BRD"/>
          <p:cNvSpPr txBox="1"/>
          <p:nvPr/>
        </p:nvSpPr>
        <p:spPr>
          <a:xfrm>
            <a:off x="3246120" y="3657600"/>
            <a:ext cx="987552"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Choose BRD</a:t>
            </a:r>
            <a:endParaRPr lang="en-US" sz="1100" dirty="0"/>
          </a:p>
        </p:txBody>
      </p:sp>
      <p:sp>
        <p:nvSpPr>
          <p:cNvPr id="49" name="Phase arrow 0"/>
          <p:cNvSpPr/>
          <p:nvPr/>
        </p:nvSpPr>
        <p:spPr>
          <a:xfrm>
            <a:off x="4251960" y="3886200"/>
            <a:ext cx="192024" cy="0"/>
          </a:xfrm>
          <a:prstGeom prst="line">
            <a:avLst/>
          </a:prstGeom>
          <a:noFill/>
          <a:ln w="15875">
            <a:solidFill>
              <a:schemeClr val="accent6"/>
            </a:solidFill>
            <a:prstDash val="solid"/>
            <a:tailEnd type="triangle"/>
          </a:ln>
        </p:spPr>
      </p:sp>
      <p:sp>
        <p:nvSpPr>
          <p:cNvPr id="50" name="Phase 1  Summary"/>
          <p:cNvSpPr/>
          <p:nvPr/>
        </p:nvSpPr>
        <p:spPr>
          <a:xfrm>
            <a:off x="4462272" y="3657600"/>
            <a:ext cx="987552" cy="457200"/>
          </a:xfrm>
          <a:prstGeom prst="roundRect">
            <a:avLst>
              <a:gd name="adj" fmla="val 12000"/>
            </a:avLst>
          </a:prstGeom>
          <a:solidFill>
            <a:schemeClr val="bg1"/>
          </a:solidFill>
          <a:ln w="15875">
            <a:solidFill>
              <a:schemeClr val="accent1"/>
            </a:solidFill>
            <a:prstDash val="solid"/>
          </a:ln>
        </p:spPr>
      </p:sp>
      <p:sp>
        <p:nvSpPr>
          <p:cNvPr id="51" name="Phase text 1  Summary"/>
          <p:cNvSpPr txBox="1"/>
          <p:nvPr/>
        </p:nvSpPr>
        <p:spPr>
          <a:xfrm>
            <a:off x="4462272" y="3657600"/>
            <a:ext cx="987552"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1  Summary</a:t>
            </a:r>
            <a:endParaRPr lang="en-US" sz="1100" dirty="0"/>
          </a:p>
        </p:txBody>
      </p:sp>
      <p:sp>
        <p:nvSpPr>
          <p:cNvPr id="52" name="Phase arrow 1"/>
          <p:cNvSpPr/>
          <p:nvPr/>
        </p:nvSpPr>
        <p:spPr>
          <a:xfrm>
            <a:off x="5468112" y="3886200"/>
            <a:ext cx="192024" cy="0"/>
          </a:xfrm>
          <a:prstGeom prst="line">
            <a:avLst/>
          </a:prstGeom>
          <a:noFill/>
          <a:ln w="15875">
            <a:solidFill>
              <a:schemeClr val="accent6"/>
            </a:solidFill>
            <a:prstDash val="solid"/>
            <a:tailEnd type="triangle"/>
          </a:ln>
        </p:spPr>
      </p:sp>
      <p:sp>
        <p:nvSpPr>
          <p:cNvPr id="53" name="Phase 2  Scope"/>
          <p:cNvSpPr/>
          <p:nvPr/>
        </p:nvSpPr>
        <p:spPr>
          <a:xfrm>
            <a:off x="5678424" y="3657600"/>
            <a:ext cx="987552" cy="457200"/>
          </a:xfrm>
          <a:prstGeom prst="roundRect">
            <a:avLst>
              <a:gd name="adj" fmla="val 12000"/>
            </a:avLst>
          </a:prstGeom>
          <a:solidFill>
            <a:schemeClr val="bg1"/>
          </a:solidFill>
          <a:ln w="15875">
            <a:solidFill>
              <a:schemeClr val="accent1"/>
            </a:solidFill>
            <a:prstDash val="solid"/>
          </a:ln>
        </p:spPr>
      </p:sp>
      <p:sp>
        <p:nvSpPr>
          <p:cNvPr id="54" name="Phase text 2  Scope"/>
          <p:cNvSpPr txBox="1"/>
          <p:nvPr/>
        </p:nvSpPr>
        <p:spPr>
          <a:xfrm>
            <a:off x="5678424" y="3657600"/>
            <a:ext cx="987552"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2  Scope</a:t>
            </a:r>
            <a:endParaRPr lang="en-US" sz="1100" dirty="0"/>
          </a:p>
        </p:txBody>
      </p:sp>
      <p:sp>
        <p:nvSpPr>
          <p:cNvPr id="55" name="Phase arrow 2"/>
          <p:cNvSpPr/>
          <p:nvPr/>
        </p:nvSpPr>
        <p:spPr>
          <a:xfrm>
            <a:off x="6684264" y="3886200"/>
            <a:ext cx="192024" cy="0"/>
          </a:xfrm>
          <a:prstGeom prst="line">
            <a:avLst/>
          </a:prstGeom>
          <a:noFill/>
          <a:ln w="15875">
            <a:solidFill>
              <a:schemeClr val="accent6"/>
            </a:solidFill>
            <a:prstDash val="solid"/>
            <a:tailEnd type="triangle"/>
          </a:ln>
        </p:spPr>
      </p:sp>
      <p:sp>
        <p:nvSpPr>
          <p:cNvPr id="56" name="Phase 3  Process"/>
          <p:cNvSpPr/>
          <p:nvPr/>
        </p:nvSpPr>
        <p:spPr>
          <a:xfrm>
            <a:off x="6894576" y="3657600"/>
            <a:ext cx="987552" cy="457200"/>
          </a:xfrm>
          <a:prstGeom prst="roundRect">
            <a:avLst>
              <a:gd name="adj" fmla="val 12000"/>
            </a:avLst>
          </a:prstGeom>
          <a:solidFill>
            <a:schemeClr val="bg1"/>
          </a:solidFill>
          <a:ln w="15875">
            <a:solidFill>
              <a:schemeClr val="accent1"/>
            </a:solidFill>
            <a:prstDash val="solid"/>
          </a:ln>
        </p:spPr>
      </p:sp>
      <p:sp>
        <p:nvSpPr>
          <p:cNvPr id="57" name="Phase text 3  Process"/>
          <p:cNvSpPr txBox="1"/>
          <p:nvPr/>
        </p:nvSpPr>
        <p:spPr>
          <a:xfrm>
            <a:off x="6894576" y="3657600"/>
            <a:ext cx="987552"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3  Process</a:t>
            </a:r>
            <a:endParaRPr lang="en-US" sz="1100" dirty="0"/>
          </a:p>
        </p:txBody>
      </p:sp>
      <p:sp>
        <p:nvSpPr>
          <p:cNvPr id="58" name="Phase arrow 3"/>
          <p:cNvSpPr/>
          <p:nvPr/>
        </p:nvSpPr>
        <p:spPr>
          <a:xfrm>
            <a:off x="7900416" y="3886200"/>
            <a:ext cx="192024" cy="0"/>
          </a:xfrm>
          <a:prstGeom prst="line">
            <a:avLst/>
          </a:prstGeom>
          <a:noFill/>
          <a:ln w="15875">
            <a:solidFill>
              <a:schemeClr val="accent6"/>
            </a:solidFill>
            <a:prstDash val="solid"/>
            <a:tailEnd type="triangle"/>
          </a:ln>
        </p:spPr>
      </p:sp>
      <p:sp>
        <p:nvSpPr>
          <p:cNvPr id="59" name="Phase 4  Rules"/>
          <p:cNvSpPr/>
          <p:nvPr/>
        </p:nvSpPr>
        <p:spPr>
          <a:xfrm>
            <a:off x="8110728" y="3657600"/>
            <a:ext cx="987552" cy="457200"/>
          </a:xfrm>
          <a:prstGeom prst="roundRect">
            <a:avLst>
              <a:gd name="adj" fmla="val 12000"/>
            </a:avLst>
          </a:prstGeom>
          <a:solidFill>
            <a:schemeClr val="bg1"/>
          </a:solidFill>
          <a:ln w="15875">
            <a:solidFill>
              <a:schemeClr val="accent1"/>
            </a:solidFill>
            <a:prstDash val="solid"/>
          </a:ln>
        </p:spPr>
      </p:sp>
      <p:sp>
        <p:nvSpPr>
          <p:cNvPr id="60" name="Phase text 4  Rules"/>
          <p:cNvSpPr txBox="1"/>
          <p:nvPr/>
        </p:nvSpPr>
        <p:spPr>
          <a:xfrm>
            <a:off x="8110728" y="3657600"/>
            <a:ext cx="987552"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4  Rules</a:t>
            </a:r>
            <a:endParaRPr lang="en-US" sz="1100" dirty="0"/>
          </a:p>
        </p:txBody>
      </p:sp>
      <p:sp>
        <p:nvSpPr>
          <p:cNvPr id="61" name="Wrap 1"/>
          <p:cNvSpPr/>
          <p:nvPr/>
        </p:nvSpPr>
        <p:spPr>
          <a:xfrm>
            <a:off x="8604504" y="4114800"/>
            <a:ext cx="0" cy="128016"/>
          </a:xfrm>
          <a:prstGeom prst="line">
            <a:avLst/>
          </a:prstGeom>
          <a:noFill/>
          <a:ln w="15875">
            <a:solidFill>
              <a:schemeClr val="accent6"/>
            </a:solidFill>
            <a:prstDash val="solid"/>
          </a:ln>
        </p:spPr>
      </p:sp>
      <p:sp>
        <p:nvSpPr>
          <p:cNvPr id="62" name="Wrap 2"/>
          <p:cNvSpPr/>
          <p:nvPr/>
        </p:nvSpPr>
        <p:spPr>
          <a:xfrm>
            <a:off x="3611880" y="4242816"/>
            <a:ext cx="4992624" cy="0"/>
          </a:xfrm>
          <a:prstGeom prst="line">
            <a:avLst/>
          </a:prstGeom>
          <a:noFill/>
          <a:ln w="15875">
            <a:solidFill>
              <a:schemeClr val="accent6"/>
            </a:solidFill>
            <a:prstDash val="solid"/>
          </a:ln>
        </p:spPr>
      </p:sp>
      <p:sp>
        <p:nvSpPr>
          <p:cNvPr id="63" name="Wrap 3"/>
          <p:cNvSpPr/>
          <p:nvPr/>
        </p:nvSpPr>
        <p:spPr>
          <a:xfrm>
            <a:off x="3611880" y="4242816"/>
            <a:ext cx="0" cy="118872"/>
          </a:xfrm>
          <a:prstGeom prst="line">
            <a:avLst/>
          </a:prstGeom>
          <a:noFill/>
          <a:ln w="15875">
            <a:solidFill>
              <a:schemeClr val="accent6"/>
            </a:solidFill>
            <a:prstDash val="solid"/>
            <a:tailEnd type="triangle"/>
          </a:ln>
        </p:spPr>
      </p:sp>
      <p:sp>
        <p:nvSpPr>
          <p:cNvPr id="64" name="Phase 5 group"/>
          <p:cNvSpPr/>
          <p:nvPr/>
        </p:nvSpPr>
        <p:spPr>
          <a:xfrm>
            <a:off x="3246120" y="4370832"/>
            <a:ext cx="2578608" cy="457200"/>
          </a:xfrm>
          <a:prstGeom prst="roundRect">
            <a:avLst>
              <a:gd name="adj" fmla="val 12000"/>
            </a:avLst>
          </a:prstGeom>
          <a:solidFill>
            <a:schemeClr val="bg1"/>
          </a:solidFill>
          <a:ln w="15875">
            <a:solidFill>
              <a:schemeClr val="accent1"/>
            </a:solidFill>
            <a:prstDash val="dash"/>
          </a:ln>
        </p:spPr>
      </p:sp>
      <p:sp>
        <p:nvSpPr>
          <p:cNvPr id="65" name="Phase 5 text"/>
          <p:cNvSpPr txBox="1"/>
          <p:nvPr/>
        </p:nvSpPr>
        <p:spPr>
          <a:xfrm>
            <a:off x="3246120" y="4370832"/>
            <a:ext cx="2578608"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5  Evidence and gaps</a:t>
            </a:r>
            <a:endParaRPr lang="en-US" sz="1100" dirty="0"/>
          </a:p>
          <a:p>
            <a:pPr algn="ctr" indent="0" marL="0">
              <a:buNone/>
            </a:pPr>
            <a:r>
              <a:rPr lang="en-US" sz="1000" dirty="0">
                <a:solidFill>
                  <a:schemeClr val="accent6"/>
                </a:solidFill>
              </a:rPr>
              <a:t>5A Technical · 5B Genie · 5C DevOps · 5D Gaps</a:t>
            </a:r>
            <a:endParaRPr lang="en-US" sz="1100" dirty="0"/>
          </a:p>
        </p:txBody>
      </p:sp>
      <p:sp>
        <p:nvSpPr>
          <p:cNvPr id="66" name="Phase2 arrow 0"/>
          <p:cNvSpPr/>
          <p:nvPr/>
        </p:nvSpPr>
        <p:spPr>
          <a:xfrm>
            <a:off x="5843016" y="4599432"/>
            <a:ext cx="146304" cy="0"/>
          </a:xfrm>
          <a:prstGeom prst="line">
            <a:avLst/>
          </a:prstGeom>
          <a:noFill/>
          <a:ln w="15875">
            <a:solidFill>
              <a:schemeClr val="accent6"/>
            </a:solidFill>
            <a:prstDash val="solid"/>
            <a:tailEnd type="triangle"/>
          </a:ln>
        </p:spPr>
      </p:sp>
      <p:sp>
        <p:nvSpPr>
          <p:cNvPr id="67" name="Phase 6  Clarify"/>
          <p:cNvSpPr/>
          <p:nvPr/>
        </p:nvSpPr>
        <p:spPr>
          <a:xfrm>
            <a:off x="6007608" y="4370832"/>
            <a:ext cx="914400" cy="457200"/>
          </a:xfrm>
          <a:prstGeom prst="roundRect">
            <a:avLst>
              <a:gd name="adj" fmla="val 12000"/>
            </a:avLst>
          </a:prstGeom>
          <a:solidFill>
            <a:schemeClr val="bg1"/>
          </a:solidFill>
          <a:ln w="15875">
            <a:solidFill>
              <a:schemeClr val="accent1"/>
            </a:solidFill>
            <a:prstDash val="solid"/>
          </a:ln>
        </p:spPr>
      </p:sp>
      <p:sp>
        <p:nvSpPr>
          <p:cNvPr id="68" name="Phase text 6  Clarify"/>
          <p:cNvSpPr txBox="1"/>
          <p:nvPr/>
        </p:nvSpPr>
        <p:spPr>
          <a:xfrm>
            <a:off x="6007608" y="4370832"/>
            <a:ext cx="914400"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6  Clarify</a:t>
            </a:r>
            <a:endParaRPr lang="en-US" sz="1100" dirty="0"/>
          </a:p>
        </p:txBody>
      </p:sp>
      <p:sp>
        <p:nvSpPr>
          <p:cNvPr id="69" name="Phase2 arrow 1"/>
          <p:cNvSpPr/>
          <p:nvPr/>
        </p:nvSpPr>
        <p:spPr>
          <a:xfrm>
            <a:off x="6940296" y="4599432"/>
            <a:ext cx="146304" cy="0"/>
          </a:xfrm>
          <a:prstGeom prst="line">
            <a:avLst/>
          </a:prstGeom>
          <a:noFill/>
          <a:ln w="15875">
            <a:solidFill>
              <a:schemeClr val="accent6"/>
            </a:solidFill>
            <a:prstDash val="solid"/>
            <a:tailEnd type="triangle"/>
          </a:ln>
        </p:spPr>
      </p:sp>
      <p:sp>
        <p:nvSpPr>
          <p:cNvPr id="70" name="Phase 7  Risks"/>
          <p:cNvSpPr/>
          <p:nvPr/>
        </p:nvSpPr>
        <p:spPr>
          <a:xfrm>
            <a:off x="7104888" y="4370832"/>
            <a:ext cx="914400" cy="457200"/>
          </a:xfrm>
          <a:prstGeom prst="roundRect">
            <a:avLst>
              <a:gd name="adj" fmla="val 12000"/>
            </a:avLst>
          </a:prstGeom>
          <a:solidFill>
            <a:schemeClr val="bg1"/>
          </a:solidFill>
          <a:ln w="15875">
            <a:solidFill>
              <a:schemeClr val="accent1"/>
            </a:solidFill>
            <a:prstDash val="solid"/>
          </a:ln>
        </p:spPr>
      </p:sp>
      <p:sp>
        <p:nvSpPr>
          <p:cNvPr id="71" name="Phase text 7  Risks"/>
          <p:cNvSpPr txBox="1"/>
          <p:nvPr/>
        </p:nvSpPr>
        <p:spPr>
          <a:xfrm>
            <a:off x="7104888" y="4370832"/>
            <a:ext cx="914400" cy="457200"/>
          </a:xfrm>
          <a:prstGeom prst="rect">
            <a:avLst/>
          </a:prstGeom>
          <a:noFill/>
          <a:ln/>
        </p:spPr>
        <p:txBody>
          <a:bodyPr wrap="square" lIns="25400" tIns="25400" rIns="25400" bIns="25400" rtlCol="0" anchor="ctr"/>
          <a:lstStyle/>
          <a:p>
            <a:pPr algn="ctr" indent="0" marL="0">
              <a:buNone/>
            </a:pPr>
            <a:r>
              <a:rPr lang="en-US" sz="1150" b="1" dirty="0">
                <a:solidFill>
                  <a:schemeClr val="tx1"/>
                </a:solidFill>
              </a:rPr>
              <a:t>7  Risks</a:t>
            </a:r>
            <a:endParaRPr lang="en-US" sz="1100" dirty="0"/>
          </a:p>
        </p:txBody>
      </p:sp>
      <p:sp>
        <p:nvSpPr>
          <p:cNvPr id="72" name="Phase2 arrow 2"/>
          <p:cNvSpPr/>
          <p:nvPr/>
        </p:nvSpPr>
        <p:spPr>
          <a:xfrm>
            <a:off x="8037576" y="4599432"/>
            <a:ext cx="146304" cy="0"/>
          </a:xfrm>
          <a:prstGeom prst="line">
            <a:avLst/>
          </a:prstGeom>
          <a:noFill/>
          <a:ln w="15875">
            <a:solidFill>
              <a:schemeClr val="accent6"/>
            </a:solidFill>
            <a:prstDash val="solid"/>
            <a:tailEnd type="triangle"/>
          </a:ln>
        </p:spPr>
      </p:sp>
      <p:sp>
        <p:nvSpPr>
          <p:cNvPr id="73" name="Phase 8  Draft BRD"/>
          <p:cNvSpPr/>
          <p:nvPr/>
        </p:nvSpPr>
        <p:spPr>
          <a:xfrm>
            <a:off x="8202168" y="4370832"/>
            <a:ext cx="914400" cy="457200"/>
          </a:xfrm>
          <a:prstGeom prst="roundRect">
            <a:avLst>
              <a:gd name="adj" fmla="val 12000"/>
            </a:avLst>
          </a:prstGeom>
          <a:solidFill>
            <a:schemeClr val="accent1"/>
          </a:solidFill>
          <a:ln w="15875">
            <a:solidFill>
              <a:schemeClr val="accent1"/>
            </a:solidFill>
            <a:prstDash val="solid"/>
          </a:ln>
        </p:spPr>
      </p:sp>
      <p:sp>
        <p:nvSpPr>
          <p:cNvPr id="74" name="Phase text 8  Draft BRD"/>
          <p:cNvSpPr txBox="1"/>
          <p:nvPr/>
        </p:nvSpPr>
        <p:spPr>
          <a:xfrm>
            <a:off x="8202168" y="4370832"/>
            <a:ext cx="914400" cy="457200"/>
          </a:xfrm>
          <a:prstGeom prst="rect">
            <a:avLst/>
          </a:prstGeom>
          <a:noFill/>
          <a:ln/>
        </p:spPr>
        <p:txBody>
          <a:bodyPr wrap="square" lIns="25400" tIns="25400" rIns="25400" bIns="25400" rtlCol="0" anchor="ctr"/>
          <a:lstStyle/>
          <a:p>
            <a:pPr algn="ctr" indent="0" marL="0">
              <a:buNone/>
            </a:pPr>
            <a:r>
              <a:rPr lang="en-US" sz="1150" b="1" dirty="0">
                <a:solidFill>
                  <a:schemeClr val="bg1"/>
                </a:solidFill>
              </a:rPr>
              <a:t>8  Draft BRD</a:t>
            </a:r>
            <a:endParaRPr lang="en-US" sz="1100" dirty="0"/>
          </a:p>
        </p:txBody>
      </p:sp>
      <p:sp>
        <p:nvSpPr>
          <p:cNvPr id="75" name="Human review band"/>
          <p:cNvSpPr/>
          <p:nvPr/>
        </p:nvSpPr>
        <p:spPr>
          <a:xfrm>
            <a:off x="3246120" y="5010912"/>
            <a:ext cx="5806440" cy="502920"/>
          </a:xfrm>
          <a:prstGeom prst="roundRect">
            <a:avLst>
              <a:gd name="adj" fmla="val 10909"/>
            </a:avLst>
          </a:prstGeom>
          <a:solidFill>
            <a:schemeClr val="accent2">
              <a:alpha val="12000"/>
            </a:schemeClr>
          </a:solidFill>
          <a:ln w="12700">
            <a:solidFill>
              <a:schemeClr val="accent2"/>
            </a:solidFill>
            <a:prstDash val="solid"/>
          </a:ln>
        </p:spPr>
      </p:sp>
      <p:sp>
        <p:nvSpPr>
          <p:cNvPr id="76" name="Human icon circle"/>
          <p:cNvSpPr/>
          <p:nvPr/>
        </p:nvSpPr>
        <p:spPr>
          <a:xfrm>
            <a:off x="3337560" y="5070348"/>
            <a:ext cx="384048" cy="384048"/>
          </a:xfrm>
          <a:prstGeom prst="ellipse">
            <a:avLst/>
          </a:prstGeom>
          <a:solidFill>
            <a:schemeClr val="accent2"/>
          </a:solidFill>
          <a:ln/>
        </p:spPr>
      </p:sp>
      <p:pic>
        <p:nvPicPr>
          <p:cNvPr id="77" name="Image 4" descr="Human icon">    </p:cNvPr>
          <p:cNvPicPr>
            <a:picLocks noChangeAspect="1"/>
          </p:cNvPicPr>
          <p:nvPr/>
        </p:nvPicPr>
        <p:blipFill>
          <a:blip r:embed="rId5"/>
          <a:stretch>
            <a:fillRect/>
          </a:stretch>
        </p:blipFill>
        <p:spPr>
          <a:xfrm>
            <a:off x="3429732" y="5162520"/>
            <a:ext cx="199705" cy="199705"/>
          </a:xfrm>
          <a:prstGeom prst="rect">
            <a:avLst/>
          </a:prstGeom>
        </p:spPr>
      </p:pic>
      <p:sp>
        <p:nvSpPr>
          <p:cNvPr id="78" name="Human review text"/>
          <p:cNvSpPr txBox="1"/>
          <p:nvPr/>
        </p:nvSpPr>
        <p:spPr>
          <a:xfrm>
            <a:off x="3794760" y="5010912"/>
            <a:ext cx="5212080" cy="502920"/>
          </a:xfrm>
          <a:prstGeom prst="rect">
            <a:avLst/>
          </a:prstGeom>
          <a:noFill/>
          <a:ln/>
        </p:spPr>
        <p:txBody>
          <a:bodyPr wrap="square" lIns="25400" tIns="50800" rIns="50800" bIns="25400" rtlCol="0" anchor="ctr"/>
          <a:lstStyle/>
          <a:p>
            <a:pPr algn="l" indent="0" marL="0">
              <a:buNone/>
            </a:pPr>
            <a:r>
              <a:rPr lang="en-US" sz="1150" b="1" dirty="0">
                <a:solidFill>
                  <a:schemeClr val="tx1"/>
                </a:solidFill>
              </a:rPr>
              <a:t>You review every step in a browser page</a:t>
            </a:r>
            <a:endParaRPr lang="en-US" sz="1100" dirty="0"/>
          </a:p>
          <a:p>
            <a:pPr algn="l" indent="0" marL="0">
              <a:buNone/>
            </a:pPr>
            <a:r>
              <a:rPr lang="en-US" sz="1000" dirty="0">
                <a:solidFill>
                  <a:schemeClr val="tx1"/>
                </a:solidFill>
              </a:rPr>
              <a:t>FEEDBACK redrafts  ·  PROCEED closes memory steps  ·  APPROVED closes BRD steps  ·  HALT stops</a:t>
            </a:r>
            <a:endParaRPr lang="en-US" sz="1100" dirty="0"/>
          </a:p>
        </p:txBody>
      </p:sp>
      <p:sp>
        <p:nvSpPr>
          <p:cNvPr id="79" name="Engine to outputs"/>
          <p:cNvSpPr/>
          <p:nvPr/>
        </p:nvSpPr>
        <p:spPr>
          <a:xfrm>
            <a:off x="9281160" y="3520440"/>
            <a:ext cx="228600" cy="0"/>
          </a:xfrm>
          <a:prstGeom prst="line">
            <a:avLst/>
          </a:prstGeom>
          <a:noFill/>
          <a:ln w="15875">
            <a:solidFill>
              <a:schemeClr val="accent6"/>
            </a:solidFill>
            <a:prstDash val="solid"/>
            <a:tailEnd type="triangle"/>
          </a:ln>
        </p:spPr>
      </p:sp>
      <p:sp>
        <p:nvSpPr>
          <p:cNvPr id="80" name="Delivered icon circle"/>
          <p:cNvSpPr/>
          <p:nvPr/>
        </p:nvSpPr>
        <p:spPr>
          <a:xfrm>
            <a:off x="9555480" y="1389888"/>
            <a:ext cx="347472" cy="347472"/>
          </a:xfrm>
          <a:prstGeom prst="ellipse">
            <a:avLst/>
          </a:prstGeom>
          <a:solidFill>
            <a:schemeClr val="accent1"/>
          </a:solidFill>
          <a:ln/>
        </p:spPr>
      </p:sp>
      <p:pic>
        <p:nvPicPr>
          <p:cNvPr id="81" name="Image 5" descr="Delivered icon">    </p:cNvPr>
          <p:cNvPicPr>
            <a:picLocks noChangeAspect="1"/>
          </p:cNvPicPr>
          <p:nvPr/>
        </p:nvPicPr>
        <p:blipFill>
          <a:blip r:embed="rId6"/>
          <a:stretch>
            <a:fillRect/>
          </a:stretch>
        </p:blipFill>
        <p:spPr>
          <a:xfrm>
            <a:off x="9638873" y="1473281"/>
            <a:ext cx="180685" cy="180685"/>
          </a:xfrm>
          <a:prstGeom prst="rect">
            <a:avLst/>
          </a:prstGeom>
        </p:spPr>
      </p:pic>
      <p:sp>
        <p:nvSpPr>
          <p:cNvPr id="82" name="Delivered heading"/>
          <p:cNvSpPr txBox="1"/>
          <p:nvPr/>
        </p:nvSpPr>
        <p:spPr>
          <a:xfrm>
            <a:off x="9994392" y="1389888"/>
            <a:ext cx="1737360" cy="347472"/>
          </a:xfrm>
          <a:prstGeom prst="rect">
            <a:avLst/>
          </a:prstGeom>
          <a:noFill/>
          <a:ln/>
        </p:spPr>
        <p:txBody>
          <a:bodyPr wrap="square" lIns="0" tIns="0" rIns="0" bIns="0" rtlCol="0" anchor="ctr"/>
          <a:lstStyle/>
          <a:p>
            <a:pPr algn="l" indent="0" marL="0">
              <a:buNone/>
            </a:pPr>
            <a:r>
              <a:rPr lang="en-US" sz="1400" b="1" dirty="0">
                <a:solidFill>
                  <a:schemeClr val="tx1"/>
                </a:solidFill>
              </a:rPr>
              <a:t>Delivered</a:t>
            </a:r>
            <a:endParaRPr lang="en-US" sz="1100" dirty="0"/>
          </a:p>
        </p:txBody>
      </p:sp>
      <p:sp>
        <p:nvSpPr>
          <p:cNvPr id="83" name="Output BRD"/>
          <p:cNvSpPr/>
          <p:nvPr/>
        </p:nvSpPr>
        <p:spPr>
          <a:xfrm>
            <a:off x="9555480" y="1847088"/>
            <a:ext cx="2221992" cy="932688"/>
          </a:xfrm>
          <a:prstGeom prst="roundRect">
            <a:avLst>
              <a:gd name="adj" fmla="val 5882"/>
            </a:avLst>
          </a:prstGeom>
          <a:solidFill>
            <a:schemeClr val="bg1"/>
          </a:solidFill>
          <a:ln w="12700">
            <a:solidFill>
              <a:srgbClr val="C9D5D3"/>
            </a:solidFill>
            <a:prstDash val="solid"/>
          </a:ln>
        </p:spPr>
      </p:sp>
      <p:sp>
        <p:nvSpPr>
          <p:cNvPr id="84" name="Output BRD text"/>
          <p:cNvSpPr txBox="1"/>
          <p:nvPr/>
        </p:nvSpPr>
        <p:spPr>
          <a:xfrm>
            <a:off x="9555480" y="1865376"/>
            <a:ext cx="2221992" cy="566928"/>
          </a:xfrm>
          <a:prstGeom prst="rect">
            <a:avLst/>
          </a:prstGeom>
          <a:noFill/>
          <a:ln/>
        </p:spPr>
        <p:txBody>
          <a:bodyPr wrap="square" lIns="38100" tIns="76200" rIns="76200" bIns="38100" rtlCol="0" anchor="t"/>
          <a:lstStyle/>
          <a:p>
            <a:pPr algn="l" indent="0" marL="0">
              <a:buNone/>
            </a:pPr>
            <a:r>
              <a:rPr lang="en-US" sz="1150" b="1" dirty="0">
                <a:solidFill>
                  <a:schemeClr val="tx1"/>
                </a:solidFill>
              </a:rPr>
              <a:t>Draft BRD</a:t>
            </a:r>
            <a:endParaRPr lang="en-US" sz="1100" dirty="0"/>
          </a:p>
          <a:p>
            <a:pPr algn="l" indent="0" marL="0">
              <a:buNone/>
            </a:pPr>
            <a:r>
              <a:rPr lang="en-US" sz="1000" dirty="0">
                <a:solidFill>
                  <a:schemeClr val="accent6"/>
                </a:solidFill>
              </a:rPr>
              <a:t>in the client's template, as a document and a web page</a:t>
            </a:r>
            <a:endParaRPr lang="en-US" sz="1100" dirty="0"/>
          </a:p>
        </p:txBody>
      </p:sp>
      <p:sp>
        <p:nvSpPr>
          <p:cNvPr id="85" name="Stamp"/>
          <p:cNvSpPr/>
          <p:nvPr/>
        </p:nvSpPr>
        <p:spPr>
          <a:xfrm>
            <a:off x="9646920" y="2450592"/>
            <a:ext cx="2039112" cy="256032"/>
          </a:xfrm>
          <a:prstGeom prst="roundRect">
            <a:avLst>
              <a:gd name="adj" fmla="val 10714"/>
            </a:avLst>
          </a:prstGeom>
          <a:solidFill>
            <a:schemeClr val="bg2"/>
          </a:solidFill>
          <a:ln w="12700">
            <a:solidFill>
              <a:schemeClr val="tx1"/>
            </a:solidFill>
            <a:prstDash val="solid"/>
          </a:ln>
        </p:spPr>
      </p:sp>
      <p:sp>
        <p:nvSpPr>
          <p:cNvPr id="86" name="Stamp text"/>
          <p:cNvSpPr txBox="1"/>
          <p:nvPr/>
        </p:nvSpPr>
        <p:spPr>
          <a:xfrm>
            <a:off x="9646920" y="2450592"/>
            <a:ext cx="2039112" cy="256032"/>
          </a:xfrm>
          <a:prstGeom prst="rect">
            <a:avLst/>
          </a:prstGeom>
          <a:noFill/>
          <a:ln/>
        </p:spPr>
        <p:txBody>
          <a:bodyPr wrap="square" lIns="0" tIns="0" rIns="0" bIns="0" rtlCol="0" anchor="ctr"/>
          <a:lstStyle/>
          <a:p>
            <a:pPr algn="ctr" indent="0" marL="0">
              <a:buNone/>
            </a:pPr>
            <a:r>
              <a:rPr lang="en-US" sz="1000" b="1" dirty="0">
                <a:solidFill>
                  <a:schemeClr val="tx1"/>
                </a:solidFill>
              </a:rPr>
              <a:t>BRD v3 · Memory v1.2 · Playbook 1.0.0</a:t>
            </a:r>
            <a:endParaRPr lang="en-US" sz="1100" dirty="0"/>
          </a:p>
        </p:txBody>
      </p:sp>
      <p:sp>
        <p:nvSpPr>
          <p:cNvPr id="87" name="Output Versioned memory"/>
          <p:cNvSpPr/>
          <p:nvPr/>
        </p:nvSpPr>
        <p:spPr>
          <a:xfrm>
            <a:off x="9555480" y="2871216"/>
            <a:ext cx="2221992" cy="512064"/>
          </a:xfrm>
          <a:prstGeom prst="roundRect">
            <a:avLst>
              <a:gd name="adj" fmla="val 10714"/>
            </a:avLst>
          </a:prstGeom>
          <a:solidFill>
            <a:schemeClr val="bg1"/>
          </a:solidFill>
          <a:ln w="12700">
            <a:solidFill>
              <a:srgbClr val="C9D5D3"/>
            </a:solidFill>
            <a:prstDash val="solid"/>
          </a:ln>
        </p:spPr>
      </p:sp>
      <p:sp>
        <p:nvSpPr>
          <p:cNvPr id="88" name="Output text Versioned memory"/>
          <p:cNvSpPr txBox="1"/>
          <p:nvPr/>
        </p:nvSpPr>
        <p:spPr>
          <a:xfrm>
            <a:off x="9555480" y="2871216"/>
            <a:ext cx="2221992"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Versioned memory</a:t>
            </a:r>
            <a:endParaRPr lang="en-US" sz="1100" dirty="0"/>
          </a:p>
          <a:p>
            <a:pPr algn="l" indent="0" marL="0">
              <a:buNone/>
            </a:pPr>
            <a:r>
              <a:rPr lang="en-US" sz="1000" dirty="0">
                <a:solidFill>
                  <a:schemeClr val="accent6"/>
                </a:solidFill>
              </a:rPr>
              <a:t>reusable for the next BRD and stage</a:t>
            </a:r>
            <a:endParaRPr lang="en-US" sz="1100" dirty="0"/>
          </a:p>
        </p:txBody>
      </p:sp>
      <p:sp>
        <p:nvSpPr>
          <p:cNvPr id="89" name="Output Review trail"/>
          <p:cNvSpPr/>
          <p:nvPr/>
        </p:nvSpPr>
        <p:spPr>
          <a:xfrm>
            <a:off x="9555480" y="3456432"/>
            <a:ext cx="2221992" cy="512064"/>
          </a:xfrm>
          <a:prstGeom prst="roundRect">
            <a:avLst>
              <a:gd name="adj" fmla="val 10714"/>
            </a:avLst>
          </a:prstGeom>
          <a:solidFill>
            <a:schemeClr val="bg1"/>
          </a:solidFill>
          <a:ln w="12700">
            <a:solidFill>
              <a:srgbClr val="C9D5D3"/>
            </a:solidFill>
            <a:prstDash val="solid"/>
          </a:ln>
        </p:spPr>
      </p:sp>
      <p:sp>
        <p:nvSpPr>
          <p:cNvPr id="90" name="Output text Review trail"/>
          <p:cNvSpPr txBox="1"/>
          <p:nvPr/>
        </p:nvSpPr>
        <p:spPr>
          <a:xfrm>
            <a:off x="9555480" y="3456432"/>
            <a:ext cx="2221992"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Review trail</a:t>
            </a:r>
            <a:endParaRPr lang="en-US" sz="1100" dirty="0"/>
          </a:p>
          <a:p>
            <a:pPr algn="l" indent="0" marL="0">
              <a:buNone/>
            </a:pPr>
            <a:r>
              <a:rPr lang="en-US" sz="1000" dirty="0">
                <a:solidFill>
                  <a:schemeClr val="accent6"/>
                </a:solidFill>
              </a:rPr>
              <a:t>every round and every piece of feedback</a:t>
            </a:r>
            <a:endParaRPr lang="en-US" sz="1100" dirty="0"/>
          </a:p>
        </p:txBody>
      </p:sp>
      <p:sp>
        <p:nvSpPr>
          <p:cNvPr id="91" name="Output Client validation list"/>
          <p:cNvSpPr/>
          <p:nvPr/>
        </p:nvSpPr>
        <p:spPr>
          <a:xfrm>
            <a:off x="9555480" y="4041648"/>
            <a:ext cx="2221992" cy="512064"/>
          </a:xfrm>
          <a:prstGeom prst="roundRect">
            <a:avLst>
              <a:gd name="adj" fmla="val 10714"/>
            </a:avLst>
          </a:prstGeom>
          <a:solidFill>
            <a:schemeClr val="bg1"/>
          </a:solidFill>
          <a:ln w="12700">
            <a:solidFill>
              <a:srgbClr val="C9D5D3"/>
            </a:solidFill>
            <a:prstDash val="solid"/>
          </a:ln>
        </p:spPr>
      </p:sp>
      <p:sp>
        <p:nvSpPr>
          <p:cNvPr id="92" name="Output text Client validation list"/>
          <p:cNvSpPr txBox="1"/>
          <p:nvPr/>
        </p:nvSpPr>
        <p:spPr>
          <a:xfrm>
            <a:off x="9555480" y="4041648"/>
            <a:ext cx="2221992" cy="512064"/>
          </a:xfrm>
          <a:prstGeom prst="rect">
            <a:avLst/>
          </a:prstGeom>
          <a:noFill/>
          <a:ln/>
        </p:spPr>
        <p:txBody>
          <a:bodyPr wrap="square" lIns="38100" tIns="76200" rIns="76200" bIns="38100" rtlCol="0" anchor="ctr"/>
          <a:lstStyle/>
          <a:p>
            <a:pPr algn="l" indent="0" marL="0">
              <a:buNone/>
            </a:pPr>
            <a:r>
              <a:rPr lang="en-US" sz="1150" b="1" dirty="0">
                <a:solidFill>
                  <a:schemeClr val="tx1"/>
                </a:solidFill>
              </a:rPr>
              <a:t>Client validation list</a:t>
            </a:r>
            <a:endParaRPr lang="en-US" sz="1100" dirty="0"/>
          </a:p>
          <a:p>
            <a:pPr algn="l" indent="0" marL="0">
              <a:buNone/>
            </a:pPr>
            <a:r>
              <a:rPr lang="en-US" sz="1000" dirty="0">
                <a:solidFill>
                  <a:schemeClr val="accent6"/>
                </a:solidFill>
              </a:rPr>
              <a:t>what the client still has to confirm</a:t>
            </a:r>
            <a:endParaRPr lang="en-US" sz="1100" dirty="0"/>
          </a:p>
        </p:txBody>
      </p:sp>
      <p:sp>
        <p:nvSpPr>
          <p:cNvPr id="93" name="Labels heading"/>
          <p:cNvSpPr txBox="1"/>
          <p:nvPr/>
        </p:nvSpPr>
        <p:spPr>
          <a:xfrm>
            <a:off x="9555480" y="4663440"/>
            <a:ext cx="2221992" cy="256032"/>
          </a:xfrm>
          <a:prstGeom prst="rect">
            <a:avLst/>
          </a:prstGeom>
          <a:noFill/>
          <a:ln/>
        </p:spPr>
        <p:txBody>
          <a:bodyPr wrap="square" lIns="0" tIns="0" rIns="0" bIns="0" rtlCol="0" anchor="ctr"/>
          <a:lstStyle/>
          <a:p>
            <a:pPr algn="l" indent="0" marL="0">
              <a:buNone/>
            </a:pPr>
            <a:r>
              <a:rPr lang="en-US" sz="1100" b="1" dirty="0">
                <a:solidFill>
                  <a:schemeClr val="tx1"/>
                </a:solidFill>
              </a:rPr>
              <a:t>Every statement is labelled</a:t>
            </a:r>
            <a:endParaRPr lang="en-US" sz="1100" dirty="0"/>
          </a:p>
        </p:txBody>
      </p:sp>
      <p:sp>
        <p:nvSpPr>
          <p:cNvPr id="94" name="Label Confirmed"/>
          <p:cNvSpPr/>
          <p:nvPr/>
        </p:nvSpPr>
        <p:spPr>
          <a:xfrm>
            <a:off x="9555480" y="4965192"/>
            <a:ext cx="1069848" cy="292608"/>
          </a:xfrm>
          <a:prstGeom prst="roundRect">
            <a:avLst>
              <a:gd name="adj" fmla="val 50000"/>
            </a:avLst>
          </a:prstGeom>
          <a:solidFill>
            <a:schemeClr val="accent4">
              <a:alpha val="15000"/>
            </a:schemeClr>
          </a:solidFill>
          <a:ln w="12700">
            <a:solidFill>
              <a:schemeClr val="accent4"/>
            </a:solidFill>
            <a:prstDash val="solid"/>
          </a:ln>
        </p:spPr>
      </p:sp>
      <p:sp>
        <p:nvSpPr>
          <p:cNvPr id="95" name="Label text Confirmed"/>
          <p:cNvSpPr txBox="1"/>
          <p:nvPr/>
        </p:nvSpPr>
        <p:spPr>
          <a:xfrm>
            <a:off x="9555480" y="4965192"/>
            <a:ext cx="1069848" cy="292608"/>
          </a:xfrm>
          <a:prstGeom prst="rect">
            <a:avLst/>
          </a:prstGeom>
          <a:noFill/>
          <a:ln/>
        </p:spPr>
        <p:txBody>
          <a:bodyPr wrap="square" lIns="0" tIns="0" rIns="0" bIns="0" rtlCol="0" anchor="ctr"/>
          <a:lstStyle/>
          <a:p>
            <a:pPr algn="ctr" indent="0" marL="0">
              <a:buNone/>
            </a:pPr>
            <a:r>
              <a:rPr lang="en-US" sz="1000" b="1" dirty="0">
                <a:solidFill>
                  <a:schemeClr val="accent4"/>
                </a:solidFill>
              </a:rPr>
              <a:t>Confirmed</a:t>
            </a:r>
            <a:endParaRPr lang="en-US" sz="1100" dirty="0"/>
          </a:p>
        </p:txBody>
      </p:sp>
      <p:sp>
        <p:nvSpPr>
          <p:cNvPr id="96" name="Label From evidence"/>
          <p:cNvSpPr/>
          <p:nvPr/>
        </p:nvSpPr>
        <p:spPr>
          <a:xfrm>
            <a:off x="10689336" y="4965192"/>
            <a:ext cx="1069848" cy="292608"/>
          </a:xfrm>
          <a:prstGeom prst="roundRect">
            <a:avLst>
              <a:gd name="adj" fmla="val 50000"/>
            </a:avLst>
          </a:prstGeom>
          <a:solidFill>
            <a:schemeClr val="accent3">
              <a:alpha val="15000"/>
            </a:schemeClr>
          </a:solidFill>
          <a:ln w="12700">
            <a:solidFill>
              <a:schemeClr val="accent3"/>
            </a:solidFill>
            <a:prstDash val="solid"/>
          </a:ln>
        </p:spPr>
      </p:sp>
      <p:sp>
        <p:nvSpPr>
          <p:cNvPr id="97" name="Label text From evidence"/>
          <p:cNvSpPr txBox="1"/>
          <p:nvPr/>
        </p:nvSpPr>
        <p:spPr>
          <a:xfrm>
            <a:off x="10689336" y="4965192"/>
            <a:ext cx="1069848" cy="292608"/>
          </a:xfrm>
          <a:prstGeom prst="rect">
            <a:avLst/>
          </a:prstGeom>
          <a:noFill/>
          <a:ln/>
        </p:spPr>
        <p:txBody>
          <a:bodyPr wrap="square" lIns="0" tIns="0" rIns="0" bIns="0" rtlCol="0" anchor="ctr"/>
          <a:lstStyle/>
          <a:p>
            <a:pPr algn="ctr" indent="0" marL="0">
              <a:buNone/>
            </a:pPr>
            <a:r>
              <a:rPr lang="en-US" sz="1000" b="1" dirty="0">
                <a:solidFill>
                  <a:schemeClr val="accent3"/>
                </a:solidFill>
              </a:rPr>
              <a:t>From evidence</a:t>
            </a:r>
            <a:endParaRPr lang="en-US" sz="1100" dirty="0"/>
          </a:p>
        </p:txBody>
      </p:sp>
      <p:sp>
        <p:nvSpPr>
          <p:cNvPr id="98" name="Label Inferred"/>
          <p:cNvSpPr/>
          <p:nvPr/>
        </p:nvSpPr>
        <p:spPr>
          <a:xfrm>
            <a:off x="9555480" y="5312664"/>
            <a:ext cx="1069848" cy="292608"/>
          </a:xfrm>
          <a:prstGeom prst="roundRect">
            <a:avLst>
              <a:gd name="adj" fmla="val 50000"/>
            </a:avLst>
          </a:prstGeom>
          <a:solidFill>
            <a:schemeClr val="accent2">
              <a:alpha val="15000"/>
            </a:schemeClr>
          </a:solidFill>
          <a:ln w="12700">
            <a:solidFill>
              <a:schemeClr val="accent2"/>
            </a:solidFill>
            <a:prstDash val="solid"/>
          </a:ln>
        </p:spPr>
      </p:sp>
      <p:sp>
        <p:nvSpPr>
          <p:cNvPr id="99" name="Label text Inferred"/>
          <p:cNvSpPr txBox="1"/>
          <p:nvPr/>
        </p:nvSpPr>
        <p:spPr>
          <a:xfrm>
            <a:off x="9555480" y="5312664"/>
            <a:ext cx="1069848" cy="292608"/>
          </a:xfrm>
          <a:prstGeom prst="rect">
            <a:avLst/>
          </a:prstGeom>
          <a:noFill/>
          <a:ln/>
        </p:spPr>
        <p:txBody>
          <a:bodyPr wrap="square" lIns="0" tIns="0" rIns="0" bIns="0" rtlCol="0" anchor="ctr"/>
          <a:lstStyle/>
          <a:p>
            <a:pPr algn="ctr" indent="0" marL="0">
              <a:buNone/>
            </a:pPr>
            <a:r>
              <a:rPr lang="en-US" sz="1000" b="1" dirty="0">
                <a:solidFill>
                  <a:schemeClr val="accent2"/>
                </a:solidFill>
              </a:rPr>
              <a:t>Inferred</a:t>
            </a:r>
            <a:endParaRPr lang="en-US" sz="1100" dirty="0"/>
          </a:p>
        </p:txBody>
      </p:sp>
      <p:sp>
        <p:nvSpPr>
          <p:cNvPr id="100" name="Label Conflicting"/>
          <p:cNvSpPr/>
          <p:nvPr/>
        </p:nvSpPr>
        <p:spPr>
          <a:xfrm>
            <a:off x="10689336" y="5312664"/>
            <a:ext cx="1069848" cy="292608"/>
          </a:xfrm>
          <a:prstGeom prst="roundRect">
            <a:avLst>
              <a:gd name="adj" fmla="val 50000"/>
            </a:avLst>
          </a:prstGeom>
          <a:solidFill>
            <a:schemeClr val="accent5">
              <a:alpha val="15000"/>
            </a:schemeClr>
          </a:solidFill>
          <a:ln w="12700">
            <a:solidFill>
              <a:schemeClr val="accent5"/>
            </a:solidFill>
            <a:prstDash val="solid"/>
          </a:ln>
        </p:spPr>
      </p:sp>
      <p:sp>
        <p:nvSpPr>
          <p:cNvPr id="101" name="Label text Conflicting"/>
          <p:cNvSpPr txBox="1"/>
          <p:nvPr/>
        </p:nvSpPr>
        <p:spPr>
          <a:xfrm>
            <a:off x="10689336" y="5312664"/>
            <a:ext cx="1069848" cy="292608"/>
          </a:xfrm>
          <a:prstGeom prst="rect">
            <a:avLst/>
          </a:prstGeom>
          <a:noFill/>
          <a:ln/>
        </p:spPr>
        <p:txBody>
          <a:bodyPr wrap="square" lIns="0" tIns="0" rIns="0" bIns="0" rtlCol="0" anchor="ctr"/>
          <a:lstStyle/>
          <a:p>
            <a:pPr algn="ctr" indent="0" marL="0">
              <a:buNone/>
            </a:pPr>
            <a:r>
              <a:rPr lang="en-US" sz="1000" b="1" dirty="0">
                <a:solidFill>
                  <a:schemeClr val="accent5"/>
                </a:solidFill>
              </a:rPr>
              <a:t>Conflicting</a:t>
            </a:r>
            <a:endParaRPr lang="en-US" sz="1100" dirty="0"/>
          </a:p>
        </p:txBody>
      </p:sp>
      <p:sp>
        <p:nvSpPr>
          <p:cNvPr id="102" name="Controls heading"/>
          <p:cNvSpPr txBox="1"/>
          <p:nvPr/>
        </p:nvSpPr>
        <p:spPr>
          <a:xfrm>
            <a:off x="411480" y="5870448"/>
            <a:ext cx="1371600" cy="548640"/>
          </a:xfrm>
          <a:prstGeom prst="rect">
            <a:avLst/>
          </a:prstGeom>
          <a:noFill/>
          <a:ln/>
        </p:spPr>
        <p:txBody>
          <a:bodyPr wrap="square" lIns="0" tIns="0" rIns="0" bIns="0" rtlCol="0" anchor="ctr"/>
          <a:lstStyle/>
          <a:p>
            <a:pPr algn="l" indent="0" marL="0">
              <a:buNone/>
            </a:pPr>
            <a:r>
              <a:rPr lang="en-US" sz="1200" b="1" dirty="0">
                <a:solidFill>
                  <a:schemeClr val="tx1"/>
                </a:solidFill>
              </a:rPr>
              <a:t>Built-in controls</a:t>
            </a:r>
            <a:endParaRPr lang="en-US" sz="1100" dirty="0"/>
          </a:p>
        </p:txBody>
      </p:sp>
      <p:sp>
        <p:nvSpPr>
          <p:cNvPr id="103" name="Control circle Current vs future state"/>
          <p:cNvSpPr/>
          <p:nvPr/>
        </p:nvSpPr>
        <p:spPr>
          <a:xfrm>
            <a:off x="1828800" y="5943600"/>
            <a:ext cx="402336" cy="402336"/>
          </a:xfrm>
          <a:prstGeom prst="ellipse">
            <a:avLst/>
          </a:prstGeom>
          <a:solidFill>
            <a:schemeClr val="bg2"/>
          </a:solidFill>
          <a:ln/>
        </p:spPr>
      </p:sp>
      <p:pic>
        <p:nvPicPr>
          <p:cNvPr id="104" name="Image 6" descr="Current vs future state">    </p:cNvPr>
          <p:cNvPicPr>
            <a:picLocks noChangeAspect="1"/>
          </p:cNvPicPr>
          <p:nvPr/>
        </p:nvPicPr>
        <p:blipFill>
          <a:blip r:embed="rId7"/>
          <a:stretch>
            <a:fillRect/>
          </a:stretch>
        </p:blipFill>
        <p:spPr>
          <a:xfrm>
            <a:off x="1929384" y="6044184"/>
            <a:ext cx="201168" cy="201168"/>
          </a:xfrm>
          <a:prstGeom prst="rect">
            <a:avLst/>
          </a:prstGeom>
        </p:spPr>
      </p:pic>
      <p:sp>
        <p:nvSpPr>
          <p:cNvPr id="105" name="Control text Current vs future state"/>
          <p:cNvSpPr txBox="1"/>
          <p:nvPr/>
        </p:nvSpPr>
        <p:spPr>
          <a:xfrm>
            <a:off x="2286000"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Current vs future state</a:t>
            </a:r>
            <a:endParaRPr lang="en-US" sz="1100" dirty="0"/>
          </a:p>
          <a:p>
            <a:pPr algn="l" indent="0" marL="0">
              <a:buNone/>
            </a:pPr>
            <a:r>
              <a:rPr lang="en-US" sz="1000" dirty="0">
                <a:solidFill>
                  <a:schemeClr val="accent6"/>
                </a:solidFill>
              </a:rPr>
              <a:t>BRD covers today only</a:t>
            </a:r>
            <a:endParaRPr lang="en-US" sz="1100" dirty="0"/>
          </a:p>
        </p:txBody>
      </p:sp>
      <p:sp>
        <p:nvSpPr>
          <p:cNvPr id="106" name="Control circle Versions on every page"/>
          <p:cNvSpPr/>
          <p:nvPr/>
        </p:nvSpPr>
        <p:spPr>
          <a:xfrm>
            <a:off x="3822192" y="5943600"/>
            <a:ext cx="402336" cy="402336"/>
          </a:xfrm>
          <a:prstGeom prst="ellipse">
            <a:avLst/>
          </a:prstGeom>
          <a:solidFill>
            <a:schemeClr val="bg2"/>
          </a:solidFill>
          <a:ln/>
        </p:spPr>
      </p:sp>
      <p:pic>
        <p:nvPicPr>
          <p:cNvPr id="107" name="Image 7" descr="Versions on every page">    </p:cNvPr>
          <p:cNvPicPr>
            <a:picLocks noChangeAspect="1"/>
          </p:cNvPicPr>
          <p:nvPr/>
        </p:nvPicPr>
        <p:blipFill>
          <a:blip r:embed="rId8"/>
          <a:stretch>
            <a:fillRect/>
          </a:stretch>
        </p:blipFill>
        <p:spPr>
          <a:xfrm>
            <a:off x="3922776" y="6044184"/>
            <a:ext cx="201168" cy="201168"/>
          </a:xfrm>
          <a:prstGeom prst="rect">
            <a:avLst/>
          </a:prstGeom>
        </p:spPr>
      </p:pic>
      <p:sp>
        <p:nvSpPr>
          <p:cNvPr id="108" name="Control text Versions on every page"/>
          <p:cNvSpPr txBox="1"/>
          <p:nvPr/>
        </p:nvSpPr>
        <p:spPr>
          <a:xfrm>
            <a:off x="4279392"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Versions on every page</a:t>
            </a:r>
            <a:endParaRPr lang="en-US" sz="1100" dirty="0"/>
          </a:p>
          <a:p>
            <a:pPr algn="l" indent="0" marL="0">
              <a:buNone/>
            </a:pPr>
            <a:r>
              <a:rPr lang="en-US" sz="1000" dirty="0">
                <a:solidFill>
                  <a:schemeClr val="accent6"/>
                </a:solidFill>
              </a:rPr>
              <a:t>memory, BRD, playbook</a:t>
            </a:r>
            <a:endParaRPr lang="en-US" sz="1100" dirty="0"/>
          </a:p>
        </p:txBody>
      </p:sp>
      <p:sp>
        <p:nvSpPr>
          <p:cNvPr id="109" name="Control circle Read-only data access"/>
          <p:cNvSpPr/>
          <p:nvPr/>
        </p:nvSpPr>
        <p:spPr>
          <a:xfrm>
            <a:off x="5815584" y="5943600"/>
            <a:ext cx="402336" cy="402336"/>
          </a:xfrm>
          <a:prstGeom prst="ellipse">
            <a:avLst/>
          </a:prstGeom>
          <a:solidFill>
            <a:schemeClr val="bg2"/>
          </a:solidFill>
          <a:ln/>
        </p:spPr>
      </p:sp>
      <p:pic>
        <p:nvPicPr>
          <p:cNvPr id="110" name="Image 8" descr="Read-only data access">    </p:cNvPr>
          <p:cNvPicPr>
            <a:picLocks noChangeAspect="1"/>
          </p:cNvPicPr>
          <p:nvPr/>
        </p:nvPicPr>
        <p:blipFill>
          <a:blip r:embed="rId9"/>
          <a:stretch>
            <a:fillRect/>
          </a:stretch>
        </p:blipFill>
        <p:spPr>
          <a:xfrm>
            <a:off x="5916168" y="6044184"/>
            <a:ext cx="201168" cy="201168"/>
          </a:xfrm>
          <a:prstGeom prst="rect">
            <a:avLst/>
          </a:prstGeom>
        </p:spPr>
      </p:pic>
      <p:sp>
        <p:nvSpPr>
          <p:cNvPr id="111" name="Control text Read-only data access"/>
          <p:cNvSpPr txBox="1"/>
          <p:nvPr/>
        </p:nvSpPr>
        <p:spPr>
          <a:xfrm>
            <a:off x="6272784"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Read-only data access</a:t>
            </a:r>
            <a:endParaRPr lang="en-US" sz="1100" dirty="0"/>
          </a:p>
          <a:p>
            <a:pPr algn="l" indent="0" marL="0">
              <a:buNone/>
            </a:pPr>
            <a:r>
              <a:rPr lang="en-US" sz="1000" dirty="0">
                <a:solidFill>
                  <a:schemeClr val="accent6"/>
                </a:solidFill>
              </a:rPr>
              <a:t>Genie and DevOps</a:t>
            </a:r>
            <a:endParaRPr lang="en-US" sz="1100" dirty="0"/>
          </a:p>
        </p:txBody>
      </p:sp>
      <p:sp>
        <p:nvSpPr>
          <p:cNvPr id="112" name="Control circle No secrets in chat"/>
          <p:cNvSpPr/>
          <p:nvPr/>
        </p:nvSpPr>
        <p:spPr>
          <a:xfrm>
            <a:off x="7808976" y="5943600"/>
            <a:ext cx="402336" cy="402336"/>
          </a:xfrm>
          <a:prstGeom prst="ellipse">
            <a:avLst/>
          </a:prstGeom>
          <a:solidFill>
            <a:schemeClr val="bg2"/>
          </a:solidFill>
          <a:ln/>
        </p:spPr>
      </p:sp>
      <p:pic>
        <p:nvPicPr>
          <p:cNvPr id="113" name="Image 9" descr="No secrets in chat">    </p:cNvPr>
          <p:cNvPicPr>
            <a:picLocks noChangeAspect="1"/>
          </p:cNvPicPr>
          <p:nvPr/>
        </p:nvPicPr>
        <p:blipFill>
          <a:blip r:embed="rId10"/>
          <a:stretch>
            <a:fillRect/>
          </a:stretch>
        </p:blipFill>
        <p:spPr>
          <a:xfrm>
            <a:off x="7909560" y="6044184"/>
            <a:ext cx="201168" cy="201168"/>
          </a:xfrm>
          <a:prstGeom prst="rect">
            <a:avLst/>
          </a:prstGeom>
        </p:spPr>
      </p:pic>
      <p:sp>
        <p:nvSpPr>
          <p:cNvPr id="114" name="Control text No secrets in chat"/>
          <p:cNvSpPr txBox="1"/>
          <p:nvPr/>
        </p:nvSpPr>
        <p:spPr>
          <a:xfrm>
            <a:off x="8266176"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No secrets in chat</a:t>
            </a:r>
            <a:endParaRPr lang="en-US" sz="1100" dirty="0"/>
          </a:p>
          <a:p>
            <a:pPr algn="l" indent="0" marL="0">
              <a:buNone/>
            </a:pPr>
            <a:r>
              <a:rPr lang="en-US" sz="1000" dirty="0">
                <a:solidFill>
                  <a:schemeClr val="accent6"/>
                </a:solidFill>
              </a:rPr>
              <a:t>tokens in VS Code only</a:t>
            </a:r>
            <a:endParaRPr lang="en-US" sz="1100" dirty="0"/>
          </a:p>
        </p:txBody>
      </p:sp>
      <p:sp>
        <p:nvSpPr>
          <p:cNvPr id="115" name="Control circle Nothing overwritten"/>
          <p:cNvSpPr/>
          <p:nvPr/>
        </p:nvSpPr>
        <p:spPr>
          <a:xfrm>
            <a:off x="9802368" y="5943600"/>
            <a:ext cx="402336" cy="402336"/>
          </a:xfrm>
          <a:prstGeom prst="ellipse">
            <a:avLst/>
          </a:prstGeom>
          <a:solidFill>
            <a:schemeClr val="bg2"/>
          </a:solidFill>
          <a:ln/>
        </p:spPr>
      </p:sp>
      <p:pic>
        <p:nvPicPr>
          <p:cNvPr id="116" name="Image 10" descr="Nothing overwritten">    </p:cNvPr>
          <p:cNvPicPr>
            <a:picLocks noChangeAspect="1"/>
          </p:cNvPicPr>
          <p:nvPr/>
        </p:nvPicPr>
        <p:blipFill>
          <a:blip r:embed="rId11"/>
          <a:stretch>
            <a:fillRect/>
          </a:stretch>
        </p:blipFill>
        <p:spPr>
          <a:xfrm>
            <a:off x="9902952" y="6044184"/>
            <a:ext cx="201168" cy="201168"/>
          </a:xfrm>
          <a:prstGeom prst="rect">
            <a:avLst/>
          </a:prstGeom>
        </p:spPr>
      </p:pic>
      <p:sp>
        <p:nvSpPr>
          <p:cNvPr id="117" name="Control text Nothing overwritten"/>
          <p:cNvSpPr txBox="1"/>
          <p:nvPr/>
        </p:nvSpPr>
        <p:spPr>
          <a:xfrm>
            <a:off x="10259568" y="5870448"/>
            <a:ext cx="1517904" cy="548640"/>
          </a:xfrm>
          <a:prstGeom prst="rect">
            <a:avLst/>
          </a:prstGeom>
          <a:noFill/>
          <a:ln/>
        </p:spPr>
        <p:txBody>
          <a:bodyPr wrap="square" lIns="12700" tIns="25400" rIns="25400" bIns="12700" rtlCol="0" anchor="ctr"/>
          <a:lstStyle/>
          <a:p>
            <a:pPr algn="l" indent="0" marL="0">
              <a:buNone/>
            </a:pPr>
            <a:r>
              <a:rPr lang="en-US" sz="1100" b="1" dirty="0">
                <a:solidFill>
                  <a:schemeClr val="tx1"/>
                </a:solidFill>
              </a:rPr>
              <a:t>Nothing overwritten</a:t>
            </a:r>
            <a:endParaRPr lang="en-US" sz="1100" dirty="0"/>
          </a:p>
          <a:p>
            <a:pPr algn="l" indent="0" marL="0">
              <a:buNone/>
            </a:pPr>
            <a:r>
              <a:rPr lang="en-US" sz="1000" dirty="0">
                <a:solidFill>
                  <a:schemeClr val="accent6"/>
                </a:solidFill>
              </a:rPr>
              <a:t>full history kept</a:t>
            </a:r>
            <a:endParaRPr lang="en-US" sz="1100" dirty="0"/>
          </a:p>
        </p:txBody>
      </p:sp>
    </p:spTree>
  </p:cSld>
  <p:clrMapOvr>
    <a:masterClrMapping/>
  </p:clrMapOvr>
</p:sld>
</file>

<file path=ppt/theme/theme1.xml><?xml version="1.0" encoding="utf-8"?>
<a:theme xmlns:a="http://schemas.openxmlformats.org/drawingml/2006/main" name="BRD Reconstruction">
  <a:themeElements>
    <a:clrScheme name="BRD Reconstruction">
      <a:dk1>
        <a:srgbClr val="16232A"/>
      </a:dk1>
      <a:lt1>
        <a:srgbClr val="FFFFFF"/>
      </a:lt1>
      <a:dk2>
        <a:srgbClr val="0D6670"/>
      </a:dk2>
      <a:lt2>
        <a:srgbClr val="EEF4F3"/>
      </a:lt2>
      <a:accent1>
        <a:srgbClr val="0D6670"/>
      </a:accent1>
      <a:accent2>
        <a:srgbClr val="A4610F"/>
      </a:accent2>
      <a:accent3>
        <a:srgbClr val="2F5E9E"/>
      </a:accent3>
      <a:accent4>
        <a:srgbClr val="1F7350"/>
      </a:accent4>
      <a:accent5>
        <a:srgbClr val="B23A2B"/>
      </a:accent5>
      <a:accent6>
        <a:srgbClr val="5C6B72"/>
      </a:accent6>
      <a:hlink>
        <a:srgbClr val="2F5E9E"/>
      </a:hlink>
      <a:folHlink>
        <a:srgbClr val="5C6B72"/>
      </a:folHlink>
    </a:clrScheme>
    <a:fontScheme name="BRD Reconstru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BRD Reconstruction Playbook: architecture</dc:title>
  <dc:subject>PptxGenJS Presentation</dc:subject>
  <dc:creator>PptxGenJS</dc:creator>
  <cp:lastModifiedBy>PptxGenJS</cp:lastModifiedBy>
  <cp:revision>1</cp:revision>
  <dcterms:created xsi:type="dcterms:W3CDTF">2026-10-19T06:51:21Z</dcterms:created>
  <dcterms:modified xsi:type="dcterms:W3CDTF">2026-10-19T06:51:21Z</dcterms:modified>
</cp:coreProperties>
</file>