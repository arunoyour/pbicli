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7" d="100"/>
          <a:sy n="147" d="100"/>
        </p:scale>
        <p:origin x="1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5922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1 (Title)
Good [morning/afternoon] everyone. Today I want to walk you through something our Data Team has been building — an AI Engineering Playbook. As AI coding tools become part of our everyday workflow, the question is no longer whether AI can generate code. It absolutely can. The question is whether it generates code that follows our standards, our security rules, and our architecture. This playbook is our answer to that question. Let me show you how it works.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2 (The Problem)
Here's the core challenge. When any developer — or any AI tool — generates code today, it starts from scratch with no memory of your team's conventions. It doesn't know that we use snake_case for database columns, that we never hard-delete records, that PII fields need to be tagged, or that money must be stored as NUMERIC rather than FLOAT. The AI produces output that works — it runs, it compiles — but it doesn't follow our architecture. And the problem only surfaces at code review, by which point someone has to go back and fix it. This is the tech debt we're trying to eliminate.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3 (Before vs After)
This slide makes it concrete. On the left is what AI generates today — it works, but every item here will trigger a comment at code review. Random naming conventions, missing audit columns, hard deletes on core tables, credentials hardcoded directly in notebooks. On the right is what the same AI generates with the playbook loaded. The exact same task, but now every rule is followed automatically — snake_case naming, soft deletes, PII tagging, NUMERIC for money, secrets via Key Vault. Not a single one of those items on the right requires any extra prompting from the developer. The playbook does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4 (What is it)
So what exactly is the playbook? At its core, it's a set of Markdown files — structured guidance documents — that an AI agent reads before it does anything. Think of it as a permanent context layer that travels with your codebase. One master file, MASTER.md, is the entry point. When the agent starts a task, it reads MASTER.md first, then loads only the domain-specific rules that are relevant. The key principles are three: it's structured — 27 files organised by domain and layer. It's enforced — rules are applied at generation time, not caught in review. And it asks first — if any information is missing, the agent stops and asks. It never assumes.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5 (How It Works)
The flow is straightforward. Step one: the developer makes a request. Step two: the agent reads MASTER.md — the orchestrator file that tells it which standards are relevant to this task. Step three — and this is the critical addition in version two — the agent asks if anything is unclear. It does not guess. It does not invent a catalog name or assume you mean production. Step four: all the relevant rules are applied automatically. Step five: the output already complies with everything in the playbook before it reaches a reviewer. And that banner at the bottom — Rule Zero — is the most important principle. Missing information is a reason to ask, never a reason to assume.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6 (Five Domains)
The playbook covers five domains. The Data Layer — which is where we as the Data Team own the most rules — covers naming, modeling, quality, security, and pipelines. The API and UI layers cover the standards for services and front-end applications. And then the two platform-specific domains: MS Fabric and Databricks, each with their own medallion architecture rules, notebook standards, workflow patterns, and security conventions. In total, twenty-seven files across five domains, with nine reusable implementation patterns and one master orchestrator file that connects everything. The stat at the bottom is the number I want you to take away: 27 files, built once, applied automatically every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7 (Integration)
This is where the design gets interesting. MASTER.md sits at the centre — it's the hub. Each spoke connects to one of the five domains. The agent knows to load only the modules that are relevant to the current task. If it's a Databricks pipeline, it loads the Databricks standards. If it's a full-stack feature, it loads Data, API, and UI. But every job starts by reading workspace.config.md — the file at the bottom of this slide. That's where your real environment names live: your actual catalog names, your secret scope names, your cluster specs. If any of that is blank when the agent needs it, it stops and asks. The integration is what makes this more powerful than any single layer standard on its own.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8 (Rule Zero)
I want to pause on this slide because this is the rule that changes how AI coding actually works in practice. Ask Before You Build. This is Rule Zero — it overrides every other instruction in the playbook. The problem with AI tools today is not that they generate bad code. It's that they generate confidently wrong code when they don't have enough information. They'll invent a catalog name. They'll assume you mean production. They'll guess at PII classification. Rule Zero eliminates that entirely. If the agent needs a value it doesn't have, it stops and asks before writing a single line. On the left you can see the triggers — the situations where the agent must ask. On the right, the behaviours that are simply not permitted under any circumstances.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9 (Impact)
Three numbers sum up the business case. Ninety percent reduction in standards rework — because the standards are enforced before the code is written, not after. Zero hardcoded secrets or credentials — the security rules make it structurally impossible for an AI agent to write a password into a notebook cell. And one config file per environment — workspace.config.md takes about fifteen minutes to fill in, and from that point on, every pipeline and every schema the AI generates uses your real catalog names, your real workspace IDs, your real secret scopes. Those three numbers drive three outcomes: faster delivery because developers stop explaining the same conventions over and over; consistent quality because every output looks like it was written by the same person following the same rulebook; and easier code reviews because reviewers are checking logic, not formatting.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 SLIDE 10 (Next Steps)
We've built the playbook. It exists. Twenty-seven files, five domains, covering everything from Bronze ingestion in Databricks to React form validation in the UI. The only thing missing is your environment's specific values. Step one is filling in workspace.config.md — this takes about fifteen minutes per environment and is the action that makes everything else operational. Step two: commit the /playbook folder to the root of your Git repository, so any AI tool that reads the repo picks it up automatically. Step three: in whatever AI coding tool you use — Cursor, GitHub Copilot, or Claude — add a single instruction: read MASTER.md before starting any task. Step four: validate on one real task, compare the output against the CORE.md checklist, and you'll see the difference immediately. The playbook is ready. We just need the green light to deploy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0EA88-78E0-EE62-6907-8497665A7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820E3-2D10-82A4-40B3-69789EDB7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13A13-7F0C-F4C4-FEC1-08DF92A8E76A}"/>
              </a:ext>
            </a:extLst>
          </p:cNvPr>
          <p:cNvSpPr>
            <a:spLocks noGrp="1"/>
          </p:cNvSpPr>
          <p:nvPr>
            <p:ph type="body" idx="1"/>
          </p:nvPr>
        </p:nvSpPr>
        <p:spPr/>
        <p:txBody>
          <a:bodyPr/>
          <a:lstStyle/>
          <a:p>
            <a:r>
              <a:rPr lang="en-US" dirty="0"/>
              <a:t>SPEECH — SLIDE 1 (Title)
Good [morning/afternoon] everyone. Today I want to walk you through something our Data Team has been building — an AI Engineering Playbook. As AI coding tools become part of our everyday workflow, the question is no longer whether AI can generate code. It absolutely can. The question is whether it generates code that follows our standards, our security rules, and our architecture. This playbook is our answer to that question. Let me show you how it works.</a:t>
            </a:r>
          </a:p>
        </p:txBody>
      </p:sp>
      <p:sp>
        <p:nvSpPr>
          <p:cNvPr id="4" name="Slide Number Placeholder 3">
            <a:extLst>
              <a:ext uri="{FF2B5EF4-FFF2-40B4-BE49-F238E27FC236}">
                <a16:creationId xmlns:a16="http://schemas.microsoft.com/office/drawing/2014/main" id="{4F07E4EF-A54B-E81C-5320-7ABF85D0BC5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835048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5577840" y="0"/>
            <a:ext cx="3566160" cy="5143500"/>
          </a:xfrm>
          <a:prstGeom prst="rect">
            <a:avLst/>
          </a:prstGeom>
          <a:solidFill>
            <a:srgbClr val="FFE600"/>
          </a:solidFill>
          <a:ln w="12700">
            <a:solidFill>
              <a:srgbClr val="FFE600"/>
            </a:solidFill>
            <a:prstDash val="solid"/>
          </a:ln>
        </p:spPr>
      </p:sp>
      <p:sp>
        <p:nvSpPr>
          <p:cNvPr id="3" name="Shape 1"/>
          <p:cNvSpPr/>
          <p:nvPr/>
        </p:nvSpPr>
        <p:spPr>
          <a:xfrm>
            <a:off x="6400800" y="-1005840"/>
            <a:ext cx="3474720" cy="3474720"/>
          </a:xfrm>
          <a:prstGeom prst="ellipse">
            <a:avLst/>
          </a:prstGeom>
          <a:solidFill>
            <a:srgbClr val="2E2E38">
              <a:alpha val="18000"/>
            </a:srgbClr>
          </a:solidFill>
          <a:ln w="12700">
            <a:solidFill>
              <a:srgbClr val="2E2E38">
                <a:alpha val="18000"/>
              </a:srgbClr>
            </a:solidFill>
            <a:prstDash val="solid"/>
          </a:ln>
        </p:spPr>
      </p:sp>
      <p:sp>
        <p:nvSpPr>
          <p:cNvPr id="4" name="Shape 2"/>
          <p:cNvSpPr/>
          <p:nvPr/>
        </p:nvSpPr>
        <p:spPr>
          <a:xfrm>
            <a:off x="7498080" y="3108960"/>
            <a:ext cx="2560320" cy="2560320"/>
          </a:xfrm>
          <a:prstGeom prst="ellipse">
            <a:avLst/>
          </a:prstGeom>
          <a:solidFill>
            <a:srgbClr val="2E2E38">
              <a:alpha val="12000"/>
            </a:srgbClr>
          </a:solidFill>
          <a:ln w="12700">
            <a:solidFill>
              <a:srgbClr val="2E2E38">
                <a:alpha val="12000"/>
              </a:srgbClr>
            </a:solidFill>
            <a:prstDash val="solid"/>
          </a:ln>
        </p:spPr>
      </p:sp>
      <p:sp>
        <p:nvSpPr>
          <p:cNvPr id="5" name="Shape 3"/>
          <p:cNvSpPr/>
          <p:nvPr/>
        </p:nvSpPr>
        <p:spPr>
          <a:xfrm>
            <a:off x="5833872" y="960120"/>
            <a:ext cx="2944368" cy="475488"/>
          </a:xfrm>
          <a:prstGeom prst="roundRect">
            <a:avLst>
              <a:gd name="adj" fmla="val 50000"/>
            </a:avLst>
          </a:prstGeom>
          <a:solidFill>
            <a:srgbClr val="2E2E38">
              <a:alpha val="18000"/>
            </a:srgbClr>
          </a:solidFill>
          <a:ln w="12700">
            <a:solidFill>
              <a:srgbClr val="2E2E38">
                <a:alpha val="45000"/>
              </a:srgbClr>
            </a:solidFill>
            <a:prstDash val="solid"/>
          </a:ln>
        </p:spPr>
      </p:sp>
      <p:sp>
        <p:nvSpPr>
          <p:cNvPr id="6" name="Shape 4"/>
          <p:cNvSpPr/>
          <p:nvPr/>
        </p:nvSpPr>
        <p:spPr>
          <a:xfrm>
            <a:off x="5961888" y="1014984"/>
            <a:ext cx="292608" cy="292608"/>
          </a:xfrm>
          <a:prstGeom prst="ellipse">
            <a:avLst/>
          </a:prstGeom>
          <a:solidFill>
            <a:srgbClr val="2E2E38"/>
          </a:solidFill>
          <a:ln w="12700">
            <a:solidFill>
              <a:srgbClr val="2E2E38"/>
            </a:solidFill>
            <a:prstDash val="solid"/>
          </a:ln>
        </p:spPr>
      </p:sp>
      <p:sp>
        <p:nvSpPr>
          <p:cNvPr id="7" name="Text 5"/>
          <p:cNvSpPr/>
          <p:nvPr/>
        </p:nvSpPr>
        <p:spPr>
          <a:xfrm>
            <a:off x="6327648" y="960120"/>
            <a:ext cx="2377440" cy="475488"/>
          </a:xfrm>
          <a:prstGeom prst="rect">
            <a:avLst/>
          </a:prstGeom>
          <a:noFill/>
          <a:ln/>
        </p:spPr>
        <p:txBody>
          <a:bodyPr wrap="square" lIns="0" tIns="0" rIns="0" bIns="0" rtlCol="0" anchor="ctr"/>
          <a:lstStyle/>
          <a:p>
            <a:pPr marL="0" indent="0">
              <a:buNone/>
            </a:pPr>
            <a:r>
              <a:rPr lang="en-US" sz="1200" b="1" dirty="0">
                <a:solidFill>
                  <a:srgbClr val="1A1A24"/>
                </a:solidFill>
                <a:latin typeface="Calibri" pitchFamily="34" charset="0"/>
                <a:ea typeface="Calibri" pitchFamily="34" charset="-122"/>
                <a:cs typeface="Calibri" pitchFamily="34" charset="-120"/>
              </a:rPr>
              <a:t>Data Layer</a:t>
            </a:r>
            <a:endParaRPr lang="en-US" sz="1200" dirty="0"/>
          </a:p>
        </p:txBody>
      </p:sp>
      <p:sp>
        <p:nvSpPr>
          <p:cNvPr id="8" name="Shape 6"/>
          <p:cNvSpPr/>
          <p:nvPr/>
        </p:nvSpPr>
        <p:spPr>
          <a:xfrm>
            <a:off x="5833872" y="1655064"/>
            <a:ext cx="2944368" cy="475488"/>
          </a:xfrm>
          <a:prstGeom prst="roundRect">
            <a:avLst>
              <a:gd name="adj" fmla="val 50000"/>
            </a:avLst>
          </a:prstGeom>
          <a:solidFill>
            <a:srgbClr val="2E2E38">
              <a:alpha val="18000"/>
            </a:srgbClr>
          </a:solidFill>
          <a:ln w="12700">
            <a:solidFill>
              <a:srgbClr val="2E2E38">
                <a:alpha val="45000"/>
              </a:srgbClr>
            </a:solidFill>
            <a:prstDash val="solid"/>
          </a:ln>
        </p:spPr>
      </p:sp>
      <p:sp>
        <p:nvSpPr>
          <p:cNvPr id="9" name="Shape 7"/>
          <p:cNvSpPr/>
          <p:nvPr/>
        </p:nvSpPr>
        <p:spPr>
          <a:xfrm>
            <a:off x="5961888" y="1709928"/>
            <a:ext cx="292608" cy="292608"/>
          </a:xfrm>
          <a:prstGeom prst="ellipse">
            <a:avLst/>
          </a:prstGeom>
          <a:solidFill>
            <a:srgbClr val="2E2E38"/>
          </a:solidFill>
          <a:ln w="12700">
            <a:solidFill>
              <a:srgbClr val="2E2E38"/>
            </a:solidFill>
            <a:prstDash val="solid"/>
          </a:ln>
        </p:spPr>
      </p:sp>
      <p:sp>
        <p:nvSpPr>
          <p:cNvPr id="10" name="Text 8"/>
          <p:cNvSpPr/>
          <p:nvPr/>
        </p:nvSpPr>
        <p:spPr>
          <a:xfrm>
            <a:off x="6327648" y="1655064"/>
            <a:ext cx="2377440" cy="475488"/>
          </a:xfrm>
          <a:prstGeom prst="rect">
            <a:avLst/>
          </a:prstGeom>
          <a:noFill/>
          <a:ln/>
        </p:spPr>
        <p:txBody>
          <a:bodyPr wrap="square" lIns="0" tIns="0" rIns="0" bIns="0" rtlCol="0" anchor="ctr"/>
          <a:lstStyle/>
          <a:p>
            <a:pPr marL="0" indent="0">
              <a:buNone/>
            </a:pPr>
            <a:r>
              <a:rPr lang="en-US" sz="1200" b="1" dirty="0">
                <a:solidFill>
                  <a:srgbClr val="1A1A24"/>
                </a:solidFill>
                <a:latin typeface="Calibri" pitchFamily="34" charset="0"/>
                <a:ea typeface="Calibri" pitchFamily="34" charset="-122"/>
                <a:cs typeface="Calibri" pitchFamily="34" charset="-120"/>
              </a:rPr>
              <a:t>API Layer</a:t>
            </a:r>
            <a:endParaRPr lang="en-US" sz="1200" dirty="0"/>
          </a:p>
        </p:txBody>
      </p:sp>
      <p:sp>
        <p:nvSpPr>
          <p:cNvPr id="11" name="Shape 9"/>
          <p:cNvSpPr/>
          <p:nvPr/>
        </p:nvSpPr>
        <p:spPr>
          <a:xfrm>
            <a:off x="5833872" y="2350008"/>
            <a:ext cx="2944368" cy="475488"/>
          </a:xfrm>
          <a:prstGeom prst="roundRect">
            <a:avLst>
              <a:gd name="adj" fmla="val 50000"/>
            </a:avLst>
          </a:prstGeom>
          <a:solidFill>
            <a:srgbClr val="2E2E38">
              <a:alpha val="18000"/>
            </a:srgbClr>
          </a:solidFill>
          <a:ln w="12700">
            <a:solidFill>
              <a:srgbClr val="2E2E38">
                <a:alpha val="45000"/>
              </a:srgbClr>
            </a:solidFill>
            <a:prstDash val="solid"/>
          </a:ln>
        </p:spPr>
      </p:sp>
      <p:sp>
        <p:nvSpPr>
          <p:cNvPr id="12" name="Shape 10"/>
          <p:cNvSpPr/>
          <p:nvPr/>
        </p:nvSpPr>
        <p:spPr>
          <a:xfrm>
            <a:off x="5961888" y="2404872"/>
            <a:ext cx="292608" cy="292608"/>
          </a:xfrm>
          <a:prstGeom prst="ellipse">
            <a:avLst/>
          </a:prstGeom>
          <a:solidFill>
            <a:srgbClr val="2E2E38"/>
          </a:solidFill>
          <a:ln w="12700">
            <a:solidFill>
              <a:srgbClr val="2E2E38"/>
            </a:solidFill>
            <a:prstDash val="solid"/>
          </a:ln>
        </p:spPr>
      </p:sp>
      <p:sp>
        <p:nvSpPr>
          <p:cNvPr id="13" name="Text 11"/>
          <p:cNvSpPr/>
          <p:nvPr/>
        </p:nvSpPr>
        <p:spPr>
          <a:xfrm>
            <a:off x="6327648" y="2350008"/>
            <a:ext cx="2377440" cy="475488"/>
          </a:xfrm>
          <a:prstGeom prst="rect">
            <a:avLst/>
          </a:prstGeom>
          <a:noFill/>
          <a:ln/>
        </p:spPr>
        <p:txBody>
          <a:bodyPr wrap="square" lIns="0" tIns="0" rIns="0" bIns="0" rtlCol="0" anchor="ctr"/>
          <a:lstStyle/>
          <a:p>
            <a:pPr marL="0" indent="0">
              <a:buNone/>
            </a:pPr>
            <a:r>
              <a:rPr lang="en-US" sz="1200" b="1" dirty="0">
                <a:solidFill>
                  <a:srgbClr val="1A1A24"/>
                </a:solidFill>
                <a:latin typeface="Calibri" pitchFamily="34" charset="0"/>
                <a:ea typeface="Calibri" pitchFamily="34" charset="-122"/>
                <a:cs typeface="Calibri" pitchFamily="34" charset="-120"/>
              </a:rPr>
              <a:t>UI Layer</a:t>
            </a:r>
            <a:endParaRPr lang="en-US" sz="1200" dirty="0"/>
          </a:p>
        </p:txBody>
      </p:sp>
      <p:sp>
        <p:nvSpPr>
          <p:cNvPr id="14" name="Shape 12"/>
          <p:cNvSpPr/>
          <p:nvPr/>
        </p:nvSpPr>
        <p:spPr>
          <a:xfrm>
            <a:off x="5833872" y="3044952"/>
            <a:ext cx="2944368" cy="475488"/>
          </a:xfrm>
          <a:prstGeom prst="roundRect">
            <a:avLst>
              <a:gd name="adj" fmla="val 50000"/>
            </a:avLst>
          </a:prstGeom>
          <a:solidFill>
            <a:srgbClr val="2E2E38">
              <a:alpha val="18000"/>
            </a:srgbClr>
          </a:solidFill>
          <a:ln w="12700">
            <a:solidFill>
              <a:srgbClr val="2E2E38">
                <a:alpha val="45000"/>
              </a:srgbClr>
            </a:solidFill>
            <a:prstDash val="solid"/>
          </a:ln>
        </p:spPr>
      </p:sp>
      <p:sp>
        <p:nvSpPr>
          <p:cNvPr id="15" name="Shape 13"/>
          <p:cNvSpPr/>
          <p:nvPr/>
        </p:nvSpPr>
        <p:spPr>
          <a:xfrm>
            <a:off x="5961888" y="3099816"/>
            <a:ext cx="292608" cy="292608"/>
          </a:xfrm>
          <a:prstGeom prst="ellipse">
            <a:avLst/>
          </a:prstGeom>
          <a:solidFill>
            <a:srgbClr val="2E2E38"/>
          </a:solidFill>
          <a:ln w="12700">
            <a:solidFill>
              <a:srgbClr val="2E2E38"/>
            </a:solidFill>
            <a:prstDash val="solid"/>
          </a:ln>
        </p:spPr>
      </p:sp>
      <p:sp>
        <p:nvSpPr>
          <p:cNvPr id="16" name="Text 14"/>
          <p:cNvSpPr/>
          <p:nvPr/>
        </p:nvSpPr>
        <p:spPr>
          <a:xfrm>
            <a:off x="6327648" y="3044952"/>
            <a:ext cx="2377440" cy="475488"/>
          </a:xfrm>
          <a:prstGeom prst="rect">
            <a:avLst/>
          </a:prstGeom>
          <a:noFill/>
          <a:ln/>
        </p:spPr>
        <p:txBody>
          <a:bodyPr wrap="square" lIns="0" tIns="0" rIns="0" bIns="0" rtlCol="0" anchor="ctr"/>
          <a:lstStyle/>
          <a:p>
            <a:pPr marL="0" indent="0">
              <a:buNone/>
            </a:pPr>
            <a:r>
              <a:rPr lang="en-US" sz="1200" b="1" dirty="0">
                <a:solidFill>
                  <a:srgbClr val="1A1A24"/>
                </a:solidFill>
                <a:latin typeface="Calibri" pitchFamily="34" charset="0"/>
                <a:ea typeface="Calibri" pitchFamily="34" charset="-122"/>
                <a:cs typeface="Calibri" pitchFamily="34" charset="-120"/>
              </a:rPr>
              <a:t>MS Fabric</a:t>
            </a:r>
            <a:endParaRPr lang="en-US" sz="1200" dirty="0"/>
          </a:p>
        </p:txBody>
      </p:sp>
      <p:sp>
        <p:nvSpPr>
          <p:cNvPr id="17" name="Shape 15"/>
          <p:cNvSpPr/>
          <p:nvPr/>
        </p:nvSpPr>
        <p:spPr>
          <a:xfrm>
            <a:off x="5833872" y="3739896"/>
            <a:ext cx="2944368" cy="475488"/>
          </a:xfrm>
          <a:prstGeom prst="roundRect">
            <a:avLst>
              <a:gd name="adj" fmla="val 50000"/>
            </a:avLst>
          </a:prstGeom>
          <a:solidFill>
            <a:srgbClr val="2E2E38">
              <a:alpha val="18000"/>
            </a:srgbClr>
          </a:solidFill>
          <a:ln w="12700">
            <a:solidFill>
              <a:srgbClr val="2E2E38">
                <a:alpha val="45000"/>
              </a:srgbClr>
            </a:solidFill>
            <a:prstDash val="solid"/>
          </a:ln>
        </p:spPr>
      </p:sp>
      <p:sp>
        <p:nvSpPr>
          <p:cNvPr id="18" name="Shape 16"/>
          <p:cNvSpPr/>
          <p:nvPr/>
        </p:nvSpPr>
        <p:spPr>
          <a:xfrm>
            <a:off x="5961888" y="3794760"/>
            <a:ext cx="292608" cy="292608"/>
          </a:xfrm>
          <a:prstGeom prst="ellipse">
            <a:avLst/>
          </a:prstGeom>
          <a:solidFill>
            <a:srgbClr val="2E2E38"/>
          </a:solidFill>
          <a:ln w="12700">
            <a:solidFill>
              <a:srgbClr val="2E2E38"/>
            </a:solidFill>
            <a:prstDash val="solid"/>
          </a:ln>
        </p:spPr>
      </p:sp>
      <p:sp>
        <p:nvSpPr>
          <p:cNvPr id="19" name="Text 17"/>
          <p:cNvSpPr/>
          <p:nvPr/>
        </p:nvSpPr>
        <p:spPr>
          <a:xfrm>
            <a:off x="6327648" y="3739896"/>
            <a:ext cx="2377440" cy="475488"/>
          </a:xfrm>
          <a:prstGeom prst="rect">
            <a:avLst/>
          </a:prstGeom>
          <a:noFill/>
          <a:ln/>
        </p:spPr>
        <p:txBody>
          <a:bodyPr wrap="square" lIns="0" tIns="0" rIns="0" bIns="0" rtlCol="0" anchor="ctr"/>
          <a:lstStyle/>
          <a:p>
            <a:pPr marL="0" indent="0">
              <a:buNone/>
            </a:pPr>
            <a:r>
              <a:rPr lang="en-US" sz="1200" b="1" dirty="0">
                <a:solidFill>
                  <a:srgbClr val="1A1A24"/>
                </a:solidFill>
                <a:latin typeface="Calibri" pitchFamily="34" charset="0"/>
                <a:ea typeface="Calibri" pitchFamily="34" charset="-122"/>
                <a:cs typeface="Calibri" pitchFamily="34" charset="-120"/>
              </a:rPr>
              <a:t>Databricks</a:t>
            </a:r>
            <a:endParaRPr lang="en-US" sz="1200" dirty="0"/>
          </a:p>
        </p:txBody>
      </p:sp>
      <p:sp>
        <p:nvSpPr>
          <p:cNvPr id="20" name="Shape 18"/>
          <p:cNvSpPr/>
          <p:nvPr/>
        </p:nvSpPr>
        <p:spPr>
          <a:xfrm>
            <a:off x="411480" y="384048"/>
            <a:ext cx="1207008" cy="347472"/>
          </a:xfrm>
          <a:prstGeom prst="roundRect">
            <a:avLst>
              <a:gd name="adj" fmla="val 10526"/>
            </a:avLst>
          </a:prstGeom>
          <a:solidFill>
            <a:srgbClr val="FFE600"/>
          </a:solidFill>
          <a:ln w="12700">
            <a:solidFill>
              <a:srgbClr val="FFE600"/>
            </a:solidFill>
            <a:prstDash val="solid"/>
          </a:ln>
        </p:spPr>
      </p:sp>
      <p:sp>
        <p:nvSpPr>
          <p:cNvPr id="21" name="Text 19"/>
          <p:cNvSpPr/>
          <p:nvPr/>
        </p:nvSpPr>
        <p:spPr>
          <a:xfrm>
            <a:off x="411480" y="384048"/>
            <a:ext cx="1207008" cy="347472"/>
          </a:xfrm>
          <a:prstGeom prst="rect">
            <a:avLst/>
          </a:prstGeom>
          <a:noFill/>
          <a:ln/>
        </p:spPr>
        <p:txBody>
          <a:bodyPr wrap="square" lIns="0" tIns="0" rIns="0" bIns="0" rtlCol="0" anchor="ctr"/>
          <a:lstStyle/>
          <a:p>
            <a:pPr marL="0" indent="0" algn="ctr">
              <a:buNone/>
            </a:pPr>
            <a:r>
              <a:rPr lang="en-US" sz="900" b="1" kern="0" spc="100" dirty="0">
                <a:solidFill>
                  <a:srgbClr val="1A1A24"/>
                </a:solidFill>
                <a:latin typeface="Calibri" pitchFamily="34" charset="0"/>
                <a:ea typeface="Calibri" pitchFamily="34" charset="-122"/>
                <a:cs typeface="Calibri" pitchFamily="34" charset="-120"/>
              </a:rPr>
              <a:t>EY · V 2.0</a:t>
            </a:r>
            <a:endParaRPr lang="en-US" sz="900" dirty="0"/>
          </a:p>
        </p:txBody>
      </p:sp>
      <p:sp>
        <p:nvSpPr>
          <p:cNvPr id="22" name="Text 20"/>
          <p:cNvSpPr/>
          <p:nvPr/>
        </p:nvSpPr>
        <p:spPr>
          <a:xfrm>
            <a:off x="384048" y="868680"/>
            <a:ext cx="4983480" cy="2926080"/>
          </a:xfrm>
          <a:prstGeom prst="rect">
            <a:avLst/>
          </a:prstGeom>
          <a:noFill/>
          <a:ln/>
        </p:spPr>
        <p:txBody>
          <a:bodyPr wrap="square" lIns="0" tIns="0" rIns="0" bIns="0" rtlCol="0" anchor="ctr"/>
          <a:lstStyle/>
          <a:p>
            <a:pPr marL="0" indent="0">
              <a:lnSpc>
                <a:spcPct val="95000"/>
              </a:lnSpc>
              <a:buNone/>
            </a:pPr>
            <a:r>
              <a:rPr lang="en-US" sz="6000" b="1" dirty="0">
                <a:solidFill>
                  <a:srgbClr val="FFFFFF"/>
                </a:solidFill>
                <a:latin typeface="Cambria" pitchFamily="34" charset="0"/>
                <a:ea typeface="Cambria" pitchFamily="34" charset="-122"/>
                <a:cs typeface="Cambria" pitchFamily="34" charset="-120"/>
              </a:rPr>
              <a:t>AI</a:t>
            </a:r>
            <a:endParaRPr lang="en-US" sz="6000" dirty="0"/>
          </a:p>
          <a:p>
            <a:pPr marL="0" indent="0">
              <a:lnSpc>
                <a:spcPct val="95000"/>
              </a:lnSpc>
              <a:buNone/>
            </a:pPr>
            <a:r>
              <a:rPr lang="en-US" sz="6000" b="1" dirty="0">
                <a:solidFill>
                  <a:srgbClr val="FFFFFF"/>
                </a:solidFill>
                <a:latin typeface="Cambria" pitchFamily="34" charset="0"/>
                <a:ea typeface="Cambria" pitchFamily="34" charset="-122"/>
                <a:cs typeface="Cambria" pitchFamily="34" charset="-120"/>
              </a:rPr>
              <a:t>Engineering</a:t>
            </a:r>
            <a:endParaRPr lang="en-US" sz="6000" dirty="0"/>
          </a:p>
          <a:p>
            <a:pPr marL="0" indent="0">
              <a:lnSpc>
                <a:spcPct val="95000"/>
              </a:lnSpc>
              <a:buNone/>
            </a:pPr>
            <a:r>
              <a:rPr lang="en-US" sz="6000" b="1" dirty="0">
                <a:solidFill>
                  <a:srgbClr val="FFFFFF"/>
                </a:solidFill>
                <a:latin typeface="Cambria" pitchFamily="34" charset="0"/>
                <a:ea typeface="Cambria" pitchFamily="34" charset="-122"/>
                <a:cs typeface="Cambria" pitchFamily="34" charset="-120"/>
              </a:rPr>
              <a:t>Playbook</a:t>
            </a:r>
            <a:endParaRPr lang="en-US" sz="6000" dirty="0"/>
          </a:p>
        </p:txBody>
      </p:sp>
      <p:sp>
        <p:nvSpPr>
          <p:cNvPr id="23" name="Shape 21"/>
          <p:cNvSpPr/>
          <p:nvPr/>
        </p:nvSpPr>
        <p:spPr>
          <a:xfrm>
            <a:off x="384048" y="3913632"/>
            <a:ext cx="4389120" cy="50292"/>
          </a:xfrm>
          <a:prstGeom prst="rect">
            <a:avLst/>
          </a:prstGeom>
          <a:solidFill>
            <a:srgbClr val="FFE600"/>
          </a:solidFill>
          <a:ln w="12700">
            <a:solidFill>
              <a:srgbClr val="FFE600"/>
            </a:solidFill>
            <a:prstDash val="solid"/>
          </a:ln>
        </p:spPr>
      </p:sp>
      <p:sp>
        <p:nvSpPr>
          <p:cNvPr id="24" name="Text 22"/>
          <p:cNvSpPr/>
          <p:nvPr/>
        </p:nvSpPr>
        <p:spPr>
          <a:xfrm>
            <a:off x="384048" y="4041648"/>
            <a:ext cx="4983480" cy="658368"/>
          </a:xfrm>
          <a:prstGeom prst="rect">
            <a:avLst/>
          </a:prstGeom>
          <a:noFill/>
          <a:ln/>
        </p:spPr>
        <p:txBody>
          <a:bodyPr wrap="square" lIns="0" tIns="0" rIns="0" bIns="0" rtlCol="0" anchor="ctr"/>
          <a:lstStyle/>
          <a:p>
            <a:pPr marL="0" indent="0">
              <a:lnSpc>
                <a:spcPct val="135000"/>
              </a:lnSpc>
              <a:buNone/>
            </a:pPr>
            <a:r>
              <a:rPr lang="en-US" sz="1300" dirty="0">
                <a:solidFill>
                  <a:srgbClr val="C4C4CF"/>
                </a:solidFill>
                <a:latin typeface="Calibri" pitchFamily="34" charset="0"/>
                <a:ea typeface="Calibri" pitchFamily="34" charset="-122"/>
                <a:cs typeface="Calibri" pitchFamily="34" charset="-120"/>
              </a:rPr>
              <a:t>Standardised AI-assisted development across every layer of your stack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4"/>
        </a:solidFill>
        <a:effectLst/>
      </p:bgPr>
    </p:bg>
    <p:spTree>
      <p:nvGrpSpPr>
        <p:cNvPr id="1" name=""/>
        <p:cNvGrpSpPr/>
        <p:nvPr/>
      </p:nvGrpSpPr>
      <p:grpSpPr>
        <a:xfrm>
          <a:off x="0" y="0"/>
          <a:ext cx="0" cy="0"/>
          <a:chOff x="0" y="0"/>
          <a:chExt cx="0" cy="0"/>
        </a:xfrm>
      </p:grpSpPr>
      <p:sp>
        <p:nvSpPr>
          <p:cNvPr id="2" name="Text 0"/>
          <p:cNvSpPr/>
          <p:nvPr/>
        </p:nvSpPr>
        <p:spPr>
          <a:xfrm>
            <a:off x="4754880" y="-548640"/>
            <a:ext cx="5029200" cy="5029200"/>
          </a:xfrm>
          <a:prstGeom prst="rect">
            <a:avLst/>
          </a:prstGeom>
          <a:noFill/>
          <a:ln/>
        </p:spPr>
        <p:txBody>
          <a:bodyPr wrap="square" lIns="0" tIns="0" rIns="0" bIns="0" rtlCol="0" anchor="ctr"/>
          <a:lstStyle/>
          <a:p>
            <a:pPr marL="0" indent="0" algn="ctr">
              <a:buNone/>
            </a:pPr>
            <a:r>
              <a:rPr lang="en-US" sz="32000" b="1" dirty="0">
                <a:solidFill>
                  <a:srgbClr val="E05252">
                    <a:alpha val="6000"/>
                  </a:srgbClr>
                </a:solidFill>
                <a:latin typeface="Cambria" pitchFamily="34" charset="0"/>
                <a:ea typeface="Cambria" pitchFamily="34" charset="-122"/>
                <a:cs typeface="Cambria" pitchFamily="34" charset="-120"/>
              </a:rPr>
              <a:t>?</a:t>
            </a:r>
            <a:endParaRPr lang="en-US" sz="32000" dirty="0"/>
          </a:p>
        </p:txBody>
      </p:sp>
      <p:sp>
        <p:nvSpPr>
          <p:cNvPr id="3" name="Text 1"/>
          <p:cNvSpPr/>
          <p:nvPr/>
        </p:nvSpPr>
        <p:spPr>
          <a:xfrm>
            <a:off x="457200" y="228600"/>
            <a:ext cx="4754880" cy="1508760"/>
          </a:xfrm>
          <a:prstGeom prst="rect">
            <a:avLst/>
          </a:prstGeom>
          <a:noFill/>
          <a:ln/>
        </p:spPr>
        <p:txBody>
          <a:bodyPr wrap="square" lIns="0" tIns="0" rIns="0" bIns="0" rtlCol="0" anchor="ctr"/>
          <a:lstStyle/>
          <a:p>
            <a:pPr marL="0" indent="0">
              <a:lnSpc>
                <a:spcPct val="90000"/>
              </a:lnSpc>
              <a:buNone/>
            </a:pPr>
            <a:r>
              <a:rPr lang="en-US" sz="5400" b="1" kern="0" spc="200" dirty="0">
                <a:solidFill>
                  <a:srgbClr val="E05252"/>
                </a:solidFill>
                <a:latin typeface="Cambria" pitchFamily="34" charset="0"/>
                <a:ea typeface="Cambria" pitchFamily="34" charset="-122"/>
                <a:cs typeface="Cambria" pitchFamily="34" charset="-120"/>
              </a:rPr>
              <a:t>THE</a:t>
            </a:r>
            <a:endParaRPr lang="en-US" sz="5400" dirty="0"/>
          </a:p>
          <a:p>
            <a:pPr marL="0" indent="0">
              <a:lnSpc>
                <a:spcPct val="90000"/>
              </a:lnSpc>
              <a:buNone/>
            </a:pPr>
            <a:r>
              <a:rPr lang="en-US" sz="5400" b="1" kern="0" spc="200" dirty="0">
                <a:solidFill>
                  <a:srgbClr val="E05252"/>
                </a:solidFill>
                <a:latin typeface="Cambria" pitchFamily="34" charset="0"/>
                <a:ea typeface="Cambria" pitchFamily="34" charset="-122"/>
                <a:cs typeface="Cambria" pitchFamily="34" charset="-120"/>
              </a:rPr>
              <a:t>PROBLEM</a:t>
            </a:r>
            <a:endParaRPr lang="en-US" sz="5400" dirty="0"/>
          </a:p>
        </p:txBody>
      </p:sp>
      <p:sp>
        <p:nvSpPr>
          <p:cNvPr id="4" name="Shape 2"/>
          <p:cNvSpPr/>
          <p:nvPr/>
        </p:nvSpPr>
        <p:spPr>
          <a:xfrm>
            <a:off x="457200" y="1874520"/>
            <a:ext cx="50292" cy="658368"/>
          </a:xfrm>
          <a:prstGeom prst="rect">
            <a:avLst/>
          </a:prstGeom>
          <a:solidFill>
            <a:srgbClr val="FFE600"/>
          </a:solidFill>
          <a:ln w="12700">
            <a:solidFill>
              <a:srgbClr val="FFE600"/>
            </a:solidFill>
            <a:prstDash val="solid"/>
          </a:ln>
        </p:spPr>
      </p:sp>
      <p:sp>
        <p:nvSpPr>
          <p:cNvPr id="5" name="Text 3"/>
          <p:cNvSpPr/>
          <p:nvPr/>
        </p:nvSpPr>
        <p:spPr>
          <a:xfrm>
            <a:off x="640080" y="1874520"/>
            <a:ext cx="502920" cy="320040"/>
          </a:xfrm>
          <a:prstGeom prst="rect">
            <a:avLst/>
          </a:prstGeom>
          <a:noFill/>
          <a:ln/>
        </p:spPr>
        <p:txBody>
          <a:bodyPr wrap="square" lIns="0" tIns="0" rIns="0" bIns="0" rtlCol="0" anchor="ctr"/>
          <a:lstStyle/>
          <a:p>
            <a:pPr marL="0" indent="0">
              <a:buNone/>
            </a:pPr>
            <a:r>
              <a:rPr lang="en-US" sz="1000" b="1" kern="0" spc="100" dirty="0">
                <a:solidFill>
                  <a:srgbClr val="FFE600"/>
                </a:solidFill>
                <a:latin typeface="Calibri" pitchFamily="34" charset="0"/>
                <a:ea typeface="Calibri" pitchFamily="34" charset="-122"/>
                <a:cs typeface="Calibri" pitchFamily="34" charset="-120"/>
              </a:rPr>
              <a:t>01</a:t>
            </a:r>
            <a:endParaRPr lang="en-US" sz="1000" dirty="0"/>
          </a:p>
        </p:txBody>
      </p:sp>
      <p:sp>
        <p:nvSpPr>
          <p:cNvPr id="6" name="Text 4"/>
          <p:cNvSpPr/>
          <p:nvPr/>
        </p:nvSpPr>
        <p:spPr>
          <a:xfrm>
            <a:off x="640080" y="2176272"/>
            <a:ext cx="4617720" cy="384048"/>
          </a:xfrm>
          <a:prstGeom prst="rect">
            <a:avLst/>
          </a:prstGeom>
          <a:noFill/>
          <a:ln/>
        </p:spPr>
        <p:txBody>
          <a:bodyPr wrap="square" lIns="0" tIns="0" rIns="0" bIns="0" rtlCol="0" anchor="ctr"/>
          <a:lstStyle/>
          <a:p>
            <a:pPr marL="0" indent="0">
              <a:lnSpc>
                <a:spcPct val="120000"/>
              </a:lnSpc>
              <a:buNone/>
            </a:pPr>
            <a:r>
              <a:rPr lang="en-US" sz="1350" dirty="0">
                <a:solidFill>
                  <a:srgbClr val="C4C4CF"/>
                </a:solidFill>
                <a:latin typeface="Calibri" pitchFamily="34" charset="0"/>
                <a:ea typeface="Calibri" pitchFamily="34" charset="-122"/>
                <a:cs typeface="Calibri" pitchFamily="34" charset="-120"/>
              </a:rPr>
              <a:t>Every prompt generates differently — structure, naming, security, architecture all vary with no consistency.</a:t>
            </a:r>
            <a:endParaRPr lang="en-US" sz="1350" dirty="0"/>
          </a:p>
        </p:txBody>
      </p:sp>
      <p:sp>
        <p:nvSpPr>
          <p:cNvPr id="7" name="Shape 5"/>
          <p:cNvSpPr/>
          <p:nvPr/>
        </p:nvSpPr>
        <p:spPr>
          <a:xfrm>
            <a:off x="457200" y="2788920"/>
            <a:ext cx="50292" cy="658368"/>
          </a:xfrm>
          <a:prstGeom prst="rect">
            <a:avLst/>
          </a:prstGeom>
          <a:solidFill>
            <a:srgbClr val="FFE600"/>
          </a:solidFill>
          <a:ln w="12700">
            <a:solidFill>
              <a:srgbClr val="FFE600"/>
            </a:solidFill>
            <a:prstDash val="solid"/>
          </a:ln>
        </p:spPr>
      </p:sp>
      <p:sp>
        <p:nvSpPr>
          <p:cNvPr id="8" name="Text 6"/>
          <p:cNvSpPr/>
          <p:nvPr/>
        </p:nvSpPr>
        <p:spPr>
          <a:xfrm>
            <a:off x="640080" y="2788920"/>
            <a:ext cx="502920" cy="320040"/>
          </a:xfrm>
          <a:prstGeom prst="rect">
            <a:avLst/>
          </a:prstGeom>
          <a:noFill/>
          <a:ln/>
        </p:spPr>
        <p:txBody>
          <a:bodyPr wrap="square" lIns="0" tIns="0" rIns="0" bIns="0" rtlCol="0" anchor="ctr"/>
          <a:lstStyle/>
          <a:p>
            <a:pPr marL="0" indent="0">
              <a:buNone/>
            </a:pPr>
            <a:r>
              <a:rPr lang="en-US" sz="1000" b="1" kern="0" spc="100" dirty="0">
                <a:solidFill>
                  <a:srgbClr val="FFE600"/>
                </a:solidFill>
                <a:latin typeface="Calibri" pitchFamily="34" charset="0"/>
                <a:ea typeface="Calibri" pitchFamily="34" charset="-122"/>
                <a:cs typeface="Calibri" pitchFamily="34" charset="-120"/>
              </a:rPr>
              <a:t>02</a:t>
            </a:r>
            <a:endParaRPr lang="en-US" sz="1000" dirty="0"/>
          </a:p>
        </p:txBody>
      </p:sp>
      <p:sp>
        <p:nvSpPr>
          <p:cNvPr id="9" name="Text 7"/>
          <p:cNvSpPr/>
          <p:nvPr/>
        </p:nvSpPr>
        <p:spPr>
          <a:xfrm>
            <a:off x="640080" y="3090672"/>
            <a:ext cx="4617720" cy="384048"/>
          </a:xfrm>
          <a:prstGeom prst="rect">
            <a:avLst/>
          </a:prstGeom>
          <a:noFill/>
          <a:ln/>
        </p:spPr>
        <p:txBody>
          <a:bodyPr wrap="square" lIns="0" tIns="0" rIns="0" bIns="0" rtlCol="0" anchor="ctr"/>
          <a:lstStyle/>
          <a:p>
            <a:pPr marL="0" indent="0">
              <a:lnSpc>
                <a:spcPct val="120000"/>
              </a:lnSpc>
              <a:buNone/>
            </a:pPr>
            <a:r>
              <a:rPr lang="en-US" sz="1350" dirty="0">
                <a:solidFill>
                  <a:srgbClr val="C4C4CF"/>
                </a:solidFill>
                <a:latin typeface="Calibri" pitchFamily="34" charset="0"/>
                <a:ea typeface="Calibri" pitchFamily="34" charset="-122"/>
                <a:cs typeface="Calibri" pitchFamily="34" charset="-120"/>
              </a:rPr>
              <a:t>AI doesn't know your team uses soft deletes, PII masking, Pydantic v2, snake_case, or NUMERIC for money.</a:t>
            </a:r>
            <a:endParaRPr lang="en-US" sz="1350" dirty="0"/>
          </a:p>
        </p:txBody>
      </p:sp>
      <p:sp>
        <p:nvSpPr>
          <p:cNvPr id="10" name="Shape 8"/>
          <p:cNvSpPr/>
          <p:nvPr/>
        </p:nvSpPr>
        <p:spPr>
          <a:xfrm>
            <a:off x="457200" y="3703320"/>
            <a:ext cx="50292" cy="658368"/>
          </a:xfrm>
          <a:prstGeom prst="rect">
            <a:avLst/>
          </a:prstGeom>
          <a:solidFill>
            <a:srgbClr val="FFE600"/>
          </a:solidFill>
          <a:ln w="12700">
            <a:solidFill>
              <a:srgbClr val="FFE600"/>
            </a:solidFill>
            <a:prstDash val="solid"/>
          </a:ln>
        </p:spPr>
      </p:sp>
      <p:sp>
        <p:nvSpPr>
          <p:cNvPr id="11" name="Text 9"/>
          <p:cNvSpPr/>
          <p:nvPr/>
        </p:nvSpPr>
        <p:spPr>
          <a:xfrm>
            <a:off x="640080" y="3703320"/>
            <a:ext cx="502920" cy="320040"/>
          </a:xfrm>
          <a:prstGeom prst="rect">
            <a:avLst/>
          </a:prstGeom>
          <a:noFill/>
          <a:ln/>
        </p:spPr>
        <p:txBody>
          <a:bodyPr wrap="square" lIns="0" tIns="0" rIns="0" bIns="0" rtlCol="0" anchor="ctr"/>
          <a:lstStyle/>
          <a:p>
            <a:pPr marL="0" indent="0">
              <a:buNone/>
            </a:pPr>
            <a:r>
              <a:rPr lang="en-US" sz="1000" b="1" kern="0" spc="100" dirty="0">
                <a:solidFill>
                  <a:srgbClr val="FFE600"/>
                </a:solidFill>
                <a:latin typeface="Calibri" pitchFamily="34" charset="0"/>
                <a:ea typeface="Calibri" pitchFamily="34" charset="-122"/>
                <a:cs typeface="Calibri" pitchFamily="34" charset="-120"/>
              </a:rPr>
              <a:t>03</a:t>
            </a:r>
            <a:endParaRPr lang="en-US" sz="1000" dirty="0"/>
          </a:p>
        </p:txBody>
      </p:sp>
      <p:sp>
        <p:nvSpPr>
          <p:cNvPr id="12" name="Text 10"/>
          <p:cNvSpPr/>
          <p:nvPr/>
        </p:nvSpPr>
        <p:spPr>
          <a:xfrm>
            <a:off x="640080" y="4005072"/>
            <a:ext cx="4617720" cy="384048"/>
          </a:xfrm>
          <a:prstGeom prst="rect">
            <a:avLst/>
          </a:prstGeom>
          <a:noFill/>
          <a:ln/>
        </p:spPr>
        <p:txBody>
          <a:bodyPr wrap="square" lIns="0" tIns="0" rIns="0" bIns="0" rtlCol="0" anchor="ctr"/>
          <a:lstStyle/>
          <a:p>
            <a:pPr marL="0" indent="0">
              <a:lnSpc>
                <a:spcPct val="120000"/>
              </a:lnSpc>
              <a:buNone/>
            </a:pPr>
            <a:r>
              <a:rPr lang="en-US" sz="1350" dirty="0">
                <a:solidFill>
                  <a:srgbClr val="C4C4CF"/>
                </a:solidFill>
                <a:latin typeface="Calibri" pitchFamily="34" charset="0"/>
                <a:ea typeface="Calibri" pitchFamily="34" charset="-122"/>
                <a:cs typeface="Calibri" pitchFamily="34" charset="-120"/>
              </a:rPr>
              <a:t>The output works on day one. The tech debt — and the standards violations — arrive at code review.</a:t>
            </a:r>
            <a:endParaRPr lang="en-US" sz="1350" dirty="0"/>
          </a:p>
        </p:txBody>
      </p:sp>
      <p:sp>
        <p:nvSpPr>
          <p:cNvPr id="13" name="Shape 11"/>
          <p:cNvSpPr/>
          <p:nvPr/>
        </p:nvSpPr>
        <p:spPr>
          <a:xfrm>
            <a:off x="5742432" y="1234440"/>
            <a:ext cx="3035808" cy="3401568"/>
          </a:xfrm>
          <a:prstGeom prst="roundRect">
            <a:avLst>
              <a:gd name="adj" fmla="val 4217"/>
            </a:avLst>
          </a:prstGeom>
          <a:solidFill>
            <a:srgbClr val="23232F"/>
          </a:solidFill>
          <a:ln w="12700">
            <a:solidFill>
              <a:srgbClr val="E05252">
                <a:alpha val="40000"/>
              </a:srgbClr>
            </a:solidFill>
            <a:prstDash val="solid"/>
          </a:ln>
          <a:effectLst>
            <a:outerShdw blurRad="177800" dist="50800" dir="2700000" algn="bl" rotWithShape="0">
              <a:srgbClr val="000000">
                <a:alpha val="40000"/>
              </a:srgbClr>
            </a:outerShdw>
          </a:effectLst>
        </p:spPr>
      </p:sp>
      <p:sp>
        <p:nvSpPr>
          <p:cNvPr id="14" name="Text 12"/>
          <p:cNvSpPr/>
          <p:nvPr/>
        </p:nvSpPr>
        <p:spPr>
          <a:xfrm>
            <a:off x="5742432" y="1371600"/>
            <a:ext cx="3035808" cy="1143000"/>
          </a:xfrm>
          <a:prstGeom prst="rect">
            <a:avLst/>
          </a:prstGeom>
          <a:noFill/>
          <a:ln/>
        </p:spPr>
        <p:txBody>
          <a:bodyPr wrap="square" lIns="0" tIns="0" rIns="0" bIns="0" rtlCol="0" anchor="ctr"/>
          <a:lstStyle/>
          <a:p>
            <a:pPr marL="0" indent="0" algn="ctr">
              <a:buNone/>
            </a:pPr>
            <a:r>
              <a:rPr lang="en-US" sz="6400" b="1" dirty="0">
                <a:solidFill>
                  <a:srgbClr val="E05252"/>
                </a:solidFill>
                <a:latin typeface="Cambria" pitchFamily="34" charset="0"/>
                <a:ea typeface="Cambria" pitchFamily="34" charset="-122"/>
                <a:cs typeface="Cambria" pitchFamily="34" charset="-120"/>
              </a:rPr>
              <a:t>100%</a:t>
            </a:r>
            <a:endParaRPr lang="en-US" sz="6400" dirty="0"/>
          </a:p>
        </p:txBody>
      </p:sp>
      <p:sp>
        <p:nvSpPr>
          <p:cNvPr id="15" name="Text 13"/>
          <p:cNvSpPr/>
          <p:nvPr/>
        </p:nvSpPr>
        <p:spPr>
          <a:xfrm>
            <a:off x="5897880" y="2487168"/>
            <a:ext cx="2724912" cy="987552"/>
          </a:xfrm>
          <a:prstGeom prst="rect">
            <a:avLst/>
          </a:prstGeom>
          <a:noFill/>
          <a:ln/>
        </p:spPr>
        <p:txBody>
          <a:bodyPr wrap="square" lIns="0" tIns="0" rIns="0" bIns="0" rtlCol="0" anchor="ctr"/>
          <a:lstStyle/>
          <a:p>
            <a:pPr marL="0" indent="0" algn="ctr">
              <a:lnSpc>
                <a:spcPct val="142000"/>
              </a:lnSpc>
              <a:buNone/>
            </a:pPr>
            <a:r>
              <a:rPr lang="en-US" sz="1300" dirty="0">
                <a:solidFill>
                  <a:srgbClr val="C4C4CF"/>
                </a:solidFill>
                <a:latin typeface="Calibri" pitchFamily="34" charset="0"/>
                <a:ea typeface="Calibri" pitchFamily="34" charset="-122"/>
                <a:cs typeface="Calibri" pitchFamily="34" charset="-120"/>
              </a:rPr>
              <a:t>of AI-generated code</a:t>
            </a:r>
            <a:endParaRPr lang="en-US" sz="1300" dirty="0"/>
          </a:p>
          <a:p>
            <a:pPr marL="0" indent="0" algn="ctr">
              <a:lnSpc>
                <a:spcPct val="142000"/>
              </a:lnSpc>
              <a:buNone/>
            </a:pPr>
            <a:r>
              <a:rPr lang="en-US" sz="1300" dirty="0">
                <a:solidFill>
                  <a:srgbClr val="C4C4CF"/>
                </a:solidFill>
                <a:latin typeface="Calibri" pitchFamily="34" charset="0"/>
                <a:ea typeface="Calibri" pitchFamily="34" charset="-122"/>
                <a:cs typeface="Calibri" pitchFamily="34" charset="-120"/>
              </a:rPr>
              <a:t>ignores your team</a:t>
            </a:r>
            <a:endParaRPr lang="en-US" sz="1300" dirty="0"/>
          </a:p>
          <a:p>
            <a:pPr marL="0" indent="0" algn="ctr">
              <a:lnSpc>
                <a:spcPct val="142000"/>
              </a:lnSpc>
              <a:buNone/>
            </a:pPr>
            <a:r>
              <a:rPr lang="en-US" sz="1300" dirty="0">
                <a:solidFill>
                  <a:srgbClr val="C4C4CF"/>
                </a:solidFill>
                <a:latin typeface="Calibri" pitchFamily="34" charset="0"/>
                <a:ea typeface="Calibri" pitchFamily="34" charset="-122"/>
                <a:cs typeface="Calibri" pitchFamily="34" charset="-120"/>
              </a:rPr>
              <a:t>standards by default</a:t>
            </a:r>
            <a:endParaRPr lang="en-US" sz="1300" dirty="0"/>
          </a:p>
        </p:txBody>
      </p:sp>
      <p:sp>
        <p:nvSpPr>
          <p:cNvPr id="16" name="Shape 14"/>
          <p:cNvSpPr/>
          <p:nvPr/>
        </p:nvSpPr>
        <p:spPr>
          <a:xfrm>
            <a:off x="6355080" y="3547872"/>
            <a:ext cx="2103120" cy="38405"/>
          </a:xfrm>
          <a:prstGeom prst="rect">
            <a:avLst/>
          </a:prstGeom>
          <a:solidFill>
            <a:srgbClr val="E05252">
              <a:alpha val="45000"/>
            </a:srgbClr>
          </a:solidFill>
          <a:ln w="12700">
            <a:solidFill>
              <a:srgbClr val="E05252">
                <a:alpha val="45000"/>
              </a:srgbClr>
            </a:solidFill>
            <a:prstDash val="solid"/>
          </a:ln>
        </p:spPr>
      </p:sp>
      <p:sp>
        <p:nvSpPr>
          <p:cNvPr id="17" name="Text 15"/>
          <p:cNvSpPr/>
          <p:nvPr/>
        </p:nvSpPr>
        <p:spPr>
          <a:xfrm>
            <a:off x="5897880" y="3639312"/>
            <a:ext cx="2724912" cy="457200"/>
          </a:xfrm>
          <a:prstGeom prst="rect">
            <a:avLst/>
          </a:prstGeom>
          <a:noFill/>
          <a:ln/>
        </p:spPr>
        <p:txBody>
          <a:bodyPr wrap="square" lIns="0" tIns="0" rIns="0" bIns="0" rtlCol="0" anchor="ctr"/>
          <a:lstStyle/>
          <a:p>
            <a:pPr marL="0" indent="0" algn="ctr">
              <a:buNone/>
            </a:pPr>
            <a:r>
              <a:rPr lang="en-US" sz="1000" i="1" dirty="0">
                <a:solidFill>
                  <a:srgbClr val="747480"/>
                </a:solidFill>
                <a:latin typeface="Calibri" pitchFamily="34" charset="0"/>
                <a:ea typeface="Calibri" pitchFamily="34" charset="-122"/>
                <a:cs typeface="Calibri" pitchFamily="34" charset="-120"/>
              </a:rPr>
              <a:t>unless you define the rules first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0" y="0"/>
            <a:ext cx="4434840" cy="5143500"/>
          </a:xfrm>
          <a:prstGeom prst="rect">
            <a:avLst/>
          </a:prstGeom>
          <a:solidFill>
            <a:srgbClr val="1A0808"/>
          </a:solidFill>
          <a:ln w="12700">
            <a:solidFill>
              <a:srgbClr val="1A0808"/>
            </a:solidFill>
            <a:prstDash val="solid"/>
          </a:ln>
        </p:spPr>
      </p:sp>
      <p:sp>
        <p:nvSpPr>
          <p:cNvPr id="3" name="Shape 1"/>
          <p:cNvSpPr/>
          <p:nvPr/>
        </p:nvSpPr>
        <p:spPr>
          <a:xfrm>
            <a:off x="0" y="0"/>
            <a:ext cx="4434840" cy="91440"/>
          </a:xfrm>
          <a:prstGeom prst="rect">
            <a:avLst/>
          </a:prstGeom>
          <a:solidFill>
            <a:srgbClr val="E05252"/>
          </a:solidFill>
          <a:ln w="12700">
            <a:solidFill>
              <a:srgbClr val="E05252"/>
            </a:solidFill>
            <a:prstDash val="solid"/>
          </a:ln>
        </p:spPr>
      </p:sp>
      <p:sp>
        <p:nvSpPr>
          <p:cNvPr id="4" name="Text 2"/>
          <p:cNvSpPr/>
          <p:nvPr/>
        </p:nvSpPr>
        <p:spPr>
          <a:xfrm>
            <a:off x="292608" y="228600"/>
            <a:ext cx="3931920" cy="475488"/>
          </a:xfrm>
          <a:prstGeom prst="rect">
            <a:avLst/>
          </a:prstGeom>
          <a:noFill/>
          <a:ln/>
        </p:spPr>
        <p:txBody>
          <a:bodyPr wrap="square" lIns="0" tIns="0" rIns="0" bIns="0" rtlCol="0" anchor="ctr"/>
          <a:lstStyle/>
          <a:p>
            <a:pPr marL="0" indent="0">
              <a:buNone/>
            </a:pPr>
            <a:r>
              <a:rPr lang="en-US" sz="1100" b="1" kern="0" spc="250" dirty="0">
                <a:solidFill>
                  <a:srgbClr val="E05252"/>
                </a:solidFill>
                <a:latin typeface="Calibri" pitchFamily="34" charset="0"/>
                <a:ea typeface="Calibri" pitchFamily="34" charset="-122"/>
                <a:cs typeface="Calibri" pitchFamily="34" charset="-120"/>
              </a:rPr>
              <a:t>WITHOUT PLAYBOOK</a:t>
            </a:r>
            <a:endParaRPr lang="en-US" sz="1100" dirty="0"/>
          </a:p>
        </p:txBody>
      </p:sp>
      <p:sp>
        <p:nvSpPr>
          <p:cNvPr id="5" name="Text 3"/>
          <p:cNvSpPr/>
          <p:nvPr/>
        </p:nvSpPr>
        <p:spPr>
          <a:xfrm>
            <a:off x="292608" y="8961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Random naming — OrderLineItem vs order_items</a:t>
            </a:r>
            <a:endParaRPr lang="en-US" sz="1050" dirty="0"/>
          </a:p>
        </p:txBody>
      </p:sp>
      <p:sp>
        <p:nvSpPr>
          <p:cNvPr id="6" name="Text 4"/>
          <p:cNvSpPr/>
          <p:nvPr/>
        </p:nvSpPr>
        <p:spPr>
          <a:xfrm>
            <a:off x="292608" y="13533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No audit columns — updated_at missing</a:t>
            </a:r>
            <a:endParaRPr lang="en-US" sz="1050" dirty="0"/>
          </a:p>
        </p:txBody>
      </p:sp>
      <p:sp>
        <p:nvSpPr>
          <p:cNvPr id="7" name="Text 5"/>
          <p:cNvSpPr/>
          <p:nvPr/>
        </p:nvSpPr>
        <p:spPr>
          <a:xfrm>
            <a:off x="292608" y="18105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Hard DELETE instead of soft delete</a:t>
            </a:r>
            <a:endParaRPr lang="en-US" sz="1050" dirty="0"/>
          </a:p>
        </p:txBody>
      </p:sp>
      <p:sp>
        <p:nvSpPr>
          <p:cNvPr id="8" name="Text 6"/>
          <p:cNvSpPr/>
          <p:nvPr/>
        </p:nvSpPr>
        <p:spPr>
          <a:xfrm>
            <a:off x="292608" y="22677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NULL columns with no justification</a:t>
            </a:r>
            <a:endParaRPr lang="en-US" sz="1050" dirty="0"/>
          </a:p>
        </p:txBody>
      </p:sp>
      <p:sp>
        <p:nvSpPr>
          <p:cNvPr id="9" name="Text 7"/>
          <p:cNvSpPr/>
          <p:nvPr/>
        </p:nvSpPr>
        <p:spPr>
          <a:xfrm>
            <a:off x="292608" y="27249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Magic number status codes (status = 1)</a:t>
            </a:r>
            <a:endParaRPr lang="en-US" sz="1050" dirty="0"/>
          </a:p>
        </p:txBody>
      </p:sp>
      <p:sp>
        <p:nvSpPr>
          <p:cNvPr id="10" name="Text 8"/>
          <p:cNvSpPr/>
          <p:nvPr/>
        </p:nvSpPr>
        <p:spPr>
          <a:xfrm>
            <a:off x="292608" y="31821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No dead letter queue for bad records</a:t>
            </a:r>
            <a:endParaRPr lang="en-US" sz="1050" dirty="0"/>
          </a:p>
        </p:txBody>
      </p:sp>
      <p:sp>
        <p:nvSpPr>
          <p:cNvPr id="11" name="Text 9"/>
          <p:cNvSpPr/>
          <p:nvPr/>
        </p:nvSpPr>
        <p:spPr>
          <a:xfrm>
            <a:off x="292608" y="36393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Credentials hardcoded in notebooks</a:t>
            </a:r>
            <a:endParaRPr lang="en-US" sz="1050" dirty="0"/>
          </a:p>
        </p:txBody>
      </p:sp>
      <p:sp>
        <p:nvSpPr>
          <p:cNvPr id="12" name="Text 10"/>
          <p:cNvSpPr/>
          <p:nvPr/>
        </p:nvSpPr>
        <p:spPr>
          <a:xfrm>
            <a:off x="292608" y="40965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No PII tagging on sensitive fields</a:t>
            </a:r>
            <a:endParaRPr lang="en-US" sz="1050" dirty="0"/>
          </a:p>
        </p:txBody>
      </p:sp>
      <p:sp>
        <p:nvSpPr>
          <p:cNvPr id="13" name="Text 11"/>
          <p:cNvSpPr/>
          <p:nvPr/>
        </p:nvSpPr>
        <p:spPr>
          <a:xfrm>
            <a:off x="292608" y="45537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87171"/>
                </a:solidFill>
                <a:latin typeface="Calibri" pitchFamily="34" charset="0"/>
                <a:ea typeface="Calibri" pitchFamily="34" charset="-122"/>
                <a:cs typeface="Calibri" pitchFamily="34" charset="-120"/>
              </a:rPr>
              <a:t>✕  FLOAT used for money columns</a:t>
            </a:r>
            <a:endParaRPr lang="en-US" sz="1050" dirty="0"/>
          </a:p>
        </p:txBody>
      </p:sp>
      <p:sp>
        <p:nvSpPr>
          <p:cNvPr id="14" name="Shape 12"/>
          <p:cNvSpPr/>
          <p:nvPr/>
        </p:nvSpPr>
        <p:spPr>
          <a:xfrm>
            <a:off x="4434840" y="0"/>
            <a:ext cx="274320" cy="5143500"/>
          </a:xfrm>
          <a:prstGeom prst="rect">
            <a:avLst/>
          </a:prstGeom>
          <a:solidFill>
            <a:srgbClr val="1A1A24"/>
          </a:solidFill>
          <a:ln w="12700">
            <a:solidFill>
              <a:srgbClr val="1A1A24"/>
            </a:solidFill>
            <a:prstDash val="solid"/>
          </a:ln>
        </p:spPr>
      </p:sp>
      <p:sp>
        <p:nvSpPr>
          <p:cNvPr id="15" name="Shape 13"/>
          <p:cNvSpPr/>
          <p:nvPr/>
        </p:nvSpPr>
        <p:spPr>
          <a:xfrm>
            <a:off x="4709160" y="0"/>
            <a:ext cx="4434840" cy="5143500"/>
          </a:xfrm>
          <a:prstGeom prst="rect">
            <a:avLst/>
          </a:prstGeom>
          <a:solidFill>
            <a:srgbClr val="141400"/>
          </a:solidFill>
          <a:ln w="12700">
            <a:solidFill>
              <a:srgbClr val="141400"/>
            </a:solidFill>
            <a:prstDash val="solid"/>
          </a:ln>
        </p:spPr>
      </p:sp>
      <p:sp>
        <p:nvSpPr>
          <p:cNvPr id="16" name="Shape 14"/>
          <p:cNvSpPr/>
          <p:nvPr/>
        </p:nvSpPr>
        <p:spPr>
          <a:xfrm>
            <a:off x="4709160" y="0"/>
            <a:ext cx="4434840" cy="91440"/>
          </a:xfrm>
          <a:prstGeom prst="rect">
            <a:avLst/>
          </a:prstGeom>
          <a:solidFill>
            <a:srgbClr val="FFE600"/>
          </a:solidFill>
          <a:ln w="12700">
            <a:solidFill>
              <a:srgbClr val="FFE600"/>
            </a:solidFill>
            <a:prstDash val="solid"/>
          </a:ln>
        </p:spPr>
      </p:sp>
      <p:sp>
        <p:nvSpPr>
          <p:cNvPr id="17" name="Text 15"/>
          <p:cNvSpPr/>
          <p:nvPr/>
        </p:nvSpPr>
        <p:spPr>
          <a:xfrm>
            <a:off x="4983480" y="228600"/>
            <a:ext cx="3931920" cy="475488"/>
          </a:xfrm>
          <a:prstGeom prst="rect">
            <a:avLst/>
          </a:prstGeom>
          <a:noFill/>
          <a:ln/>
        </p:spPr>
        <p:txBody>
          <a:bodyPr wrap="square" lIns="0" tIns="0" rIns="0" bIns="0" rtlCol="0" anchor="ctr"/>
          <a:lstStyle/>
          <a:p>
            <a:pPr marL="0" indent="0">
              <a:buNone/>
            </a:pPr>
            <a:r>
              <a:rPr lang="en-US" sz="1100" b="1" kern="0" spc="250" dirty="0">
                <a:solidFill>
                  <a:srgbClr val="FFE600"/>
                </a:solidFill>
                <a:latin typeface="Calibri" pitchFamily="34" charset="0"/>
                <a:ea typeface="Calibri" pitchFamily="34" charset="-122"/>
                <a:cs typeface="Calibri" pitchFamily="34" charset="-120"/>
              </a:rPr>
              <a:t>WITH PLAYBOOK</a:t>
            </a:r>
            <a:endParaRPr lang="en-US" sz="1100" dirty="0"/>
          </a:p>
        </p:txBody>
      </p:sp>
      <p:sp>
        <p:nvSpPr>
          <p:cNvPr id="18" name="Text 16"/>
          <p:cNvSpPr/>
          <p:nvPr/>
        </p:nvSpPr>
        <p:spPr>
          <a:xfrm>
            <a:off x="4983480" y="8961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snake_case everywhere — order_line_items</a:t>
            </a:r>
            <a:endParaRPr lang="en-US" sz="1050" dirty="0"/>
          </a:p>
        </p:txBody>
      </p:sp>
      <p:sp>
        <p:nvSpPr>
          <p:cNvPr id="19" name="Text 17"/>
          <p:cNvSpPr/>
          <p:nvPr/>
        </p:nvSpPr>
        <p:spPr>
          <a:xfrm>
            <a:off x="4983480" y="13533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Audit columns auto-added to every table</a:t>
            </a:r>
            <a:endParaRPr lang="en-US" sz="1050" dirty="0"/>
          </a:p>
        </p:txBody>
      </p:sp>
      <p:sp>
        <p:nvSpPr>
          <p:cNvPr id="20" name="Text 18"/>
          <p:cNvSpPr/>
          <p:nvPr/>
        </p:nvSpPr>
        <p:spPr>
          <a:xfrm>
            <a:off x="4983480" y="18105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Soft delete: is_deleted + deleted_at always</a:t>
            </a:r>
            <a:endParaRPr lang="en-US" sz="1050" dirty="0"/>
          </a:p>
        </p:txBody>
      </p:sp>
      <p:sp>
        <p:nvSpPr>
          <p:cNvPr id="21" name="Text 19"/>
          <p:cNvSpPr/>
          <p:nvPr/>
        </p:nvSpPr>
        <p:spPr>
          <a:xfrm>
            <a:off x="4983480" y="22677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Nullable columns require justification code</a:t>
            </a:r>
            <a:endParaRPr lang="en-US" sz="1050" dirty="0"/>
          </a:p>
        </p:txBody>
      </p:sp>
      <p:sp>
        <p:nvSpPr>
          <p:cNvPr id="22" name="Text 20"/>
          <p:cNvSpPr/>
          <p:nvPr/>
        </p:nvSpPr>
        <p:spPr>
          <a:xfrm>
            <a:off x="4983480" y="27249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String enums with CHECK constraints</a:t>
            </a:r>
            <a:endParaRPr lang="en-US" sz="1050" dirty="0"/>
          </a:p>
        </p:txBody>
      </p:sp>
      <p:sp>
        <p:nvSpPr>
          <p:cNvPr id="23" name="Text 21"/>
          <p:cNvSpPr/>
          <p:nvPr/>
        </p:nvSpPr>
        <p:spPr>
          <a:xfrm>
            <a:off x="4983480" y="31821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Dead letter queue for every pipeline</a:t>
            </a:r>
            <a:endParaRPr lang="en-US" sz="1050" dirty="0"/>
          </a:p>
        </p:txBody>
      </p:sp>
      <p:sp>
        <p:nvSpPr>
          <p:cNvPr id="24" name="Text 22"/>
          <p:cNvSpPr/>
          <p:nvPr/>
        </p:nvSpPr>
        <p:spPr>
          <a:xfrm>
            <a:off x="4983480" y="36393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Secrets via Key Vault / secret scope only</a:t>
            </a:r>
            <a:endParaRPr lang="en-US" sz="1050" dirty="0"/>
          </a:p>
        </p:txBody>
      </p:sp>
      <p:sp>
        <p:nvSpPr>
          <p:cNvPr id="25" name="Text 23"/>
          <p:cNvSpPr/>
          <p:nvPr/>
        </p:nvSpPr>
        <p:spPr>
          <a:xfrm>
            <a:off x="4983480" y="40965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PII tagged [PII:CAT1/2/3] in DDL comments</a:t>
            </a:r>
            <a:endParaRPr lang="en-US" sz="1050" dirty="0"/>
          </a:p>
        </p:txBody>
      </p:sp>
      <p:sp>
        <p:nvSpPr>
          <p:cNvPr id="26" name="Text 24"/>
          <p:cNvSpPr/>
          <p:nvPr/>
        </p:nvSpPr>
        <p:spPr>
          <a:xfrm>
            <a:off x="4983480" y="4553712"/>
            <a:ext cx="3977640" cy="384048"/>
          </a:xfrm>
          <a:prstGeom prst="rect">
            <a:avLst/>
          </a:prstGeom>
          <a:noFill/>
          <a:ln/>
        </p:spPr>
        <p:txBody>
          <a:bodyPr wrap="square" lIns="0" tIns="0" rIns="0" bIns="0" rtlCol="0" anchor="ctr"/>
          <a:lstStyle/>
          <a:p>
            <a:pPr marL="0" indent="0">
              <a:lnSpc>
                <a:spcPct val="110000"/>
              </a:lnSpc>
              <a:buNone/>
            </a:pPr>
            <a:r>
              <a:rPr lang="en-US" sz="1050" dirty="0">
                <a:solidFill>
                  <a:srgbClr val="FFF176"/>
                </a:solidFill>
                <a:latin typeface="Calibri" pitchFamily="34" charset="0"/>
                <a:ea typeface="Calibri" pitchFamily="34" charset="-122"/>
                <a:cs typeface="Calibri" pitchFamily="34" charset="-120"/>
              </a:rPr>
              <a:t>✓  NUMERIC(19,4) for all money fields</a:t>
            </a:r>
            <a:endParaRPr lang="en-US" sz="1050" dirty="0"/>
          </a:p>
        </p:txBody>
      </p:sp>
      <p:sp>
        <p:nvSpPr>
          <p:cNvPr id="27" name="Shape 25"/>
          <p:cNvSpPr/>
          <p:nvPr/>
        </p:nvSpPr>
        <p:spPr>
          <a:xfrm>
            <a:off x="4114800" y="2148840"/>
            <a:ext cx="914400" cy="914400"/>
          </a:xfrm>
          <a:prstGeom prst="ellipse">
            <a:avLst/>
          </a:prstGeom>
          <a:solidFill>
            <a:srgbClr val="1A1A24"/>
          </a:solidFill>
          <a:ln w="12700">
            <a:solidFill>
              <a:srgbClr val="FFE600">
                <a:alpha val="75000"/>
              </a:srgbClr>
            </a:solidFill>
            <a:prstDash val="solid"/>
          </a:ln>
          <a:effectLst>
            <a:outerShdw blurRad="177800" dist="50800" dir="2700000" algn="bl" rotWithShape="0">
              <a:srgbClr val="000000">
                <a:alpha val="40000"/>
              </a:srgbClr>
            </a:outerShdw>
          </a:effectLst>
        </p:spPr>
      </p:sp>
      <p:sp>
        <p:nvSpPr>
          <p:cNvPr id="28" name="Text 26"/>
          <p:cNvSpPr/>
          <p:nvPr/>
        </p:nvSpPr>
        <p:spPr>
          <a:xfrm>
            <a:off x="4114800" y="2148840"/>
            <a:ext cx="914400" cy="914400"/>
          </a:xfrm>
          <a:prstGeom prst="rect">
            <a:avLst/>
          </a:prstGeom>
          <a:noFill/>
          <a:ln/>
        </p:spPr>
        <p:txBody>
          <a:bodyPr wrap="square" lIns="0" tIns="0" rIns="0" bIns="0" rtlCol="0" anchor="ctr"/>
          <a:lstStyle/>
          <a:p>
            <a:pPr marL="0" indent="0" algn="ctr">
              <a:buNone/>
            </a:pPr>
            <a:r>
              <a:rPr lang="en-US" sz="1800" b="1" dirty="0">
                <a:solidFill>
                  <a:srgbClr val="FFE600"/>
                </a:solidFill>
                <a:latin typeface="Cambria" pitchFamily="34" charset="0"/>
                <a:ea typeface="Cambria" pitchFamily="34" charset="-122"/>
                <a:cs typeface="Cambria" pitchFamily="34" charset="-120"/>
              </a:rPr>
              <a:t>VS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FFE600"/>
          </a:solidFill>
          <a:ln w="12700">
            <a:solidFill>
              <a:srgbClr val="FFE600"/>
            </a:solidFill>
            <a:prstDash val="solid"/>
          </a:ln>
        </p:spPr>
      </p:sp>
      <p:sp>
        <p:nvSpPr>
          <p:cNvPr id="3" name="Shape 1"/>
          <p:cNvSpPr/>
          <p:nvPr/>
        </p:nvSpPr>
        <p:spPr>
          <a:xfrm>
            <a:off x="320040" y="365760"/>
            <a:ext cx="118872" cy="118872"/>
          </a:xfrm>
          <a:prstGeom prst="ellipse">
            <a:avLst/>
          </a:prstGeom>
          <a:solidFill>
            <a:srgbClr val="2E2E38">
              <a:alpha val="20000"/>
            </a:srgbClr>
          </a:solidFill>
          <a:ln w="12700">
            <a:solidFill>
              <a:srgbClr val="2E2E38">
                <a:alpha val="20000"/>
              </a:srgbClr>
            </a:solidFill>
            <a:prstDash val="solid"/>
          </a:ln>
        </p:spPr>
      </p:sp>
      <p:sp>
        <p:nvSpPr>
          <p:cNvPr id="4" name="Shape 2"/>
          <p:cNvSpPr/>
          <p:nvPr/>
        </p:nvSpPr>
        <p:spPr>
          <a:xfrm>
            <a:off x="1645920" y="365760"/>
            <a:ext cx="118872" cy="118872"/>
          </a:xfrm>
          <a:prstGeom prst="ellipse">
            <a:avLst/>
          </a:prstGeom>
          <a:solidFill>
            <a:srgbClr val="2E2E38">
              <a:alpha val="20000"/>
            </a:srgbClr>
          </a:solidFill>
          <a:ln w="12700">
            <a:solidFill>
              <a:srgbClr val="2E2E38">
                <a:alpha val="20000"/>
              </a:srgbClr>
            </a:solidFill>
            <a:prstDash val="solid"/>
          </a:ln>
        </p:spPr>
      </p:sp>
      <p:sp>
        <p:nvSpPr>
          <p:cNvPr id="5" name="Shape 3"/>
          <p:cNvSpPr/>
          <p:nvPr/>
        </p:nvSpPr>
        <p:spPr>
          <a:xfrm>
            <a:off x="2971800" y="365760"/>
            <a:ext cx="118872" cy="118872"/>
          </a:xfrm>
          <a:prstGeom prst="ellipse">
            <a:avLst/>
          </a:prstGeom>
          <a:solidFill>
            <a:srgbClr val="2E2E38">
              <a:alpha val="20000"/>
            </a:srgbClr>
          </a:solidFill>
          <a:ln w="12700">
            <a:solidFill>
              <a:srgbClr val="2E2E38">
                <a:alpha val="20000"/>
              </a:srgbClr>
            </a:solidFill>
            <a:prstDash val="solid"/>
          </a:ln>
        </p:spPr>
      </p:sp>
      <p:sp>
        <p:nvSpPr>
          <p:cNvPr id="6" name="Shape 4"/>
          <p:cNvSpPr/>
          <p:nvPr/>
        </p:nvSpPr>
        <p:spPr>
          <a:xfrm>
            <a:off x="320040" y="1572768"/>
            <a:ext cx="118872" cy="118872"/>
          </a:xfrm>
          <a:prstGeom prst="ellipse">
            <a:avLst/>
          </a:prstGeom>
          <a:solidFill>
            <a:srgbClr val="2E2E38">
              <a:alpha val="20000"/>
            </a:srgbClr>
          </a:solidFill>
          <a:ln w="12700">
            <a:solidFill>
              <a:srgbClr val="2E2E38">
                <a:alpha val="20000"/>
              </a:srgbClr>
            </a:solidFill>
            <a:prstDash val="solid"/>
          </a:ln>
        </p:spPr>
      </p:sp>
      <p:sp>
        <p:nvSpPr>
          <p:cNvPr id="7" name="Shape 5"/>
          <p:cNvSpPr/>
          <p:nvPr/>
        </p:nvSpPr>
        <p:spPr>
          <a:xfrm>
            <a:off x="1645920" y="1572768"/>
            <a:ext cx="118872" cy="118872"/>
          </a:xfrm>
          <a:prstGeom prst="ellipse">
            <a:avLst/>
          </a:prstGeom>
          <a:solidFill>
            <a:srgbClr val="2E2E38">
              <a:alpha val="20000"/>
            </a:srgbClr>
          </a:solidFill>
          <a:ln w="12700">
            <a:solidFill>
              <a:srgbClr val="2E2E38">
                <a:alpha val="20000"/>
              </a:srgbClr>
            </a:solidFill>
            <a:prstDash val="solid"/>
          </a:ln>
        </p:spPr>
      </p:sp>
      <p:sp>
        <p:nvSpPr>
          <p:cNvPr id="8" name="Shape 6"/>
          <p:cNvSpPr/>
          <p:nvPr/>
        </p:nvSpPr>
        <p:spPr>
          <a:xfrm>
            <a:off x="2971800" y="1572768"/>
            <a:ext cx="118872" cy="118872"/>
          </a:xfrm>
          <a:prstGeom prst="ellipse">
            <a:avLst/>
          </a:prstGeom>
          <a:solidFill>
            <a:srgbClr val="2E2E38">
              <a:alpha val="20000"/>
            </a:srgbClr>
          </a:solidFill>
          <a:ln w="12700">
            <a:solidFill>
              <a:srgbClr val="2E2E38">
                <a:alpha val="20000"/>
              </a:srgbClr>
            </a:solidFill>
            <a:prstDash val="solid"/>
          </a:ln>
        </p:spPr>
      </p:sp>
      <p:sp>
        <p:nvSpPr>
          <p:cNvPr id="9" name="Shape 7"/>
          <p:cNvSpPr/>
          <p:nvPr/>
        </p:nvSpPr>
        <p:spPr>
          <a:xfrm>
            <a:off x="320040" y="2779776"/>
            <a:ext cx="118872" cy="118872"/>
          </a:xfrm>
          <a:prstGeom prst="ellipse">
            <a:avLst/>
          </a:prstGeom>
          <a:solidFill>
            <a:srgbClr val="2E2E38">
              <a:alpha val="20000"/>
            </a:srgbClr>
          </a:solidFill>
          <a:ln w="12700">
            <a:solidFill>
              <a:srgbClr val="2E2E38">
                <a:alpha val="20000"/>
              </a:srgbClr>
            </a:solidFill>
            <a:prstDash val="solid"/>
          </a:ln>
        </p:spPr>
      </p:sp>
      <p:sp>
        <p:nvSpPr>
          <p:cNvPr id="10" name="Shape 8"/>
          <p:cNvSpPr/>
          <p:nvPr/>
        </p:nvSpPr>
        <p:spPr>
          <a:xfrm>
            <a:off x="1645920" y="2779776"/>
            <a:ext cx="118872" cy="118872"/>
          </a:xfrm>
          <a:prstGeom prst="ellipse">
            <a:avLst/>
          </a:prstGeom>
          <a:solidFill>
            <a:srgbClr val="2E2E38">
              <a:alpha val="20000"/>
            </a:srgbClr>
          </a:solidFill>
          <a:ln w="12700">
            <a:solidFill>
              <a:srgbClr val="2E2E38">
                <a:alpha val="20000"/>
              </a:srgbClr>
            </a:solidFill>
            <a:prstDash val="solid"/>
          </a:ln>
        </p:spPr>
      </p:sp>
      <p:sp>
        <p:nvSpPr>
          <p:cNvPr id="11" name="Shape 9"/>
          <p:cNvSpPr/>
          <p:nvPr/>
        </p:nvSpPr>
        <p:spPr>
          <a:xfrm>
            <a:off x="2971800" y="2779776"/>
            <a:ext cx="118872" cy="118872"/>
          </a:xfrm>
          <a:prstGeom prst="ellipse">
            <a:avLst/>
          </a:prstGeom>
          <a:solidFill>
            <a:srgbClr val="2E2E38">
              <a:alpha val="20000"/>
            </a:srgbClr>
          </a:solidFill>
          <a:ln w="12700">
            <a:solidFill>
              <a:srgbClr val="2E2E38">
                <a:alpha val="20000"/>
              </a:srgbClr>
            </a:solidFill>
            <a:prstDash val="solid"/>
          </a:ln>
        </p:spPr>
      </p:sp>
      <p:sp>
        <p:nvSpPr>
          <p:cNvPr id="12" name="Shape 10"/>
          <p:cNvSpPr/>
          <p:nvPr/>
        </p:nvSpPr>
        <p:spPr>
          <a:xfrm>
            <a:off x="320040" y="3986784"/>
            <a:ext cx="118872" cy="118872"/>
          </a:xfrm>
          <a:prstGeom prst="ellipse">
            <a:avLst/>
          </a:prstGeom>
          <a:solidFill>
            <a:srgbClr val="2E2E38">
              <a:alpha val="20000"/>
            </a:srgbClr>
          </a:solidFill>
          <a:ln w="12700">
            <a:solidFill>
              <a:srgbClr val="2E2E38">
                <a:alpha val="20000"/>
              </a:srgbClr>
            </a:solidFill>
            <a:prstDash val="solid"/>
          </a:ln>
        </p:spPr>
      </p:sp>
      <p:sp>
        <p:nvSpPr>
          <p:cNvPr id="13" name="Shape 11"/>
          <p:cNvSpPr/>
          <p:nvPr/>
        </p:nvSpPr>
        <p:spPr>
          <a:xfrm>
            <a:off x="1645920" y="3986784"/>
            <a:ext cx="118872" cy="118872"/>
          </a:xfrm>
          <a:prstGeom prst="ellipse">
            <a:avLst/>
          </a:prstGeom>
          <a:solidFill>
            <a:srgbClr val="2E2E38">
              <a:alpha val="20000"/>
            </a:srgbClr>
          </a:solidFill>
          <a:ln w="12700">
            <a:solidFill>
              <a:srgbClr val="2E2E38">
                <a:alpha val="20000"/>
              </a:srgbClr>
            </a:solidFill>
            <a:prstDash val="solid"/>
          </a:ln>
        </p:spPr>
      </p:sp>
      <p:sp>
        <p:nvSpPr>
          <p:cNvPr id="14" name="Shape 12"/>
          <p:cNvSpPr/>
          <p:nvPr/>
        </p:nvSpPr>
        <p:spPr>
          <a:xfrm>
            <a:off x="2971800" y="3986784"/>
            <a:ext cx="118872" cy="118872"/>
          </a:xfrm>
          <a:prstGeom prst="ellipse">
            <a:avLst/>
          </a:prstGeom>
          <a:solidFill>
            <a:srgbClr val="2E2E38">
              <a:alpha val="20000"/>
            </a:srgbClr>
          </a:solidFill>
          <a:ln w="12700">
            <a:solidFill>
              <a:srgbClr val="2E2E38">
                <a:alpha val="20000"/>
              </a:srgbClr>
            </a:solidFill>
            <a:prstDash val="solid"/>
          </a:ln>
        </p:spPr>
      </p:sp>
      <p:sp>
        <p:nvSpPr>
          <p:cNvPr id="15" name="Text 13"/>
          <p:cNvSpPr/>
          <p:nvPr/>
        </p:nvSpPr>
        <p:spPr>
          <a:xfrm>
            <a:off x="347472" y="777240"/>
            <a:ext cx="3566160" cy="2560320"/>
          </a:xfrm>
          <a:prstGeom prst="rect">
            <a:avLst/>
          </a:prstGeom>
          <a:noFill/>
          <a:ln/>
        </p:spPr>
        <p:txBody>
          <a:bodyPr wrap="square" lIns="0" tIns="0" rIns="0" bIns="0" rtlCol="0" anchor="ctr"/>
          <a:lstStyle/>
          <a:p>
            <a:pPr marL="0" indent="0">
              <a:lnSpc>
                <a:spcPct val="100000"/>
              </a:lnSpc>
              <a:buNone/>
            </a:pPr>
            <a:r>
              <a:rPr lang="en-US" sz="4400" b="1" dirty="0">
                <a:solidFill>
                  <a:srgbClr val="1A1A24"/>
                </a:solidFill>
                <a:latin typeface="Cambria" pitchFamily="34" charset="0"/>
                <a:ea typeface="Cambria" pitchFamily="34" charset="-122"/>
                <a:cs typeface="Cambria" pitchFamily="34" charset="-120"/>
              </a:rPr>
              <a:t>One file.</a:t>
            </a:r>
            <a:endParaRPr lang="en-US" sz="4400" dirty="0"/>
          </a:p>
          <a:p>
            <a:pPr marL="0" indent="0">
              <a:lnSpc>
                <a:spcPct val="100000"/>
              </a:lnSpc>
              <a:buNone/>
            </a:pPr>
            <a:r>
              <a:rPr lang="en-US" sz="4400" b="1" dirty="0">
                <a:solidFill>
                  <a:srgbClr val="1A1A24"/>
                </a:solidFill>
                <a:latin typeface="Cambria" pitchFamily="34" charset="0"/>
                <a:ea typeface="Cambria" pitchFamily="34" charset="-122"/>
                <a:cs typeface="Cambria" pitchFamily="34" charset="-120"/>
              </a:rPr>
              <a:t>Every rule.</a:t>
            </a:r>
            <a:endParaRPr lang="en-US" sz="4400" dirty="0"/>
          </a:p>
          <a:p>
            <a:pPr marL="0" indent="0">
              <a:lnSpc>
                <a:spcPct val="100000"/>
              </a:lnSpc>
              <a:buNone/>
            </a:pPr>
            <a:r>
              <a:rPr lang="en-US" sz="4400" b="1" dirty="0">
                <a:solidFill>
                  <a:srgbClr val="1A1A24"/>
                </a:solidFill>
                <a:latin typeface="Cambria" pitchFamily="34" charset="0"/>
                <a:ea typeface="Cambria" pitchFamily="34" charset="-122"/>
                <a:cs typeface="Cambria" pitchFamily="34" charset="-120"/>
              </a:rPr>
              <a:t>Every time.</a:t>
            </a:r>
            <a:endParaRPr lang="en-US" sz="4400" dirty="0"/>
          </a:p>
        </p:txBody>
      </p:sp>
      <p:sp>
        <p:nvSpPr>
          <p:cNvPr id="16" name="Shape 14"/>
          <p:cNvSpPr/>
          <p:nvPr/>
        </p:nvSpPr>
        <p:spPr>
          <a:xfrm>
            <a:off x="347472" y="3401568"/>
            <a:ext cx="3429000" cy="38405"/>
          </a:xfrm>
          <a:prstGeom prst="rect">
            <a:avLst/>
          </a:prstGeom>
          <a:solidFill>
            <a:srgbClr val="1A1A24">
              <a:alpha val="55000"/>
            </a:srgbClr>
          </a:solidFill>
          <a:ln w="12700">
            <a:solidFill>
              <a:srgbClr val="1A1A24">
                <a:alpha val="55000"/>
              </a:srgbClr>
            </a:solidFill>
            <a:prstDash val="solid"/>
          </a:ln>
        </p:spPr>
      </p:sp>
      <p:sp>
        <p:nvSpPr>
          <p:cNvPr id="17" name="Text 15"/>
          <p:cNvSpPr/>
          <p:nvPr/>
        </p:nvSpPr>
        <p:spPr>
          <a:xfrm>
            <a:off x="347472" y="3529584"/>
            <a:ext cx="3566160" cy="804672"/>
          </a:xfrm>
          <a:prstGeom prst="rect">
            <a:avLst/>
          </a:prstGeom>
          <a:noFill/>
          <a:ln/>
        </p:spPr>
        <p:txBody>
          <a:bodyPr wrap="square" lIns="0" tIns="0" rIns="0" bIns="0" rtlCol="0" anchor="ctr"/>
          <a:lstStyle/>
          <a:p>
            <a:pPr marL="0" indent="0">
              <a:lnSpc>
                <a:spcPct val="140000"/>
              </a:lnSpc>
              <a:buNone/>
            </a:pPr>
            <a:r>
              <a:rPr lang="en-US" sz="1350" dirty="0">
                <a:solidFill>
                  <a:srgbClr val="2E2E38"/>
                </a:solidFill>
                <a:latin typeface="Calibri" pitchFamily="34" charset="0"/>
                <a:ea typeface="Calibri" pitchFamily="34" charset="-122"/>
                <a:cs typeface="Calibri" pitchFamily="34" charset="-120"/>
              </a:rPr>
              <a:t>MASTER.md is the entry point.</a:t>
            </a:r>
            <a:endParaRPr lang="en-US" sz="1350" dirty="0"/>
          </a:p>
          <a:p>
            <a:pPr marL="0" indent="0">
              <a:lnSpc>
                <a:spcPct val="140000"/>
              </a:lnSpc>
              <a:buNone/>
            </a:pPr>
            <a:r>
              <a:rPr lang="en-US" sz="1350" dirty="0">
                <a:solidFill>
                  <a:srgbClr val="2E2E38"/>
                </a:solidFill>
                <a:latin typeface="Calibri" pitchFamily="34" charset="0"/>
                <a:ea typeface="Calibri" pitchFamily="34" charset="-122"/>
                <a:cs typeface="Calibri" pitchFamily="34" charset="-120"/>
              </a:rPr>
              <a:t>The agent reads it first, every time.</a:t>
            </a:r>
            <a:endParaRPr lang="en-US" sz="1350" dirty="0"/>
          </a:p>
        </p:txBody>
      </p:sp>
      <p:sp>
        <p:nvSpPr>
          <p:cNvPr id="18" name="Shape 16"/>
          <p:cNvSpPr/>
          <p:nvPr/>
        </p:nvSpPr>
        <p:spPr>
          <a:xfrm>
            <a:off x="4572000" y="566928"/>
            <a:ext cx="4224528" cy="1280160"/>
          </a:xfrm>
          <a:prstGeom prst="roundRect">
            <a:avLst>
              <a:gd name="adj" fmla="val 7143"/>
            </a:avLst>
          </a:prstGeom>
          <a:solidFill>
            <a:srgbClr val="23232F"/>
          </a:solidFill>
          <a:ln w="12700">
            <a:solidFill>
              <a:srgbClr val="FFE600">
                <a:alpha val="58000"/>
              </a:srgbClr>
            </a:solidFill>
            <a:prstDash val="solid"/>
          </a:ln>
          <a:effectLst>
            <a:outerShdw blurRad="76200" dist="25400" dir="2700000" algn="bl" rotWithShape="0">
              <a:srgbClr val="000000">
                <a:alpha val="28000"/>
              </a:srgbClr>
            </a:outerShdw>
          </a:effectLst>
        </p:spPr>
      </p:sp>
      <p:sp>
        <p:nvSpPr>
          <p:cNvPr id="19" name="Shape 17"/>
          <p:cNvSpPr/>
          <p:nvPr/>
        </p:nvSpPr>
        <p:spPr>
          <a:xfrm>
            <a:off x="4572000" y="566928"/>
            <a:ext cx="4224528" cy="54864"/>
          </a:xfrm>
          <a:prstGeom prst="rect">
            <a:avLst/>
          </a:prstGeom>
          <a:solidFill>
            <a:srgbClr val="FFE600"/>
          </a:solidFill>
          <a:ln w="12700">
            <a:solidFill>
              <a:srgbClr val="FFE600"/>
            </a:solidFill>
            <a:prstDash val="solid"/>
          </a:ln>
        </p:spPr>
      </p:sp>
      <p:sp>
        <p:nvSpPr>
          <p:cNvPr id="20" name="Text 18"/>
          <p:cNvSpPr/>
          <p:nvPr/>
        </p:nvSpPr>
        <p:spPr>
          <a:xfrm>
            <a:off x="4754880" y="740664"/>
            <a:ext cx="3858768" cy="402336"/>
          </a:xfrm>
          <a:prstGeom prst="rect">
            <a:avLst/>
          </a:prstGeom>
          <a:noFill/>
          <a:ln/>
        </p:spPr>
        <p:txBody>
          <a:bodyPr wrap="square" lIns="0" tIns="0" rIns="0" bIns="0" rtlCol="0" anchor="ctr"/>
          <a:lstStyle/>
          <a:p>
            <a:pPr marL="0" indent="0">
              <a:buNone/>
            </a:pPr>
            <a:r>
              <a:rPr lang="en-US" sz="1700" b="1" dirty="0">
                <a:solidFill>
                  <a:srgbClr val="FFE600"/>
                </a:solidFill>
                <a:latin typeface="Cambria" pitchFamily="34" charset="0"/>
                <a:ea typeface="Cambria" pitchFamily="34" charset="-122"/>
                <a:cs typeface="Cambria" pitchFamily="34" charset="-120"/>
              </a:rPr>
              <a:t>Structured</a:t>
            </a:r>
            <a:endParaRPr lang="en-US" sz="1700" dirty="0"/>
          </a:p>
        </p:txBody>
      </p:sp>
      <p:sp>
        <p:nvSpPr>
          <p:cNvPr id="21" name="Text 19"/>
          <p:cNvSpPr/>
          <p:nvPr/>
        </p:nvSpPr>
        <p:spPr>
          <a:xfrm>
            <a:off x="4754880" y="1133856"/>
            <a:ext cx="3858768" cy="640080"/>
          </a:xfrm>
          <a:prstGeom prst="rect">
            <a:avLst/>
          </a:prstGeom>
          <a:noFill/>
          <a:ln/>
        </p:spPr>
        <p:txBody>
          <a:bodyPr wrap="square" lIns="0" tIns="0" rIns="0" bIns="0" rtlCol="0" anchor="ctr"/>
          <a:lstStyle/>
          <a:p>
            <a:pPr marL="0" indent="0">
              <a:lnSpc>
                <a:spcPct val="130000"/>
              </a:lnSpc>
              <a:buNone/>
            </a:pPr>
            <a:r>
              <a:rPr lang="en-US" sz="1050" dirty="0">
                <a:solidFill>
                  <a:srgbClr val="C4C4CF"/>
                </a:solidFill>
                <a:latin typeface="Calibri" pitchFamily="34" charset="0"/>
                <a:ea typeface="Calibri" pitchFamily="34" charset="-122"/>
                <a:cs typeface="Calibri" pitchFamily="34" charset="-120"/>
              </a:rPr>
              <a:t>27 Markdown files by domain and layer. Modular — the agent loads only what the task needs.</a:t>
            </a:r>
            <a:endParaRPr lang="en-US" sz="1050" dirty="0"/>
          </a:p>
        </p:txBody>
      </p:sp>
      <p:sp>
        <p:nvSpPr>
          <p:cNvPr id="22" name="Shape 20"/>
          <p:cNvSpPr/>
          <p:nvPr/>
        </p:nvSpPr>
        <p:spPr>
          <a:xfrm>
            <a:off x="4572000" y="2048256"/>
            <a:ext cx="4224528" cy="1280160"/>
          </a:xfrm>
          <a:prstGeom prst="roundRect">
            <a:avLst>
              <a:gd name="adj" fmla="val 7143"/>
            </a:avLst>
          </a:prstGeom>
          <a:solidFill>
            <a:srgbClr val="23232F"/>
          </a:solidFill>
          <a:ln w="12700">
            <a:solidFill>
              <a:srgbClr val="188CE5">
                <a:alpha val="58000"/>
              </a:srgbClr>
            </a:solidFill>
            <a:prstDash val="solid"/>
          </a:ln>
          <a:effectLst>
            <a:outerShdw blurRad="76200" dist="25400" dir="2700000" algn="bl" rotWithShape="0">
              <a:srgbClr val="000000">
                <a:alpha val="28000"/>
              </a:srgbClr>
            </a:outerShdw>
          </a:effectLst>
        </p:spPr>
      </p:sp>
      <p:sp>
        <p:nvSpPr>
          <p:cNvPr id="23" name="Shape 21"/>
          <p:cNvSpPr/>
          <p:nvPr/>
        </p:nvSpPr>
        <p:spPr>
          <a:xfrm>
            <a:off x="4572000" y="2048256"/>
            <a:ext cx="4224528" cy="54864"/>
          </a:xfrm>
          <a:prstGeom prst="rect">
            <a:avLst/>
          </a:prstGeom>
          <a:solidFill>
            <a:srgbClr val="188CE5"/>
          </a:solidFill>
          <a:ln w="12700">
            <a:solidFill>
              <a:srgbClr val="188CE5"/>
            </a:solidFill>
            <a:prstDash val="solid"/>
          </a:ln>
        </p:spPr>
      </p:sp>
      <p:sp>
        <p:nvSpPr>
          <p:cNvPr id="24" name="Text 22"/>
          <p:cNvSpPr/>
          <p:nvPr/>
        </p:nvSpPr>
        <p:spPr>
          <a:xfrm>
            <a:off x="4754880" y="2221992"/>
            <a:ext cx="3858768" cy="402336"/>
          </a:xfrm>
          <a:prstGeom prst="rect">
            <a:avLst/>
          </a:prstGeom>
          <a:noFill/>
          <a:ln/>
        </p:spPr>
        <p:txBody>
          <a:bodyPr wrap="square" lIns="0" tIns="0" rIns="0" bIns="0" rtlCol="0" anchor="ctr"/>
          <a:lstStyle/>
          <a:p>
            <a:pPr marL="0" indent="0">
              <a:buNone/>
            </a:pPr>
            <a:r>
              <a:rPr lang="en-US" sz="1700" b="1" dirty="0">
                <a:solidFill>
                  <a:srgbClr val="188CE5"/>
                </a:solidFill>
                <a:latin typeface="Cambria" pitchFamily="34" charset="0"/>
                <a:ea typeface="Cambria" pitchFamily="34" charset="-122"/>
                <a:cs typeface="Cambria" pitchFamily="34" charset="-120"/>
              </a:rPr>
              <a:t>Enforced</a:t>
            </a:r>
            <a:endParaRPr lang="en-US" sz="1700" dirty="0"/>
          </a:p>
        </p:txBody>
      </p:sp>
      <p:sp>
        <p:nvSpPr>
          <p:cNvPr id="25" name="Text 23"/>
          <p:cNvSpPr/>
          <p:nvPr/>
        </p:nvSpPr>
        <p:spPr>
          <a:xfrm>
            <a:off x="4754880" y="2615184"/>
            <a:ext cx="3858768" cy="640080"/>
          </a:xfrm>
          <a:prstGeom prst="rect">
            <a:avLst/>
          </a:prstGeom>
          <a:noFill/>
          <a:ln/>
        </p:spPr>
        <p:txBody>
          <a:bodyPr wrap="square" lIns="0" tIns="0" rIns="0" bIns="0" rtlCol="0" anchor="ctr"/>
          <a:lstStyle/>
          <a:p>
            <a:pPr marL="0" indent="0">
              <a:lnSpc>
                <a:spcPct val="130000"/>
              </a:lnSpc>
              <a:buNone/>
            </a:pPr>
            <a:r>
              <a:rPr lang="en-US" sz="1050" dirty="0">
                <a:solidFill>
                  <a:srgbClr val="C4C4CF"/>
                </a:solidFill>
                <a:latin typeface="Calibri" pitchFamily="34" charset="0"/>
                <a:ea typeface="Calibri" pitchFamily="34" charset="-122"/>
                <a:cs typeface="Calibri" pitchFamily="34" charset="-120"/>
              </a:rPr>
              <a:t>Rules are applied before generation — not checked after. Standards are built in, not bolted on.</a:t>
            </a:r>
            <a:endParaRPr lang="en-US" sz="1050" dirty="0"/>
          </a:p>
        </p:txBody>
      </p:sp>
      <p:sp>
        <p:nvSpPr>
          <p:cNvPr id="26" name="Shape 24"/>
          <p:cNvSpPr/>
          <p:nvPr/>
        </p:nvSpPr>
        <p:spPr>
          <a:xfrm>
            <a:off x="4572000" y="3529584"/>
            <a:ext cx="4224528" cy="1280160"/>
          </a:xfrm>
          <a:prstGeom prst="roundRect">
            <a:avLst>
              <a:gd name="adj" fmla="val 7143"/>
            </a:avLst>
          </a:prstGeom>
          <a:solidFill>
            <a:srgbClr val="23232F"/>
          </a:solidFill>
          <a:ln w="12700">
            <a:solidFill>
              <a:srgbClr val="FFE600">
                <a:alpha val="58000"/>
              </a:srgbClr>
            </a:solidFill>
            <a:prstDash val="solid"/>
          </a:ln>
          <a:effectLst>
            <a:outerShdw blurRad="76200" dist="25400" dir="2700000" algn="bl" rotWithShape="0">
              <a:srgbClr val="000000">
                <a:alpha val="28000"/>
              </a:srgbClr>
            </a:outerShdw>
          </a:effectLst>
        </p:spPr>
      </p:sp>
      <p:sp>
        <p:nvSpPr>
          <p:cNvPr id="27" name="Shape 25"/>
          <p:cNvSpPr/>
          <p:nvPr/>
        </p:nvSpPr>
        <p:spPr>
          <a:xfrm>
            <a:off x="4572000" y="3529584"/>
            <a:ext cx="4224528" cy="54864"/>
          </a:xfrm>
          <a:prstGeom prst="rect">
            <a:avLst/>
          </a:prstGeom>
          <a:solidFill>
            <a:srgbClr val="FFE600"/>
          </a:solidFill>
          <a:ln w="12700">
            <a:solidFill>
              <a:srgbClr val="FFE600"/>
            </a:solidFill>
            <a:prstDash val="solid"/>
          </a:ln>
        </p:spPr>
      </p:sp>
      <p:sp>
        <p:nvSpPr>
          <p:cNvPr id="28" name="Text 26"/>
          <p:cNvSpPr/>
          <p:nvPr/>
        </p:nvSpPr>
        <p:spPr>
          <a:xfrm>
            <a:off x="4754880" y="3703320"/>
            <a:ext cx="3858768" cy="402336"/>
          </a:xfrm>
          <a:prstGeom prst="rect">
            <a:avLst/>
          </a:prstGeom>
          <a:noFill/>
          <a:ln/>
        </p:spPr>
        <p:txBody>
          <a:bodyPr wrap="square" lIns="0" tIns="0" rIns="0" bIns="0" rtlCol="0" anchor="ctr"/>
          <a:lstStyle/>
          <a:p>
            <a:pPr marL="0" indent="0">
              <a:buNone/>
            </a:pPr>
            <a:r>
              <a:rPr lang="en-US" sz="1700" b="1" dirty="0">
                <a:solidFill>
                  <a:srgbClr val="FFE600"/>
                </a:solidFill>
                <a:latin typeface="Cambria" pitchFamily="34" charset="0"/>
                <a:ea typeface="Cambria" pitchFamily="34" charset="-122"/>
                <a:cs typeface="Cambria" pitchFamily="34" charset="-120"/>
              </a:rPr>
              <a:t>Ask-First</a:t>
            </a:r>
            <a:endParaRPr lang="en-US" sz="1700" dirty="0"/>
          </a:p>
        </p:txBody>
      </p:sp>
      <p:sp>
        <p:nvSpPr>
          <p:cNvPr id="29" name="Text 27"/>
          <p:cNvSpPr/>
          <p:nvPr/>
        </p:nvSpPr>
        <p:spPr>
          <a:xfrm>
            <a:off x="4754880" y="4096512"/>
            <a:ext cx="3858768" cy="640080"/>
          </a:xfrm>
          <a:prstGeom prst="rect">
            <a:avLst/>
          </a:prstGeom>
          <a:noFill/>
          <a:ln/>
        </p:spPr>
        <p:txBody>
          <a:bodyPr wrap="square" lIns="0" tIns="0" rIns="0" bIns="0" rtlCol="0" anchor="ctr"/>
          <a:lstStyle/>
          <a:p>
            <a:pPr marL="0" indent="0">
              <a:lnSpc>
                <a:spcPct val="130000"/>
              </a:lnSpc>
              <a:buNone/>
            </a:pPr>
            <a:r>
              <a:rPr lang="en-US" sz="1050" dirty="0">
                <a:solidFill>
                  <a:srgbClr val="C4C4CF"/>
                </a:solidFill>
                <a:latin typeface="Calibri" pitchFamily="34" charset="0"/>
                <a:ea typeface="Calibri" pitchFamily="34" charset="-122"/>
                <a:cs typeface="Calibri" pitchFamily="34" charset="-120"/>
              </a:rPr>
              <a:t>If any value is missing, the agent stops and asks the user. It never invents names or guesses environments.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FFE600">
              <a:alpha val="4000"/>
            </a:srgbClr>
          </a:solidFill>
          <a:ln w="12700">
            <a:solidFill>
              <a:srgbClr val="FFE600">
                <a:alpha val="4000"/>
              </a:srgbClr>
            </a:solidFill>
            <a:prstDash val="solid"/>
          </a:ln>
        </p:spPr>
      </p:sp>
      <p:sp>
        <p:nvSpPr>
          <p:cNvPr id="3" name="Shape 1"/>
          <p:cNvSpPr/>
          <p:nvPr/>
        </p:nvSpPr>
        <p:spPr>
          <a:xfrm>
            <a:off x="6858000" y="1828800"/>
            <a:ext cx="3657600" cy="3657600"/>
          </a:xfrm>
          <a:prstGeom prst="ellipse">
            <a:avLst/>
          </a:prstGeom>
          <a:solidFill>
            <a:srgbClr val="188CE5">
              <a:alpha val="6000"/>
            </a:srgbClr>
          </a:solidFill>
          <a:ln w="12700">
            <a:solidFill>
              <a:srgbClr val="188CE5">
                <a:alpha val="6000"/>
              </a:srgbClr>
            </a:solidFill>
            <a:prstDash val="solid"/>
          </a:ln>
        </p:spPr>
      </p:sp>
      <p:sp>
        <p:nvSpPr>
          <p:cNvPr id="4" name="Text 2"/>
          <p:cNvSpPr/>
          <p:nvPr/>
        </p:nvSpPr>
        <p:spPr>
          <a:xfrm>
            <a:off x="457200" y="201168"/>
            <a:ext cx="8229600" cy="384048"/>
          </a:xfrm>
          <a:prstGeom prst="rect">
            <a:avLst/>
          </a:prstGeom>
          <a:noFill/>
          <a:ln/>
        </p:spPr>
        <p:txBody>
          <a:bodyPr wrap="square" lIns="0" tIns="0" rIns="0" bIns="0" rtlCol="0" anchor="ctr"/>
          <a:lstStyle/>
          <a:p>
            <a:pPr marL="0" indent="0" algn="ctr">
              <a:buNone/>
            </a:pPr>
            <a:r>
              <a:rPr lang="en-US" sz="1000" b="1" kern="0" spc="400" dirty="0">
                <a:solidFill>
                  <a:srgbClr val="FFE600"/>
                </a:solidFill>
                <a:latin typeface="Calibri" pitchFamily="34" charset="0"/>
                <a:ea typeface="Calibri" pitchFamily="34" charset="-122"/>
                <a:cs typeface="Calibri" pitchFamily="34" charset="-120"/>
              </a:rPr>
              <a:t>HOW IT WORKS</a:t>
            </a:r>
            <a:endParaRPr lang="en-US" sz="1000" dirty="0"/>
          </a:p>
        </p:txBody>
      </p:sp>
      <p:sp>
        <p:nvSpPr>
          <p:cNvPr id="5" name="Text 3"/>
          <p:cNvSpPr/>
          <p:nvPr/>
        </p:nvSpPr>
        <p:spPr>
          <a:xfrm>
            <a:off x="457200" y="530352"/>
            <a:ext cx="8229600" cy="658368"/>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From Request to Standards-Compliant Output</a:t>
            </a:r>
            <a:endParaRPr lang="en-US" sz="3000" dirty="0"/>
          </a:p>
        </p:txBody>
      </p:sp>
      <p:sp>
        <p:nvSpPr>
          <p:cNvPr id="6" name="Shape 4"/>
          <p:cNvSpPr/>
          <p:nvPr/>
        </p:nvSpPr>
        <p:spPr>
          <a:xfrm>
            <a:off x="1865376" y="2377440"/>
            <a:ext cx="146304" cy="50292"/>
          </a:xfrm>
          <a:prstGeom prst="rect">
            <a:avLst/>
          </a:prstGeom>
          <a:solidFill>
            <a:srgbClr val="747480">
              <a:alpha val="60000"/>
            </a:srgbClr>
          </a:solidFill>
          <a:ln w="12700">
            <a:solidFill>
              <a:srgbClr val="747480">
                <a:alpha val="60000"/>
              </a:srgbClr>
            </a:solidFill>
            <a:prstDash val="solid"/>
          </a:ln>
        </p:spPr>
      </p:sp>
      <p:sp>
        <p:nvSpPr>
          <p:cNvPr id="7" name="Text 5"/>
          <p:cNvSpPr/>
          <p:nvPr/>
        </p:nvSpPr>
        <p:spPr>
          <a:xfrm>
            <a:off x="1911096" y="2267712"/>
            <a:ext cx="201168" cy="237744"/>
          </a:xfrm>
          <a:prstGeom prst="rect">
            <a:avLst/>
          </a:prstGeom>
          <a:noFill/>
          <a:ln/>
        </p:spPr>
        <p:txBody>
          <a:bodyPr wrap="square" lIns="0" tIns="0" rIns="0" bIns="0" rtlCol="0" anchor="ctr"/>
          <a:lstStyle/>
          <a:p>
            <a:pPr marL="0" indent="0" algn="ctr">
              <a:buNone/>
            </a:pPr>
            <a:r>
              <a:rPr lang="en-US" sz="1400" dirty="0">
                <a:solidFill>
                  <a:srgbClr val="747480"/>
                </a:solidFill>
              </a:rPr>
              <a:t>›</a:t>
            </a:r>
            <a:endParaRPr lang="en-US" sz="1400" dirty="0"/>
          </a:p>
        </p:txBody>
      </p:sp>
      <p:sp>
        <p:nvSpPr>
          <p:cNvPr id="8" name="Shape 6"/>
          <p:cNvSpPr/>
          <p:nvPr/>
        </p:nvSpPr>
        <p:spPr>
          <a:xfrm>
            <a:off x="256032" y="1389888"/>
            <a:ext cx="1609344" cy="3218688"/>
          </a:xfrm>
          <a:prstGeom prst="roundRect">
            <a:avLst>
              <a:gd name="adj" fmla="val 7955"/>
            </a:avLst>
          </a:prstGeom>
          <a:solidFill>
            <a:srgbClr val="23232F"/>
          </a:solidFill>
          <a:ln w="12700">
            <a:solidFill>
              <a:srgbClr val="FFE600">
                <a:alpha val="62000"/>
              </a:srgbClr>
            </a:solidFill>
            <a:prstDash val="solid"/>
          </a:ln>
          <a:effectLst>
            <a:outerShdw blurRad="177800" dist="50800" dir="2700000" algn="bl" rotWithShape="0">
              <a:srgbClr val="000000">
                <a:alpha val="40000"/>
              </a:srgbClr>
            </a:outerShdw>
          </a:effectLst>
        </p:spPr>
      </p:sp>
      <p:sp>
        <p:nvSpPr>
          <p:cNvPr id="9" name="Shape 7"/>
          <p:cNvSpPr/>
          <p:nvPr/>
        </p:nvSpPr>
        <p:spPr>
          <a:xfrm>
            <a:off x="256032" y="1389888"/>
            <a:ext cx="1609344" cy="64008"/>
          </a:xfrm>
          <a:prstGeom prst="roundRect">
            <a:avLst>
              <a:gd name="adj" fmla="val 57143"/>
            </a:avLst>
          </a:prstGeom>
          <a:solidFill>
            <a:srgbClr val="FFE600"/>
          </a:solidFill>
          <a:ln w="12700">
            <a:solidFill>
              <a:srgbClr val="FFE600"/>
            </a:solidFill>
            <a:prstDash val="solid"/>
          </a:ln>
        </p:spPr>
      </p:sp>
      <p:sp>
        <p:nvSpPr>
          <p:cNvPr id="10" name="Shape 8"/>
          <p:cNvSpPr/>
          <p:nvPr/>
        </p:nvSpPr>
        <p:spPr>
          <a:xfrm>
            <a:off x="713232" y="1627632"/>
            <a:ext cx="694944" cy="694944"/>
          </a:xfrm>
          <a:prstGeom prst="ellipse">
            <a:avLst/>
          </a:prstGeom>
          <a:solidFill>
            <a:srgbClr val="FFE600">
              <a:alpha val="86000"/>
            </a:srgbClr>
          </a:solidFill>
          <a:ln w="12700">
            <a:solidFill>
              <a:srgbClr val="FFE600">
                <a:alpha val="68000"/>
              </a:srgbClr>
            </a:solidFill>
            <a:prstDash val="solid"/>
          </a:ln>
        </p:spPr>
      </p:sp>
      <p:sp>
        <p:nvSpPr>
          <p:cNvPr id="11" name="Text 9"/>
          <p:cNvSpPr/>
          <p:nvPr/>
        </p:nvSpPr>
        <p:spPr>
          <a:xfrm>
            <a:off x="713232" y="1627632"/>
            <a:ext cx="694944" cy="694944"/>
          </a:xfrm>
          <a:prstGeom prst="rect">
            <a:avLst/>
          </a:prstGeom>
          <a:noFill/>
          <a:ln/>
        </p:spPr>
        <p:txBody>
          <a:bodyPr wrap="square" lIns="0" tIns="0" rIns="0" bIns="0" rtlCol="0" anchor="ctr"/>
          <a:lstStyle/>
          <a:p>
            <a:pPr marL="0" indent="0" algn="ctr">
              <a:buNone/>
            </a:pPr>
            <a:r>
              <a:rPr lang="en-US" sz="1800" b="1" dirty="0">
                <a:solidFill>
                  <a:srgbClr val="1A1A24"/>
                </a:solidFill>
                <a:latin typeface="Cambria" pitchFamily="34" charset="0"/>
                <a:ea typeface="Cambria" pitchFamily="34" charset="-122"/>
                <a:cs typeface="Cambria" pitchFamily="34" charset="-120"/>
              </a:rPr>
              <a:t>01</a:t>
            </a:r>
            <a:endParaRPr lang="en-US" sz="1800" dirty="0"/>
          </a:p>
        </p:txBody>
      </p:sp>
      <p:sp>
        <p:nvSpPr>
          <p:cNvPr id="12" name="Text 10"/>
          <p:cNvSpPr/>
          <p:nvPr/>
        </p:nvSpPr>
        <p:spPr>
          <a:xfrm>
            <a:off x="347472" y="2423160"/>
            <a:ext cx="1426464" cy="82296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Developer</a:t>
            </a:r>
            <a:endParaRPr lang="en-US" sz="1350" dirty="0"/>
          </a:p>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Request</a:t>
            </a:r>
            <a:endParaRPr lang="en-US" sz="1350" dirty="0"/>
          </a:p>
        </p:txBody>
      </p:sp>
      <p:sp>
        <p:nvSpPr>
          <p:cNvPr id="13" name="Text 11"/>
          <p:cNvSpPr/>
          <p:nvPr/>
        </p:nvSpPr>
        <p:spPr>
          <a:xfrm>
            <a:off x="347472" y="3291840"/>
            <a:ext cx="1426464" cy="1115568"/>
          </a:xfrm>
          <a:prstGeom prst="rect">
            <a:avLst/>
          </a:prstGeom>
          <a:noFill/>
          <a:ln/>
        </p:spPr>
        <p:txBody>
          <a:bodyPr wrap="square" lIns="0" tIns="0" rIns="0" bIns="0" rtlCol="0" anchor="ctr"/>
          <a:lstStyle/>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Task arrives from</a:t>
            </a:r>
            <a:endParaRPr lang="en-US" sz="1000" dirty="0"/>
          </a:p>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developer or tool</a:t>
            </a:r>
            <a:endParaRPr lang="en-US" sz="1000" dirty="0"/>
          </a:p>
        </p:txBody>
      </p:sp>
      <p:sp>
        <p:nvSpPr>
          <p:cNvPr id="14" name="Shape 12"/>
          <p:cNvSpPr/>
          <p:nvPr/>
        </p:nvSpPr>
        <p:spPr>
          <a:xfrm>
            <a:off x="3621024" y="2377440"/>
            <a:ext cx="146304" cy="50292"/>
          </a:xfrm>
          <a:prstGeom prst="rect">
            <a:avLst/>
          </a:prstGeom>
          <a:solidFill>
            <a:srgbClr val="747480">
              <a:alpha val="60000"/>
            </a:srgbClr>
          </a:solidFill>
          <a:ln w="12700">
            <a:solidFill>
              <a:srgbClr val="747480">
                <a:alpha val="60000"/>
              </a:srgbClr>
            </a:solidFill>
            <a:prstDash val="solid"/>
          </a:ln>
        </p:spPr>
      </p:sp>
      <p:sp>
        <p:nvSpPr>
          <p:cNvPr id="15" name="Text 13"/>
          <p:cNvSpPr/>
          <p:nvPr/>
        </p:nvSpPr>
        <p:spPr>
          <a:xfrm>
            <a:off x="3666744" y="2267712"/>
            <a:ext cx="201168" cy="237744"/>
          </a:xfrm>
          <a:prstGeom prst="rect">
            <a:avLst/>
          </a:prstGeom>
          <a:noFill/>
          <a:ln/>
        </p:spPr>
        <p:txBody>
          <a:bodyPr wrap="square" lIns="0" tIns="0" rIns="0" bIns="0" rtlCol="0" anchor="ctr"/>
          <a:lstStyle/>
          <a:p>
            <a:pPr marL="0" indent="0" algn="ctr">
              <a:buNone/>
            </a:pPr>
            <a:r>
              <a:rPr lang="en-US" sz="1400" dirty="0">
                <a:solidFill>
                  <a:srgbClr val="747480"/>
                </a:solidFill>
              </a:rPr>
              <a:t>›</a:t>
            </a:r>
            <a:endParaRPr lang="en-US" sz="1400" dirty="0"/>
          </a:p>
        </p:txBody>
      </p:sp>
      <p:sp>
        <p:nvSpPr>
          <p:cNvPr id="16" name="Shape 14"/>
          <p:cNvSpPr/>
          <p:nvPr/>
        </p:nvSpPr>
        <p:spPr>
          <a:xfrm>
            <a:off x="2011680" y="1389888"/>
            <a:ext cx="1609344" cy="3218688"/>
          </a:xfrm>
          <a:prstGeom prst="roundRect">
            <a:avLst>
              <a:gd name="adj" fmla="val 7955"/>
            </a:avLst>
          </a:prstGeom>
          <a:solidFill>
            <a:srgbClr val="23232F"/>
          </a:solidFill>
          <a:ln w="12700">
            <a:solidFill>
              <a:srgbClr val="188CE5">
                <a:alpha val="62000"/>
              </a:srgbClr>
            </a:solidFill>
            <a:prstDash val="solid"/>
          </a:ln>
          <a:effectLst>
            <a:outerShdw blurRad="177800" dist="50800" dir="2700000" algn="bl" rotWithShape="0">
              <a:srgbClr val="000000">
                <a:alpha val="40000"/>
              </a:srgbClr>
            </a:outerShdw>
          </a:effectLst>
        </p:spPr>
      </p:sp>
      <p:sp>
        <p:nvSpPr>
          <p:cNvPr id="17" name="Shape 15"/>
          <p:cNvSpPr/>
          <p:nvPr/>
        </p:nvSpPr>
        <p:spPr>
          <a:xfrm>
            <a:off x="2011680" y="1389888"/>
            <a:ext cx="1609344" cy="64008"/>
          </a:xfrm>
          <a:prstGeom prst="roundRect">
            <a:avLst>
              <a:gd name="adj" fmla="val 57143"/>
            </a:avLst>
          </a:prstGeom>
          <a:solidFill>
            <a:srgbClr val="188CE5"/>
          </a:solidFill>
          <a:ln w="12700">
            <a:solidFill>
              <a:srgbClr val="188CE5"/>
            </a:solidFill>
            <a:prstDash val="solid"/>
          </a:ln>
        </p:spPr>
      </p:sp>
      <p:sp>
        <p:nvSpPr>
          <p:cNvPr id="18" name="Shape 16"/>
          <p:cNvSpPr/>
          <p:nvPr/>
        </p:nvSpPr>
        <p:spPr>
          <a:xfrm>
            <a:off x="2468880" y="1627632"/>
            <a:ext cx="694944" cy="694944"/>
          </a:xfrm>
          <a:prstGeom prst="ellipse">
            <a:avLst/>
          </a:prstGeom>
          <a:solidFill>
            <a:srgbClr val="188CE5">
              <a:alpha val="86000"/>
            </a:srgbClr>
          </a:solidFill>
          <a:ln w="12700">
            <a:solidFill>
              <a:srgbClr val="188CE5">
                <a:alpha val="68000"/>
              </a:srgbClr>
            </a:solidFill>
            <a:prstDash val="solid"/>
          </a:ln>
        </p:spPr>
      </p:sp>
      <p:sp>
        <p:nvSpPr>
          <p:cNvPr id="19" name="Text 17"/>
          <p:cNvSpPr/>
          <p:nvPr/>
        </p:nvSpPr>
        <p:spPr>
          <a:xfrm>
            <a:off x="2468880" y="1627632"/>
            <a:ext cx="694944"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20" name="Text 18"/>
          <p:cNvSpPr/>
          <p:nvPr/>
        </p:nvSpPr>
        <p:spPr>
          <a:xfrm>
            <a:off x="2103120" y="2423160"/>
            <a:ext cx="1426464" cy="82296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Read</a:t>
            </a:r>
            <a:endParaRPr lang="en-US" sz="1350" dirty="0"/>
          </a:p>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MASTER.md</a:t>
            </a:r>
            <a:endParaRPr lang="en-US" sz="1350" dirty="0"/>
          </a:p>
        </p:txBody>
      </p:sp>
      <p:sp>
        <p:nvSpPr>
          <p:cNvPr id="21" name="Text 19"/>
          <p:cNvSpPr/>
          <p:nvPr/>
        </p:nvSpPr>
        <p:spPr>
          <a:xfrm>
            <a:off x="2103120" y="3291840"/>
            <a:ext cx="1426464" cy="1115568"/>
          </a:xfrm>
          <a:prstGeom prst="rect">
            <a:avLst/>
          </a:prstGeom>
          <a:noFill/>
          <a:ln/>
        </p:spPr>
        <p:txBody>
          <a:bodyPr wrap="square" lIns="0" tIns="0" rIns="0" bIns="0" rtlCol="0" anchor="ctr"/>
          <a:lstStyle/>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Orchestrator loads</a:t>
            </a:r>
            <a:endParaRPr lang="en-US" sz="1000" dirty="0"/>
          </a:p>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all relevant modules</a:t>
            </a:r>
            <a:endParaRPr lang="en-US" sz="1000" dirty="0"/>
          </a:p>
        </p:txBody>
      </p:sp>
      <p:sp>
        <p:nvSpPr>
          <p:cNvPr id="22" name="Shape 20"/>
          <p:cNvSpPr/>
          <p:nvPr/>
        </p:nvSpPr>
        <p:spPr>
          <a:xfrm>
            <a:off x="5376672" y="2377440"/>
            <a:ext cx="146304" cy="50292"/>
          </a:xfrm>
          <a:prstGeom prst="rect">
            <a:avLst/>
          </a:prstGeom>
          <a:solidFill>
            <a:srgbClr val="747480">
              <a:alpha val="60000"/>
            </a:srgbClr>
          </a:solidFill>
          <a:ln w="12700">
            <a:solidFill>
              <a:srgbClr val="747480">
                <a:alpha val="60000"/>
              </a:srgbClr>
            </a:solidFill>
            <a:prstDash val="solid"/>
          </a:ln>
        </p:spPr>
      </p:sp>
      <p:sp>
        <p:nvSpPr>
          <p:cNvPr id="23" name="Text 21"/>
          <p:cNvSpPr/>
          <p:nvPr/>
        </p:nvSpPr>
        <p:spPr>
          <a:xfrm>
            <a:off x="5422392" y="2267712"/>
            <a:ext cx="201168" cy="237744"/>
          </a:xfrm>
          <a:prstGeom prst="rect">
            <a:avLst/>
          </a:prstGeom>
          <a:noFill/>
          <a:ln/>
        </p:spPr>
        <p:txBody>
          <a:bodyPr wrap="square" lIns="0" tIns="0" rIns="0" bIns="0" rtlCol="0" anchor="ctr"/>
          <a:lstStyle/>
          <a:p>
            <a:pPr marL="0" indent="0" algn="ctr">
              <a:buNone/>
            </a:pPr>
            <a:r>
              <a:rPr lang="en-US" sz="1400" dirty="0">
                <a:solidFill>
                  <a:srgbClr val="747480"/>
                </a:solidFill>
              </a:rPr>
              <a:t>›</a:t>
            </a:r>
            <a:endParaRPr lang="en-US" sz="1400" dirty="0"/>
          </a:p>
        </p:txBody>
      </p:sp>
      <p:sp>
        <p:nvSpPr>
          <p:cNvPr id="24" name="Shape 22"/>
          <p:cNvSpPr/>
          <p:nvPr/>
        </p:nvSpPr>
        <p:spPr>
          <a:xfrm>
            <a:off x="3767328" y="1389888"/>
            <a:ext cx="1609344" cy="3218688"/>
          </a:xfrm>
          <a:prstGeom prst="roundRect">
            <a:avLst>
              <a:gd name="adj" fmla="val 7955"/>
            </a:avLst>
          </a:prstGeom>
          <a:solidFill>
            <a:srgbClr val="23232F"/>
          </a:solidFill>
          <a:ln w="12700">
            <a:solidFill>
              <a:srgbClr val="FFE600">
                <a:alpha val="62000"/>
              </a:srgbClr>
            </a:solidFill>
            <a:prstDash val="solid"/>
          </a:ln>
          <a:effectLst>
            <a:outerShdw blurRad="177800" dist="50800" dir="2700000" algn="bl" rotWithShape="0">
              <a:srgbClr val="000000">
                <a:alpha val="40000"/>
              </a:srgbClr>
            </a:outerShdw>
          </a:effectLst>
        </p:spPr>
      </p:sp>
      <p:sp>
        <p:nvSpPr>
          <p:cNvPr id="25" name="Shape 23"/>
          <p:cNvSpPr/>
          <p:nvPr/>
        </p:nvSpPr>
        <p:spPr>
          <a:xfrm>
            <a:off x="3767328" y="1389888"/>
            <a:ext cx="1609344" cy="64008"/>
          </a:xfrm>
          <a:prstGeom prst="roundRect">
            <a:avLst>
              <a:gd name="adj" fmla="val 57143"/>
            </a:avLst>
          </a:prstGeom>
          <a:solidFill>
            <a:srgbClr val="FFE600"/>
          </a:solidFill>
          <a:ln w="12700">
            <a:solidFill>
              <a:srgbClr val="FFE600"/>
            </a:solidFill>
            <a:prstDash val="solid"/>
          </a:ln>
        </p:spPr>
      </p:sp>
      <p:sp>
        <p:nvSpPr>
          <p:cNvPr id="26" name="Shape 24"/>
          <p:cNvSpPr/>
          <p:nvPr/>
        </p:nvSpPr>
        <p:spPr>
          <a:xfrm>
            <a:off x="4224528" y="1627632"/>
            <a:ext cx="694944" cy="694944"/>
          </a:xfrm>
          <a:prstGeom prst="ellipse">
            <a:avLst/>
          </a:prstGeom>
          <a:solidFill>
            <a:srgbClr val="FFE600">
              <a:alpha val="86000"/>
            </a:srgbClr>
          </a:solidFill>
          <a:ln w="12700">
            <a:solidFill>
              <a:srgbClr val="FFE600">
                <a:alpha val="68000"/>
              </a:srgbClr>
            </a:solidFill>
            <a:prstDash val="solid"/>
          </a:ln>
        </p:spPr>
      </p:sp>
      <p:sp>
        <p:nvSpPr>
          <p:cNvPr id="27" name="Text 25"/>
          <p:cNvSpPr/>
          <p:nvPr/>
        </p:nvSpPr>
        <p:spPr>
          <a:xfrm>
            <a:off x="4224528" y="1627632"/>
            <a:ext cx="694944" cy="694944"/>
          </a:xfrm>
          <a:prstGeom prst="rect">
            <a:avLst/>
          </a:prstGeom>
          <a:noFill/>
          <a:ln/>
        </p:spPr>
        <p:txBody>
          <a:bodyPr wrap="square" lIns="0" tIns="0" rIns="0" bIns="0" rtlCol="0" anchor="ctr"/>
          <a:lstStyle/>
          <a:p>
            <a:pPr marL="0" indent="0" algn="ctr">
              <a:buNone/>
            </a:pPr>
            <a:r>
              <a:rPr lang="en-US" sz="1800" b="1" dirty="0">
                <a:solidFill>
                  <a:srgbClr val="1A1A24"/>
                </a:solidFill>
                <a:latin typeface="Cambria" pitchFamily="34" charset="0"/>
                <a:ea typeface="Cambria" pitchFamily="34" charset="-122"/>
                <a:cs typeface="Cambria" pitchFamily="34" charset="-120"/>
              </a:rPr>
              <a:t>03</a:t>
            </a:r>
            <a:endParaRPr lang="en-US" sz="1800" dirty="0"/>
          </a:p>
        </p:txBody>
      </p:sp>
      <p:sp>
        <p:nvSpPr>
          <p:cNvPr id="28" name="Text 26"/>
          <p:cNvSpPr/>
          <p:nvPr/>
        </p:nvSpPr>
        <p:spPr>
          <a:xfrm>
            <a:off x="3858768" y="2423160"/>
            <a:ext cx="1426464" cy="82296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Ask</a:t>
            </a:r>
            <a:endParaRPr lang="en-US" sz="1350" dirty="0"/>
          </a:p>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First</a:t>
            </a:r>
            <a:endParaRPr lang="en-US" sz="1350" dirty="0"/>
          </a:p>
        </p:txBody>
      </p:sp>
      <p:sp>
        <p:nvSpPr>
          <p:cNvPr id="29" name="Text 27"/>
          <p:cNvSpPr/>
          <p:nvPr/>
        </p:nvSpPr>
        <p:spPr>
          <a:xfrm>
            <a:off x="3858768" y="3291840"/>
            <a:ext cx="1426464" cy="1115568"/>
          </a:xfrm>
          <a:prstGeom prst="rect">
            <a:avLst/>
          </a:prstGeom>
          <a:noFill/>
          <a:ln/>
        </p:spPr>
        <p:txBody>
          <a:bodyPr wrap="square" lIns="0" tIns="0" rIns="0" bIns="0" rtlCol="0" anchor="ctr"/>
          <a:lstStyle/>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Missing info?</a:t>
            </a:r>
            <a:endParaRPr lang="en-US" sz="1000" dirty="0"/>
          </a:p>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Agent asks — never assumes</a:t>
            </a:r>
            <a:endParaRPr lang="en-US" sz="1000" dirty="0"/>
          </a:p>
        </p:txBody>
      </p:sp>
      <p:sp>
        <p:nvSpPr>
          <p:cNvPr id="30" name="Shape 28"/>
          <p:cNvSpPr/>
          <p:nvPr/>
        </p:nvSpPr>
        <p:spPr>
          <a:xfrm>
            <a:off x="7132320" y="2377440"/>
            <a:ext cx="146304" cy="50292"/>
          </a:xfrm>
          <a:prstGeom prst="rect">
            <a:avLst/>
          </a:prstGeom>
          <a:solidFill>
            <a:srgbClr val="747480">
              <a:alpha val="60000"/>
            </a:srgbClr>
          </a:solidFill>
          <a:ln w="12700">
            <a:solidFill>
              <a:srgbClr val="747480">
                <a:alpha val="60000"/>
              </a:srgbClr>
            </a:solidFill>
            <a:prstDash val="solid"/>
          </a:ln>
        </p:spPr>
      </p:sp>
      <p:sp>
        <p:nvSpPr>
          <p:cNvPr id="31" name="Text 29"/>
          <p:cNvSpPr/>
          <p:nvPr/>
        </p:nvSpPr>
        <p:spPr>
          <a:xfrm>
            <a:off x="7178040" y="2267712"/>
            <a:ext cx="201168" cy="237744"/>
          </a:xfrm>
          <a:prstGeom prst="rect">
            <a:avLst/>
          </a:prstGeom>
          <a:noFill/>
          <a:ln/>
        </p:spPr>
        <p:txBody>
          <a:bodyPr wrap="square" lIns="0" tIns="0" rIns="0" bIns="0" rtlCol="0" anchor="ctr"/>
          <a:lstStyle/>
          <a:p>
            <a:pPr marL="0" indent="0" algn="ctr">
              <a:buNone/>
            </a:pPr>
            <a:r>
              <a:rPr lang="en-US" sz="1400" dirty="0">
                <a:solidFill>
                  <a:srgbClr val="747480"/>
                </a:solidFill>
              </a:rPr>
              <a:t>›</a:t>
            </a:r>
            <a:endParaRPr lang="en-US" sz="1400" dirty="0"/>
          </a:p>
        </p:txBody>
      </p:sp>
      <p:sp>
        <p:nvSpPr>
          <p:cNvPr id="32" name="Shape 30"/>
          <p:cNvSpPr/>
          <p:nvPr/>
        </p:nvSpPr>
        <p:spPr>
          <a:xfrm>
            <a:off x="5522976" y="1389888"/>
            <a:ext cx="1609344" cy="3218688"/>
          </a:xfrm>
          <a:prstGeom prst="roundRect">
            <a:avLst>
              <a:gd name="adj" fmla="val 7955"/>
            </a:avLst>
          </a:prstGeom>
          <a:solidFill>
            <a:srgbClr val="23232F"/>
          </a:solidFill>
          <a:ln w="12700">
            <a:solidFill>
              <a:srgbClr val="188CE5">
                <a:alpha val="62000"/>
              </a:srgbClr>
            </a:solidFill>
            <a:prstDash val="solid"/>
          </a:ln>
          <a:effectLst>
            <a:outerShdw blurRad="177800" dist="50800" dir="2700000" algn="bl" rotWithShape="0">
              <a:srgbClr val="000000">
                <a:alpha val="40000"/>
              </a:srgbClr>
            </a:outerShdw>
          </a:effectLst>
        </p:spPr>
      </p:sp>
      <p:sp>
        <p:nvSpPr>
          <p:cNvPr id="33" name="Shape 31"/>
          <p:cNvSpPr/>
          <p:nvPr/>
        </p:nvSpPr>
        <p:spPr>
          <a:xfrm>
            <a:off x="5522976" y="1389888"/>
            <a:ext cx="1609344" cy="64008"/>
          </a:xfrm>
          <a:prstGeom prst="roundRect">
            <a:avLst>
              <a:gd name="adj" fmla="val 57143"/>
            </a:avLst>
          </a:prstGeom>
          <a:solidFill>
            <a:srgbClr val="188CE5"/>
          </a:solidFill>
          <a:ln w="12700">
            <a:solidFill>
              <a:srgbClr val="188CE5"/>
            </a:solidFill>
            <a:prstDash val="solid"/>
          </a:ln>
        </p:spPr>
      </p:sp>
      <p:sp>
        <p:nvSpPr>
          <p:cNvPr id="34" name="Shape 32"/>
          <p:cNvSpPr/>
          <p:nvPr/>
        </p:nvSpPr>
        <p:spPr>
          <a:xfrm>
            <a:off x="5980176" y="1627632"/>
            <a:ext cx="694944" cy="694944"/>
          </a:xfrm>
          <a:prstGeom prst="ellipse">
            <a:avLst/>
          </a:prstGeom>
          <a:solidFill>
            <a:srgbClr val="188CE5">
              <a:alpha val="86000"/>
            </a:srgbClr>
          </a:solidFill>
          <a:ln w="12700">
            <a:solidFill>
              <a:srgbClr val="188CE5">
                <a:alpha val="68000"/>
              </a:srgbClr>
            </a:solidFill>
            <a:prstDash val="solid"/>
          </a:ln>
        </p:spPr>
      </p:sp>
      <p:sp>
        <p:nvSpPr>
          <p:cNvPr id="35" name="Text 33"/>
          <p:cNvSpPr/>
          <p:nvPr/>
        </p:nvSpPr>
        <p:spPr>
          <a:xfrm>
            <a:off x="5980176" y="1627632"/>
            <a:ext cx="694944" cy="69494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36" name="Text 34"/>
          <p:cNvSpPr/>
          <p:nvPr/>
        </p:nvSpPr>
        <p:spPr>
          <a:xfrm>
            <a:off x="5614416" y="2423160"/>
            <a:ext cx="1426464" cy="82296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Apply</a:t>
            </a:r>
            <a:endParaRPr lang="en-US" sz="1350" dirty="0"/>
          </a:p>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Standards</a:t>
            </a:r>
            <a:endParaRPr lang="en-US" sz="1350" dirty="0"/>
          </a:p>
        </p:txBody>
      </p:sp>
      <p:sp>
        <p:nvSpPr>
          <p:cNvPr id="37" name="Text 35"/>
          <p:cNvSpPr/>
          <p:nvPr/>
        </p:nvSpPr>
        <p:spPr>
          <a:xfrm>
            <a:off x="5614416" y="3291840"/>
            <a:ext cx="1426464" cy="1115568"/>
          </a:xfrm>
          <a:prstGeom prst="rect">
            <a:avLst/>
          </a:prstGeom>
          <a:noFill/>
          <a:ln/>
        </p:spPr>
        <p:txBody>
          <a:bodyPr wrap="square" lIns="0" tIns="0" rIns="0" bIns="0" rtlCol="0" anchor="ctr"/>
          <a:lstStyle/>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All rules applied</a:t>
            </a:r>
            <a:endParaRPr lang="en-US" sz="1000" dirty="0"/>
          </a:p>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automatically</a:t>
            </a:r>
            <a:endParaRPr lang="en-US" sz="1000" dirty="0"/>
          </a:p>
        </p:txBody>
      </p:sp>
      <p:sp>
        <p:nvSpPr>
          <p:cNvPr id="38" name="Shape 36"/>
          <p:cNvSpPr/>
          <p:nvPr/>
        </p:nvSpPr>
        <p:spPr>
          <a:xfrm>
            <a:off x="7278624" y="1389888"/>
            <a:ext cx="1609344" cy="3218688"/>
          </a:xfrm>
          <a:prstGeom prst="roundRect">
            <a:avLst>
              <a:gd name="adj" fmla="val 7955"/>
            </a:avLst>
          </a:prstGeom>
          <a:solidFill>
            <a:srgbClr val="23232F"/>
          </a:solidFill>
          <a:ln w="12700">
            <a:solidFill>
              <a:srgbClr val="FFE600">
                <a:alpha val="62000"/>
              </a:srgbClr>
            </a:solidFill>
            <a:prstDash val="solid"/>
          </a:ln>
          <a:effectLst>
            <a:outerShdw blurRad="177800" dist="50800" dir="2700000" algn="bl" rotWithShape="0">
              <a:srgbClr val="000000">
                <a:alpha val="40000"/>
              </a:srgbClr>
            </a:outerShdw>
          </a:effectLst>
        </p:spPr>
      </p:sp>
      <p:sp>
        <p:nvSpPr>
          <p:cNvPr id="39" name="Shape 37"/>
          <p:cNvSpPr/>
          <p:nvPr/>
        </p:nvSpPr>
        <p:spPr>
          <a:xfrm>
            <a:off x="7278624" y="1389888"/>
            <a:ext cx="1609344" cy="64008"/>
          </a:xfrm>
          <a:prstGeom prst="roundRect">
            <a:avLst>
              <a:gd name="adj" fmla="val 57143"/>
            </a:avLst>
          </a:prstGeom>
          <a:solidFill>
            <a:srgbClr val="FFE600"/>
          </a:solidFill>
          <a:ln w="12700">
            <a:solidFill>
              <a:srgbClr val="FFE600"/>
            </a:solidFill>
            <a:prstDash val="solid"/>
          </a:ln>
        </p:spPr>
      </p:sp>
      <p:sp>
        <p:nvSpPr>
          <p:cNvPr id="40" name="Shape 38"/>
          <p:cNvSpPr/>
          <p:nvPr/>
        </p:nvSpPr>
        <p:spPr>
          <a:xfrm>
            <a:off x="7735824" y="1627632"/>
            <a:ext cx="694944" cy="694944"/>
          </a:xfrm>
          <a:prstGeom prst="ellipse">
            <a:avLst/>
          </a:prstGeom>
          <a:solidFill>
            <a:srgbClr val="FFE600">
              <a:alpha val="86000"/>
            </a:srgbClr>
          </a:solidFill>
          <a:ln w="12700">
            <a:solidFill>
              <a:srgbClr val="FFE600">
                <a:alpha val="68000"/>
              </a:srgbClr>
            </a:solidFill>
            <a:prstDash val="solid"/>
          </a:ln>
        </p:spPr>
      </p:sp>
      <p:sp>
        <p:nvSpPr>
          <p:cNvPr id="41" name="Text 39"/>
          <p:cNvSpPr/>
          <p:nvPr/>
        </p:nvSpPr>
        <p:spPr>
          <a:xfrm>
            <a:off x="7735824" y="1627632"/>
            <a:ext cx="694944" cy="694944"/>
          </a:xfrm>
          <a:prstGeom prst="rect">
            <a:avLst/>
          </a:prstGeom>
          <a:noFill/>
          <a:ln/>
        </p:spPr>
        <p:txBody>
          <a:bodyPr wrap="square" lIns="0" tIns="0" rIns="0" bIns="0" rtlCol="0" anchor="ctr"/>
          <a:lstStyle/>
          <a:p>
            <a:pPr marL="0" indent="0" algn="ctr">
              <a:buNone/>
            </a:pPr>
            <a:r>
              <a:rPr lang="en-US" sz="1800" b="1" dirty="0">
                <a:solidFill>
                  <a:srgbClr val="1A1A24"/>
                </a:solidFill>
                <a:latin typeface="Cambria" pitchFamily="34" charset="0"/>
                <a:ea typeface="Cambria" pitchFamily="34" charset="-122"/>
                <a:cs typeface="Cambria" pitchFamily="34" charset="-120"/>
              </a:rPr>
              <a:t>05</a:t>
            </a:r>
            <a:endParaRPr lang="en-US" sz="1800" dirty="0"/>
          </a:p>
        </p:txBody>
      </p:sp>
      <p:sp>
        <p:nvSpPr>
          <p:cNvPr id="42" name="Text 40"/>
          <p:cNvSpPr/>
          <p:nvPr/>
        </p:nvSpPr>
        <p:spPr>
          <a:xfrm>
            <a:off x="7370064" y="2423160"/>
            <a:ext cx="1426464" cy="822960"/>
          </a:xfrm>
          <a:prstGeom prst="rect">
            <a:avLst/>
          </a:prstGeom>
          <a:noFill/>
          <a:ln/>
        </p:spPr>
        <p:txBody>
          <a:bodyPr wrap="square" lIns="0" tIns="0" rIns="0" bIns="0" rtlCol="0" anchor="ctr"/>
          <a:lstStyle/>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Compliant</a:t>
            </a:r>
            <a:endParaRPr lang="en-US" sz="1350" dirty="0"/>
          </a:p>
          <a:p>
            <a:pPr marL="0" indent="0" algn="ctr">
              <a:lnSpc>
                <a:spcPct val="115000"/>
              </a:lnSpc>
              <a:buNone/>
            </a:pPr>
            <a:r>
              <a:rPr lang="en-US" sz="1350" b="1" dirty="0">
                <a:solidFill>
                  <a:srgbClr val="FFFFFF"/>
                </a:solidFill>
                <a:latin typeface="Calibri" pitchFamily="34" charset="0"/>
                <a:ea typeface="Calibri" pitchFamily="34" charset="-122"/>
                <a:cs typeface="Calibri" pitchFamily="34" charset="-120"/>
              </a:rPr>
              <a:t>Output</a:t>
            </a:r>
            <a:endParaRPr lang="en-US" sz="1350" dirty="0"/>
          </a:p>
        </p:txBody>
      </p:sp>
      <p:sp>
        <p:nvSpPr>
          <p:cNvPr id="43" name="Text 41"/>
          <p:cNvSpPr/>
          <p:nvPr/>
        </p:nvSpPr>
        <p:spPr>
          <a:xfrm>
            <a:off x="7370064" y="3291840"/>
            <a:ext cx="1426464" cy="1115568"/>
          </a:xfrm>
          <a:prstGeom prst="rect">
            <a:avLst/>
          </a:prstGeom>
          <a:noFill/>
          <a:ln/>
        </p:spPr>
        <p:txBody>
          <a:bodyPr wrap="square" lIns="0" tIns="0" rIns="0" bIns="0" rtlCol="0" anchor="ctr"/>
          <a:lstStyle/>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Code that already</a:t>
            </a:r>
            <a:endParaRPr lang="en-US" sz="1000" dirty="0"/>
          </a:p>
          <a:p>
            <a:pPr marL="0" indent="0" algn="ctr">
              <a:lnSpc>
                <a:spcPct val="140000"/>
              </a:lnSpc>
              <a:buNone/>
            </a:pPr>
            <a:r>
              <a:rPr lang="en-US" sz="1000" dirty="0">
                <a:solidFill>
                  <a:srgbClr val="C4C4CF"/>
                </a:solidFill>
                <a:latin typeface="Calibri" pitchFamily="34" charset="0"/>
                <a:ea typeface="Calibri" pitchFamily="34" charset="-122"/>
                <a:cs typeface="Calibri" pitchFamily="34" charset="-120"/>
              </a:rPr>
              <a:t>passes your review</a:t>
            </a:r>
            <a:endParaRPr lang="en-US" sz="1000" dirty="0"/>
          </a:p>
        </p:txBody>
      </p:sp>
      <p:sp>
        <p:nvSpPr>
          <p:cNvPr id="44" name="Shape 42"/>
          <p:cNvSpPr/>
          <p:nvPr/>
        </p:nvSpPr>
        <p:spPr>
          <a:xfrm>
            <a:off x="457200" y="4718304"/>
            <a:ext cx="8229600" cy="329184"/>
          </a:xfrm>
          <a:prstGeom prst="roundRect">
            <a:avLst>
              <a:gd name="adj" fmla="val 16667"/>
            </a:avLst>
          </a:prstGeom>
          <a:solidFill>
            <a:srgbClr val="FFE600">
              <a:alpha val="12000"/>
            </a:srgbClr>
          </a:solidFill>
          <a:ln w="12700">
            <a:solidFill>
              <a:srgbClr val="FFE600">
                <a:alpha val="50000"/>
              </a:srgbClr>
            </a:solidFill>
            <a:prstDash val="solid"/>
          </a:ln>
        </p:spPr>
      </p:sp>
      <p:sp>
        <p:nvSpPr>
          <p:cNvPr id="45" name="Text 43"/>
          <p:cNvSpPr/>
          <p:nvPr/>
        </p:nvSpPr>
        <p:spPr>
          <a:xfrm>
            <a:off x="457200" y="4718304"/>
            <a:ext cx="8229600" cy="329184"/>
          </a:xfrm>
          <a:prstGeom prst="rect">
            <a:avLst/>
          </a:prstGeom>
          <a:noFill/>
          <a:ln/>
        </p:spPr>
        <p:txBody>
          <a:bodyPr wrap="square" lIns="0" tIns="0" rIns="0" bIns="0" rtlCol="0" anchor="ctr"/>
          <a:lstStyle/>
          <a:p>
            <a:pPr marL="0" indent="0" algn="ctr">
              <a:buNone/>
            </a:pPr>
            <a:r>
              <a:rPr lang="en-US" sz="1050" b="1" dirty="0">
                <a:solidFill>
                  <a:srgbClr val="FFE600"/>
                </a:solidFill>
                <a:latin typeface="Calibri" pitchFamily="34" charset="0"/>
                <a:ea typeface="Calibri" pitchFamily="34" charset="-122"/>
                <a:cs typeface="Calibri" pitchFamily="34" charset="-120"/>
              </a:rPr>
              <a:t>⚡  RULE ZERO — If any information is missing the agent stops and asks. It never assumes. It never invents.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4"/>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347472"/>
          </a:xfrm>
          <a:prstGeom prst="rect">
            <a:avLst/>
          </a:prstGeom>
          <a:noFill/>
          <a:ln/>
        </p:spPr>
        <p:txBody>
          <a:bodyPr wrap="square" lIns="0" tIns="0" rIns="0" bIns="0" rtlCol="0" anchor="ctr"/>
          <a:lstStyle/>
          <a:p>
            <a:pPr marL="0" indent="0" algn="ctr">
              <a:buNone/>
            </a:pPr>
            <a:r>
              <a:rPr lang="en-US" sz="1000" b="1" kern="0" spc="400" dirty="0">
                <a:solidFill>
                  <a:srgbClr val="FFE600"/>
                </a:solidFill>
                <a:latin typeface="Calibri" pitchFamily="34" charset="0"/>
                <a:ea typeface="Calibri" pitchFamily="34" charset="-122"/>
                <a:cs typeface="Calibri" pitchFamily="34" charset="-120"/>
              </a:rPr>
              <a:t>PLAYBOOK COVERAGE</a:t>
            </a:r>
            <a:endParaRPr lang="en-US" sz="1000" dirty="0"/>
          </a:p>
        </p:txBody>
      </p:sp>
      <p:sp>
        <p:nvSpPr>
          <p:cNvPr id="3" name="Text 1"/>
          <p:cNvSpPr/>
          <p:nvPr/>
        </p:nvSpPr>
        <p:spPr>
          <a:xfrm>
            <a:off x="457200" y="475488"/>
            <a:ext cx="8229600" cy="621792"/>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Five Domains. One Consistent Standard.</a:t>
            </a:r>
            <a:endParaRPr lang="en-US" sz="2800" dirty="0"/>
          </a:p>
        </p:txBody>
      </p:sp>
      <p:sp>
        <p:nvSpPr>
          <p:cNvPr id="4" name="Shape 2"/>
          <p:cNvSpPr/>
          <p:nvPr/>
        </p:nvSpPr>
        <p:spPr>
          <a:xfrm>
            <a:off x="182880" y="1261872"/>
            <a:ext cx="1700784" cy="3730752"/>
          </a:xfrm>
          <a:prstGeom prst="roundRect">
            <a:avLst>
              <a:gd name="adj" fmla="val 6452"/>
            </a:avLst>
          </a:prstGeom>
          <a:solidFill>
            <a:srgbClr val="23232F"/>
          </a:solidFill>
          <a:ln w="12700">
            <a:solidFill>
              <a:srgbClr val="FFE600">
                <a:alpha val="65000"/>
              </a:srgbClr>
            </a:solidFill>
            <a:prstDash val="solid"/>
          </a:ln>
          <a:effectLst>
            <a:outerShdw blurRad="177800" dist="50800" dir="2700000" algn="bl" rotWithShape="0">
              <a:srgbClr val="000000">
                <a:alpha val="40000"/>
              </a:srgbClr>
            </a:outerShdw>
          </a:effectLst>
        </p:spPr>
      </p:sp>
      <p:sp>
        <p:nvSpPr>
          <p:cNvPr id="5" name="Shape 3"/>
          <p:cNvSpPr/>
          <p:nvPr/>
        </p:nvSpPr>
        <p:spPr>
          <a:xfrm>
            <a:off x="182880" y="1261872"/>
            <a:ext cx="1700784" cy="1325880"/>
          </a:xfrm>
          <a:prstGeom prst="roundRect">
            <a:avLst>
              <a:gd name="adj" fmla="val 8276"/>
            </a:avLst>
          </a:prstGeom>
          <a:solidFill>
            <a:srgbClr val="FFE600">
              <a:alpha val="90000"/>
            </a:srgbClr>
          </a:solidFill>
          <a:ln w="12700">
            <a:solidFill>
              <a:srgbClr val="FFE600">
                <a:alpha val="65000"/>
              </a:srgbClr>
            </a:solidFill>
            <a:prstDash val="solid"/>
          </a:ln>
        </p:spPr>
      </p:sp>
      <p:sp>
        <p:nvSpPr>
          <p:cNvPr id="6" name="Text 4"/>
          <p:cNvSpPr/>
          <p:nvPr/>
        </p:nvSpPr>
        <p:spPr>
          <a:xfrm>
            <a:off x="274320" y="1353312"/>
            <a:ext cx="1517904" cy="1005840"/>
          </a:xfrm>
          <a:prstGeom prst="rect">
            <a:avLst/>
          </a:prstGeom>
          <a:noFill/>
          <a:ln/>
        </p:spPr>
        <p:txBody>
          <a:bodyPr wrap="square" lIns="0" tIns="0" rIns="0" bIns="0" rtlCol="0" anchor="ctr"/>
          <a:lstStyle/>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Data</a:t>
            </a:r>
            <a:endParaRPr lang="en-US" sz="2000" dirty="0"/>
          </a:p>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Layer</a:t>
            </a:r>
            <a:endParaRPr lang="en-US" sz="2000" dirty="0"/>
          </a:p>
        </p:txBody>
      </p:sp>
      <p:sp>
        <p:nvSpPr>
          <p:cNvPr id="7" name="Shape 5"/>
          <p:cNvSpPr/>
          <p:nvPr/>
        </p:nvSpPr>
        <p:spPr>
          <a:xfrm>
            <a:off x="384048" y="2633472"/>
            <a:ext cx="1298448" cy="475488"/>
          </a:xfrm>
          <a:prstGeom prst="roundRect">
            <a:avLst>
              <a:gd name="adj" fmla="val 11538"/>
            </a:avLst>
          </a:prstGeom>
          <a:solidFill>
            <a:srgbClr val="FFE600">
              <a:alpha val="18000"/>
            </a:srgbClr>
          </a:solidFill>
          <a:ln w="12700">
            <a:solidFill>
              <a:srgbClr val="FFE600">
                <a:alpha val="45000"/>
              </a:srgbClr>
            </a:solidFill>
            <a:prstDash val="solid"/>
          </a:ln>
        </p:spPr>
      </p:sp>
      <p:sp>
        <p:nvSpPr>
          <p:cNvPr id="8" name="Text 6"/>
          <p:cNvSpPr/>
          <p:nvPr/>
        </p:nvSpPr>
        <p:spPr>
          <a:xfrm>
            <a:off x="384048" y="2633472"/>
            <a:ext cx="1298448" cy="475488"/>
          </a:xfrm>
          <a:prstGeom prst="rect">
            <a:avLst/>
          </a:prstGeom>
          <a:noFill/>
          <a:ln/>
        </p:spPr>
        <p:txBody>
          <a:bodyPr wrap="square" lIns="0" tIns="0" rIns="0" bIns="0" rtlCol="0" anchor="ctr"/>
          <a:lstStyle/>
          <a:p>
            <a:pPr marL="0" indent="0" algn="ctr">
              <a:lnSpc>
                <a:spcPct val="100000"/>
              </a:lnSpc>
              <a:buNone/>
            </a:pPr>
            <a:r>
              <a:rPr lang="en-US" sz="900" b="1" dirty="0">
                <a:solidFill>
                  <a:srgbClr val="FFE600"/>
                </a:solidFill>
                <a:latin typeface="Calibri" pitchFamily="34" charset="0"/>
                <a:ea typeface="Calibri" pitchFamily="34" charset="-122"/>
                <a:cs typeface="Calibri" pitchFamily="34" charset="-120"/>
              </a:rPr>
              <a:t>8 standards</a:t>
            </a:r>
            <a:endParaRPr lang="en-US" sz="900" dirty="0"/>
          </a:p>
          <a:p>
            <a:pPr marL="0" indent="0" algn="ctr">
              <a:lnSpc>
                <a:spcPct val="100000"/>
              </a:lnSpc>
              <a:buNone/>
            </a:pPr>
            <a:r>
              <a:rPr lang="en-US" sz="900" b="1" dirty="0">
                <a:solidFill>
                  <a:srgbClr val="FFE600"/>
                </a:solidFill>
                <a:latin typeface="Calibri" pitchFamily="34" charset="0"/>
                <a:ea typeface="Calibri" pitchFamily="34" charset="-122"/>
                <a:cs typeface="Calibri" pitchFamily="34" charset="-120"/>
              </a:rPr>
              <a:t>3 patterns</a:t>
            </a:r>
            <a:endParaRPr lang="en-US" sz="900" dirty="0"/>
          </a:p>
        </p:txBody>
      </p:sp>
      <p:sp>
        <p:nvSpPr>
          <p:cNvPr id="9" name="Text 7"/>
          <p:cNvSpPr/>
          <p:nvPr/>
        </p:nvSpPr>
        <p:spPr>
          <a:xfrm>
            <a:off x="310896" y="3227832"/>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Naming &amp; modeling</a:t>
            </a:r>
            <a:endParaRPr lang="en-US" sz="950" dirty="0"/>
          </a:p>
        </p:txBody>
      </p:sp>
      <p:sp>
        <p:nvSpPr>
          <p:cNvPr id="10" name="Text 8"/>
          <p:cNvSpPr/>
          <p:nvPr/>
        </p:nvSpPr>
        <p:spPr>
          <a:xfrm>
            <a:off x="310896" y="3648456"/>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Quality &amp; validation</a:t>
            </a:r>
            <a:endParaRPr lang="en-US" sz="950" dirty="0"/>
          </a:p>
        </p:txBody>
      </p:sp>
      <p:sp>
        <p:nvSpPr>
          <p:cNvPr id="11" name="Text 9"/>
          <p:cNvSpPr/>
          <p:nvPr/>
        </p:nvSpPr>
        <p:spPr>
          <a:xfrm>
            <a:off x="310896" y="4069080"/>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PII &amp; security</a:t>
            </a:r>
            <a:endParaRPr lang="en-US" sz="950" dirty="0"/>
          </a:p>
        </p:txBody>
      </p:sp>
      <p:sp>
        <p:nvSpPr>
          <p:cNvPr id="12" name="Text 10"/>
          <p:cNvSpPr/>
          <p:nvPr/>
        </p:nvSpPr>
        <p:spPr>
          <a:xfrm>
            <a:off x="310896" y="4489704"/>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Pipelines &amp; observability</a:t>
            </a:r>
            <a:endParaRPr lang="en-US" sz="950" dirty="0"/>
          </a:p>
        </p:txBody>
      </p:sp>
      <p:sp>
        <p:nvSpPr>
          <p:cNvPr id="13" name="Shape 11"/>
          <p:cNvSpPr/>
          <p:nvPr/>
        </p:nvSpPr>
        <p:spPr>
          <a:xfrm>
            <a:off x="1952244" y="1261872"/>
            <a:ext cx="1700784" cy="3730752"/>
          </a:xfrm>
          <a:prstGeom prst="roundRect">
            <a:avLst>
              <a:gd name="adj" fmla="val 6452"/>
            </a:avLst>
          </a:prstGeom>
          <a:solidFill>
            <a:srgbClr val="23232F"/>
          </a:solidFill>
          <a:ln w="12700">
            <a:solidFill>
              <a:srgbClr val="188CE5">
                <a:alpha val="65000"/>
              </a:srgbClr>
            </a:solidFill>
            <a:prstDash val="solid"/>
          </a:ln>
          <a:effectLst>
            <a:outerShdw blurRad="177800" dist="50800" dir="2700000" algn="bl" rotWithShape="0">
              <a:srgbClr val="000000">
                <a:alpha val="40000"/>
              </a:srgbClr>
            </a:outerShdw>
          </a:effectLst>
        </p:spPr>
      </p:sp>
      <p:sp>
        <p:nvSpPr>
          <p:cNvPr id="14" name="Shape 12"/>
          <p:cNvSpPr/>
          <p:nvPr/>
        </p:nvSpPr>
        <p:spPr>
          <a:xfrm>
            <a:off x="1952244" y="1261872"/>
            <a:ext cx="1700784" cy="1325880"/>
          </a:xfrm>
          <a:prstGeom prst="roundRect">
            <a:avLst>
              <a:gd name="adj" fmla="val 8276"/>
            </a:avLst>
          </a:prstGeom>
          <a:solidFill>
            <a:srgbClr val="188CE5">
              <a:alpha val="88000"/>
            </a:srgbClr>
          </a:solidFill>
          <a:ln w="12700">
            <a:solidFill>
              <a:srgbClr val="188CE5">
                <a:alpha val="65000"/>
              </a:srgbClr>
            </a:solidFill>
            <a:prstDash val="solid"/>
          </a:ln>
        </p:spPr>
      </p:sp>
      <p:sp>
        <p:nvSpPr>
          <p:cNvPr id="15" name="Text 13"/>
          <p:cNvSpPr/>
          <p:nvPr/>
        </p:nvSpPr>
        <p:spPr>
          <a:xfrm>
            <a:off x="2043684" y="1353312"/>
            <a:ext cx="1517904" cy="1005840"/>
          </a:xfrm>
          <a:prstGeom prst="rect">
            <a:avLst/>
          </a:prstGeom>
          <a:noFill/>
          <a:ln/>
        </p:spPr>
        <p:txBody>
          <a:bodyPr wrap="square" lIns="0" tIns="0" rIns="0" bIns="0" rtlCol="0" anchor="ctr"/>
          <a:lstStyle/>
          <a:p>
            <a:pPr marL="0" indent="0" algn="ctr">
              <a:lnSpc>
                <a:spcPct val="100000"/>
              </a:lnSpc>
              <a:buNone/>
            </a:pPr>
            <a:r>
              <a:rPr lang="en-US" sz="2000" b="1" dirty="0">
                <a:solidFill>
                  <a:srgbClr val="188CE5"/>
                </a:solidFill>
                <a:latin typeface="Cambria" pitchFamily="34" charset="0"/>
                <a:ea typeface="Cambria" pitchFamily="34" charset="-122"/>
                <a:cs typeface="Cambria" pitchFamily="34" charset="-120"/>
              </a:rPr>
              <a:t>API</a:t>
            </a:r>
            <a:endParaRPr lang="en-US" sz="2000" dirty="0"/>
          </a:p>
          <a:p>
            <a:pPr marL="0" indent="0" algn="ctr">
              <a:lnSpc>
                <a:spcPct val="100000"/>
              </a:lnSpc>
              <a:buNone/>
            </a:pPr>
            <a:r>
              <a:rPr lang="en-US" sz="2000" b="1" dirty="0">
                <a:solidFill>
                  <a:srgbClr val="188CE5"/>
                </a:solidFill>
                <a:latin typeface="Cambria" pitchFamily="34" charset="0"/>
                <a:ea typeface="Cambria" pitchFamily="34" charset="-122"/>
                <a:cs typeface="Cambria" pitchFamily="34" charset="-120"/>
              </a:rPr>
              <a:t>Layer</a:t>
            </a:r>
            <a:endParaRPr lang="en-US" sz="2000" dirty="0"/>
          </a:p>
        </p:txBody>
      </p:sp>
      <p:sp>
        <p:nvSpPr>
          <p:cNvPr id="16" name="Shape 14"/>
          <p:cNvSpPr/>
          <p:nvPr/>
        </p:nvSpPr>
        <p:spPr>
          <a:xfrm>
            <a:off x="2153412" y="2633472"/>
            <a:ext cx="1298448" cy="475488"/>
          </a:xfrm>
          <a:prstGeom prst="roundRect">
            <a:avLst>
              <a:gd name="adj" fmla="val 11538"/>
            </a:avLst>
          </a:prstGeom>
          <a:solidFill>
            <a:srgbClr val="188CE5">
              <a:alpha val="18000"/>
            </a:srgbClr>
          </a:solidFill>
          <a:ln w="12700">
            <a:solidFill>
              <a:srgbClr val="188CE5">
                <a:alpha val="45000"/>
              </a:srgbClr>
            </a:solidFill>
            <a:prstDash val="solid"/>
          </a:ln>
        </p:spPr>
      </p:sp>
      <p:sp>
        <p:nvSpPr>
          <p:cNvPr id="17" name="Text 15"/>
          <p:cNvSpPr/>
          <p:nvPr/>
        </p:nvSpPr>
        <p:spPr>
          <a:xfrm>
            <a:off x="2153412" y="2633472"/>
            <a:ext cx="1298448" cy="475488"/>
          </a:xfrm>
          <a:prstGeom prst="rect">
            <a:avLst/>
          </a:prstGeom>
          <a:noFill/>
          <a:ln/>
        </p:spPr>
        <p:txBody>
          <a:bodyPr wrap="square" lIns="0" tIns="0" rIns="0" bIns="0" rtlCol="0" anchor="ctr"/>
          <a:lstStyle/>
          <a:p>
            <a:pPr marL="0" indent="0" algn="ctr">
              <a:lnSpc>
                <a:spcPct val="100000"/>
              </a:lnSpc>
              <a:buNone/>
            </a:pPr>
            <a:r>
              <a:rPr lang="en-US" sz="900" b="1" dirty="0">
                <a:solidFill>
                  <a:srgbClr val="188CE5"/>
                </a:solidFill>
                <a:latin typeface="Calibri" pitchFamily="34" charset="0"/>
                <a:ea typeface="Calibri" pitchFamily="34" charset="-122"/>
                <a:cs typeface="Calibri" pitchFamily="34" charset="-120"/>
              </a:rPr>
              <a:t>2 modules</a:t>
            </a:r>
            <a:endParaRPr lang="en-US" sz="900" dirty="0"/>
          </a:p>
        </p:txBody>
      </p:sp>
      <p:sp>
        <p:nvSpPr>
          <p:cNvPr id="18" name="Text 16"/>
          <p:cNvSpPr/>
          <p:nvPr/>
        </p:nvSpPr>
        <p:spPr>
          <a:xfrm>
            <a:off x="2080260" y="3227832"/>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REST design</a:t>
            </a:r>
            <a:endParaRPr lang="en-US" sz="950" dirty="0"/>
          </a:p>
        </p:txBody>
      </p:sp>
      <p:sp>
        <p:nvSpPr>
          <p:cNvPr id="19" name="Text 17"/>
          <p:cNvSpPr/>
          <p:nvPr/>
        </p:nvSpPr>
        <p:spPr>
          <a:xfrm>
            <a:off x="2080260" y="3648456"/>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Auth &amp; scopes</a:t>
            </a:r>
            <a:endParaRPr lang="en-US" sz="950" dirty="0"/>
          </a:p>
        </p:txBody>
      </p:sp>
      <p:sp>
        <p:nvSpPr>
          <p:cNvPr id="20" name="Text 18"/>
          <p:cNvSpPr/>
          <p:nvPr/>
        </p:nvSpPr>
        <p:spPr>
          <a:xfrm>
            <a:off x="2080260" y="4069080"/>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Error standards</a:t>
            </a:r>
            <a:endParaRPr lang="en-US" sz="950" dirty="0"/>
          </a:p>
        </p:txBody>
      </p:sp>
      <p:sp>
        <p:nvSpPr>
          <p:cNvPr id="21" name="Text 19"/>
          <p:cNvSpPr/>
          <p:nvPr/>
        </p:nvSpPr>
        <p:spPr>
          <a:xfrm>
            <a:off x="2080260" y="4489704"/>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Rate limiting</a:t>
            </a:r>
            <a:endParaRPr lang="en-US" sz="950" dirty="0"/>
          </a:p>
        </p:txBody>
      </p:sp>
      <p:sp>
        <p:nvSpPr>
          <p:cNvPr id="22" name="Shape 20"/>
          <p:cNvSpPr/>
          <p:nvPr/>
        </p:nvSpPr>
        <p:spPr>
          <a:xfrm>
            <a:off x="3721608" y="1261872"/>
            <a:ext cx="1700784" cy="3730752"/>
          </a:xfrm>
          <a:prstGeom prst="roundRect">
            <a:avLst>
              <a:gd name="adj" fmla="val 6452"/>
            </a:avLst>
          </a:prstGeom>
          <a:solidFill>
            <a:srgbClr val="23232F"/>
          </a:solidFill>
          <a:ln w="12700">
            <a:solidFill>
              <a:srgbClr val="FFE600">
                <a:alpha val="65000"/>
              </a:srgbClr>
            </a:solidFill>
            <a:prstDash val="solid"/>
          </a:ln>
          <a:effectLst>
            <a:outerShdw blurRad="177800" dist="50800" dir="2700000" algn="bl" rotWithShape="0">
              <a:srgbClr val="000000">
                <a:alpha val="40000"/>
              </a:srgbClr>
            </a:outerShdw>
          </a:effectLst>
        </p:spPr>
      </p:sp>
      <p:sp>
        <p:nvSpPr>
          <p:cNvPr id="23" name="Shape 21"/>
          <p:cNvSpPr/>
          <p:nvPr/>
        </p:nvSpPr>
        <p:spPr>
          <a:xfrm>
            <a:off x="3721608" y="1261872"/>
            <a:ext cx="1700784" cy="1325880"/>
          </a:xfrm>
          <a:prstGeom prst="roundRect">
            <a:avLst>
              <a:gd name="adj" fmla="val 8276"/>
            </a:avLst>
          </a:prstGeom>
          <a:solidFill>
            <a:srgbClr val="FFE600">
              <a:alpha val="90000"/>
            </a:srgbClr>
          </a:solidFill>
          <a:ln w="12700">
            <a:solidFill>
              <a:srgbClr val="FFE600">
                <a:alpha val="65000"/>
              </a:srgbClr>
            </a:solidFill>
            <a:prstDash val="solid"/>
          </a:ln>
        </p:spPr>
      </p:sp>
      <p:sp>
        <p:nvSpPr>
          <p:cNvPr id="24" name="Text 22"/>
          <p:cNvSpPr/>
          <p:nvPr/>
        </p:nvSpPr>
        <p:spPr>
          <a:xfrm>
            <a:off x="3813048" y="1353312"/>
            <a:ext cx="1517904" cy="1005840"/>
          </a:xfrm>
          <a:prstGeom prst="rect">
            <a:avLst/>
          </a:prstGeom>
          <a:noFill/>
          <a:ln/>
        </p:spPr>
        <p:txBody>
          <a:bodyPr wrap="square" lIns="0" tIns="0" rIns="0" bIns="0" rtlCol="0" anchor="ctr"/>
          <a:lstStyle/>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UI</a:t>
            </a:r>
            <a:endParaRPr lang="en-US" sz="2000" dirty="0"/>
          </a:p>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Layer</a:t>
            </a:r>
            <a:endParaRPr lang="en-US" sz="2000" dirty="0"/>
          </a:p>
        </p:txBody>
      </p:sp>
      <p:sp>
        <p:nvSpPr>
          <p:cNvPr id="25" name="Shape 23"/>
          <p:cNvSpPr/>
          <p:nvPr/>
        </p:nvSpPr>
        <p:spPr>
          <a:xfrm>
            <a:off x="3922776" y="2633472"/>
            <a:ext cx="1298448" cy="475488"/>
          </a:xfrm>
          <a:prstGeom prst="roundRect">
            <a:avLst>
              <a:gd name="adj" fmla="val 11538"/>
            </a:avLst>
          </a:prstGeom>
          <a:solidFill>
            <a:srgbClr val="FFE600">
              <a:alpha val="18000"/>
            </a:srgbClr>
          </a:solidFill>
          <a:ln w="12700">
            <a:solidFill>
              <a:srgbClr val="FFE600">
                <a:alpha val="45000"/>
              </a:srgbClr>
            </a:solidFill>
            <a:prstDash val="solid"/>
          </a:ln>
        </p:spPr>
      </p:sp>
      <p:sp>
        <p:nvSpPr>
          <p:cNvPr id="26" name="Text 24"/>
          <p:cNvSpPr/>
          <p:nvPr/>
        </p:nvSpPr>
        <p:spPr>
          <a:xfrm>
            <a:off x="3922776" y="2633472"/>
            <a:ext cx="1298448" cy="475488"/>
          </a:xfrm>
          <a:prstGeom prst="rect">
            <a:avLst/>
          </a:prstGeom>
          <a:noFill/>
          <a:ln/>
        </p:spPr>
        <p:txBody>
          <a:bodyPr wrap="square" lIns="0" tIns="0" rIns="0" bIns="0" rtlCol="0" anchor="ctr"/>
          <a:lstStyle/>
          <a:p>
            <a:pPr marL="0" indent="0" algn="ctr">
              <a:lnSpc>
                <a:spcPct val="100000"/>
              </a:lnSpc>
              <a:buNone/>
            </a:pPr>
            <a:r>
              <a:rPr lang="en-US" sz="900" b="1" dirty="0">
                <a:solidFill>
                  <a:srgbClr val="FFE600"/>
                </a:solidFill>
                <a:latin typeface="Calibri" pitchFamily="34" charset="0"/>
                <a:ea typeface="Calibri" pitchFamily="34" charset="-122"/>
                <a:cs typeface="Calibri" pitchFamily="34" charset="-120"/>
              </a:rPr>
              <a:t>2 modules</a:t>
            </a:r>
            <a:endParaRPr lang="en-US" sz="900" dirty="0"/>
          </a:p>
        </p:txBody>
      </p:sp>
      <p:sp>
        <p:nvSpPr>
          <p:cNvPr id="27" name="Text 25"/>
          <p:cNvSpPr/>
          <p:nvPr/>
        </p:nvSpPr>
        <p:spPr>
          <a:xfrm>
            <a:off x="3849624" y="3227832"/>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Components</a:t>
            </a:r>
            <a:endParaRPr lang="en-US" sz="950" dirty="0"/>
          </a:p>
        </p:txBody>
      </p:sp>
      <p:sp>
        <p:nvSpPr>
          <p:cNvPr id="28" name="Text 26"/>
          <p:cNvSpPr/>
          <p:nvPr/>
        </p:nvSpPr>
        <p:spPr>
          <a:xfrm>
            <a:off x="3849624" y="3648456"/>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State &amp; fetching</a:t>
            </a:r>
            <a:endParaRPr lang="en-US" sz="950" dirty="0"/>
          </a:p>
        </p:txBody>
      </p:sp>
      <p:sp>
        <p:nvSpPr>
          <p:cNvPr id="29" name="Text 27"/>
          <p:cNvSpPr/>
          <p:nvPr/>
        </p:nvSpPr>
        <p:spPr>
          <a:xfrm>
            <a:off x="3849624" y="4069080"/>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Forms &amp; UX</a:t>
            </a:r>
            <a:endParaRPr lang="en-US" sz="950" dirty="0"/>
          </a:p>
        </p:txBody>
      </p:sp>
      <p:sp>
        <p:nvSpPr>
          <p:cNvPr id="30" name="Text 28"/>
          <p:cNvSpPr/>
          <p:nvPr/>
        </p:nvSpPr>
        <p:spPr>
          <a:xfrm>
            <a:off x="3849624" y="4489704"/>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Accessibility</a:t>
            </a:r>
            <a:endParaRPr lang="en-US" sz="950" dirty="0"/>
          </a:p>
        </p:txBody>
      </p:sp>
      <p:sp>
        <p:nvSpPr>
          <p:cNvPr id="31" name="Shape 29"/>
          <p:cNvSpPr/>
          <p:nvPr/>
        </p:nvSpPr>
        <p:spPr>
          <a:xfrm>
            <a:off x="5490972" y="1261872"/>
            <a:ext cx="1700784" cy="3730752"/>
          </a:xfrm>
          <a:prstGeom prst="roundRect">
            <a:avLst>
              <a:gd name="adj" fmla="val 6452"/>
            </a:avLst>
          </a:prstGeom>
          <a:solidFill>
            <a:srgbClr val="23232F"/>
          </a:solidFill>
          <a:ln w="12700">
            <a:solidFill>
              <a:srgbClr val="188CE5">
                <a:alpha val="65000"/>
              </a:srgbClr>
            </a:solidFill>
            <a:prstDash val="solid"/>
          </a:ln>
          <a:effectLst>
            <a:outerShdw blurRad="177800" dist="50800" dir="2700000" algn="bl" rotWithShape="0">
              <a:srgbClr val="000000">
                <a:alpha val="40000"/>
              </a:srgbClr>
            </a:outerShdw>
          </a:effectLst>
        </p:spPr>
      </p:sp>
      <p:sp>
        <p:nvSpPr>
          <p:cNvPr id="32" name="Shape 30"/>
          <p:cNvSpPr/>
          <p:nvPr/>
        </p:nvSpPr>
        <p:spPr>
          <a:xfrm>
            <a:off x="5490972" y="1261872"/>
            <a:ext cx="1700784" cy="1325880"/>
          </a:xfrm>
          <a:prstGeom prst="roundRect">
            <a:avLst>
              <a:gd name="adj" fmla="val 8276"/>
            </a:avLst>
          </a:prstGeom>
          <a:solidFill>
            <a:srgbClr val="188CE5">
              <a:alpha val="88000"/>
            </a:srgbClr>
          </a:solidFill>
          <a:ln w="12700">
            <a:solidFill>
              <a:srgbClr val="188CE5">
                <a:alpha val="65000"/>
              </a:srgbClr>
            </a:solidFill>
            <a:prstDash val="solid"/>
          </a:ln>
        </p:spPr>
      </p:sp>
      <p:sp>
        <p:nvSpPr>
          <p:cNvPr id="33" name="Text 31"/>
          <p:cNvSpPr/>
          <p:nvPr/>
        </p:nvSpPr>
        <p:spPr>
          <a:xfrm>
            <a:off x="5582412" y="1353312"/>
            <a:ext cx="1517904" cy="1005840"/>
          </a:xfrm>
          <a:prstGeom prst="rect">
            <a:avLst/>
          </a:prstGeom>
          <a:noFill/>
          <a:ln/>
        </p:spPr>
        <p:txBody>
          <a:bodyPr wrap="square" lIns="0" tIns="0" rIns="0" bIns="0" rtlCol="0" anchor="ctr"/>
          <a:lstStyle/>
          <a:p>
            <a:pPr marL="0" indent="0" algn="ctr">
              <a:lnSpc>
                <a:spcPct val="100000"/>
              </a:lnSpc>
              <a:buNone/>
            </a:pPr>
            <a:r>
              <a:rPr lang="en-US" sz="2000" b="1" dirty="0">
                <a:solidFill>
                  <a:srgbClr val="188CE5"/>
                </a:solidFill>
                <a:latin typeface="Cambria" pitchFamily="34" charset="0"/>
                <a:ea typeface="Cambria" pitchFamily="34" charset="-122"/>
                <a:cs typeface="Cambria" pitchFamily="34" charset="-120"/>
              </a:rPr>
              <a:t>MS</a:t>
            </a:r>
            <a:endParaRPr lang="en-US" sz="2000" dirty="0"/>
          </a:p>
          <a:p>
            <a:pPr marL="0" indent="0" algn="ctr">
              <a:lnSpc>
                <a:spcPct val="100000"/>
              </a:lnSpc>
              <a:buNone/>
            </a:pPr>
            <a:r>
              <a:rPr lang="en-US" sz="2000" b="1" dirty="0">
                <a:solidFill>
                  <a:srgbClr val="188CE5"/>
                </a:solidFill>
                <a:latin typeface="Cambria" pitchFamily="34" charset="0"/>
                <a:ea typeface="Cambria" pitchFamily="34" charset="-122"/>
                <a:cs typeface="Cambria" pitchFamily="34" charset="-120"/>
              </a:rPr>
              <a:t>Fabric</a:t>
            </a:r>
            <a:endParaRPr lang="en-US" sz="2000" dirty="0"/>
          </a:p>
        </p:txBody>
      </p:sp>
      <p:sp>
        <p:nvSpPr>
          <p:cNvPr id="34" name="Shape 32"/>
          <p:cNvSpPr/>
          <p:nvPr/>
        </p:nvSpPr>
        <p:spPr>
          <a:xfrm>
            <a:off x="5692140" y="2633472"/>
            <a:ext cx="1298448" cy="475488"/>
          </a:xfrm>
          <a:prstGeom prst="roundRect">
            <a:avLst>
              <a:gd name="adj" fmla="val 11538"/>
            </a:avLst>
          </a:prstGeom>
          <a:solidFill>
            <a:srgbClr val="188CE5">
              <a:alpha val="18000"/>
            </a:srgbClr>
          </a:solidFill>
          <a:ln w="12700">
            <a:solidFill>
              <a:srgbClr val="188CE5">
                <a:alpha val="45000"/>
              </a:srgbClr>
            </a:solidFill>
            <a:prstDash val="solid"/>
          </a:ln>
        </p:spPr>
      </p:sp>
      <p:sp>
        <p:nvSpPr>
          <p:cNvPr id="35" name="Text 33"/>
          <p:cNvSpPr/>
          <p:nvPr/>
        </p:nvSpPr>
        <p:spPr>
          <a:xfrm>
            <a:off x="5692140" y="2633472"/>
            <a:ext cx="1298448" cy="475488"/>
          </a:xfrm>
          <a:prstGeom prst="rect">
            <a:avLst/>
          </a:prstGeom>
          <a:noFill/>
          <a:ln/>
        </p:spPr>
        <p:txBody>
          <a:bodyPr wrap="square" lIns="0" tIns="0" rIns="0" bIns="0" rtlCol="0" anchor="ctr"/>
          <a:lstStyle/>
          <a:p>
            <a:pPr marL="0" indent="0" algn="ctr">
              <a:lnSpc>
                <a:spcPct val="100000"/>
              </a:lnSpc>
              <a:buNone/>
            </a:pPr>
            <a:r>
              <a:rPr lang="en-US" sz="900" b="1" dirty="0">
                <a:solidFill>
                  <a:srgbClr val="188CE5"/>
                </a:solidFill>
                <a:latin typeface="Calibri" pitchFamily="34" charset="0"/>
                <a:ea typeface="Calibri" pitchFamily="34" charset="-122"/>
                <a:cs typeface="Calibri" pitchFamily="34" charset="-120"/>
              </a:rPr>
              <a:t>6 standards</a:t>
            </a:r>
            <a:endParaRPr lang="en-US" sz="900" dirty="0"/>
          </a:p>
          <a:p>
            <a:pPr marL="0" indent="0" algn="ctr">
              <a:lnSpc>
                <a:spcPct val="100000"/>
              </a:lnSpc>
              <a:buNone/>
            </a:pPr>
            <a:r>
              <a:rPr lang="en-US" sz="900" b="1" dirty="0">
                <a:solidFill>
                  <a:srgbClr val="188CE5"/>
                </a:solidFill>
                <a:latin typeface="Calibri" pitchFamily="34" charset="0"/>
                <a:ea typeface="Calibri" pitchFamily="34" charset="-122"/>
                <a:cs typeface="Calibri" pitchFamily="34" charset="-120"/>
              </a:rPr>
              <a:t>3 patterns</a:t>
            </a:r>
            <a:endParaRPr lang="en-US" sz="900" dirty="0"/>
          </a:p>
        </p:txBody>
      </p:sp>
      <p:sp>
        <p:nvSpPr>
          <p:cNvPr id="36" name="Text 34"/>
          <p:cNvSpPr/>
          <p:nvPr/>
        </p:nvSpPr>
        <p:spPr>
          <a:xfrm>
            <a:off x="5618988" y="3227832"/>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Medallion arch</a:t>
            </a:r>
            <a:endParaRPr lang="en-US" sz="950" dirty="0"/>
          </a:p>
        </p:txBody>
      </p:sp>
      <p:sp>
        <p:nvSpPr>
          <p:cNvPr id="37" name="Text 35"/>
          <p:cNvSpPr/>
          <p:nvPr/>
        </p:nvSpPr>
        <p:spPr>
          <a:xfrm>
            <a:off x="5618988" y="3648456"/>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Delta &amp; lakehouse</a:t>
            </a:r>
            <a:endParaRPr lang="en-US" sz="950" dirty="0"/>
          </a:p>
        </p:txBody>
      </p:sp>
      <p:sp>
        <p:nvSpPr>
          <p:cNvPr id="38" name="Text 36"/>
          <p:cNvSpPr/>
          <p:nvPr/>
        </p:nvSpPr>
        <p:spPr>
          <a:xfrm>
            <a:off x="5618988" y="4069080"/>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Pipelines</a:t>
            </a:r>
            <a:endParaRPr lang="en-US" sz="950" dirty="0"/>
          </a:p>
        </p:txBody>
      </p:sp>
      <p:sp>
        <p:nvSpPr>
          <p:cNvPr id="39" name="Text 37"/>
          <p:cNvSpPr/>
          <p:nvPr/>
        </p:nvSpPr>
        <p:spPr>
          <a:xfrm>
            <a:off x="5618988" y="4489704"/>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Workspace config</a:t>
            </a:r>
            <a:endParaRPr lang="en-US" sz="950" dirty="0"/>
          </a:p>
        </p:txBody>
      </p:sp>
      <p:sp>
        <p:nvSpPr>
          <p:cNvPr id="40" name="Shape 38"/>
          <p:cNvSpPr/>
          <p:nvPr/>
        </p:nvSpPr>
        <p:spPr>
          <a:xfrm>
            <a:off x="7260336" y="1261872"/>
            <a:ext cx="1700784" cy="3730752"/>
          </a:xfrm>
          <a:prstGeom prst="roundRect">
            <a:avLst>
              <a:gd name="adj" fmla="val 6452"/>
            </a:avLst>
          </a:prstGeom>
          <a:solidFill>
            <a:srgbClr val="23232F"/>
          </a:solidFill>
          <a:ln w="12700">
            <a:solidFill>
              <a:srgbClr val="FFE600">
                <a:alpha val="65000"/>
              </a:srgbClr>
            </a:solidFill>
            <a:prstDash val="solid"/>
          </a:ln>
          <a:effectLst>
            <a:outerShdw blurRad="177800" dist="50800" dir="2700000" algn="bl" rotWithShape="0">
              <a:srgbClr val="000000">
                <a:alpha val="40000"/>
              </a:srgbClr>
            </a:outerShdw>
          </a:effectLst>
        </p:spPr>
      </p:sp>
      <p:sp>
        <p:nvSpPr>
          <p:cNvPr id="41" name="Shape 39"/>
          <p:cNvSpPr/>
          <p:nvPr/>
        </p:nvSpPr>
        <p:spPr>
          <a:xfrm>
            <a:off x="7260336" y="1261872"/>
            <a:ext cx="1700784" cy="1325880"/>
          </a:xfrm>
          <a:prstGeom prst="roundRect">
            <a:avLst>
              <a:gd name="adj" fmla="val 8276"/>
            </a:avLst>
          </a:prstGeom>
          <a:solidFill>
            <a:srgbClr val="FFE600">
              <a:alpha val="90000"/>
            </a:srgbClr>
          </a:solidFill>
          <a:ln w="12700">
            <a:solidFill>
              <a:srgbClr val="FFE600">
                <a:alpha val="65000"/>
              </a:srgbClr>
            </a:solidFill>
            <a:prstDash val="solid"/>
          </a:ln>
        </p:spPr>
      </p:sp>
      <p:sp>
        <p:nvSpPr>
          <p:cNvPr id="42" name="Text 40"/>
          <p:cNvSpPr/>
          <p:nvPr/>
        </p:nvSpPr>
        <p:spPr>
          <a:xfrm>
            <a:off x="7351776" y="1353312"/>
            <a:ext cx="1517904" cy="1005840"/>
          </a:xfrm>
          <a:prstGeom prst="rect">
            <a:avLst/>
          </a:prstGeom>
          <a:noFill/>
          <a:ln/>
        </p:spPr>
        <p:txBody>
          <a:bodyPr wrap="square" lIns="0" tIns="0" rIns="0" bIns="0" rtlCol="0" anchor="ctr"/>
          <a:lstStyle/>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Data-</a:t>
            </a:r>
            <a:endParaRPr lang="en-US" sz="2000" dirty="0"/>
          </a:p>
          <a:p>
            <a:pPr marL="0" indent="0" algn="ctr">
              <a:lnSpc>
                <a:spcPct val="100000"/>
              </a:lnSpc>
              <a:buNone/>
            </a:pPr>
            <a:r>
              <a:rPr lang="en-US" sz="2000" b="1" dirty="0">
                <a:solidFill>
                  <a:srgbClr val="FFE600"/>
                </a:solidFill>
                <a:latin typeface="Cambria" pitchFamily="34" charset="0"/>
                <a:ea typeface="Cambria" pitchFamily="34" charset="-122"/>
                <a:cs typeface="Cambria" pitchFamily="34" charset="-120"/>
              </a:rPr>
              <a:t>bricks</a:t>
            </a:r>
            <a:endParaRPr lang="en-US" sz="2000" dirty="0"/>
          </a:p>
        </p:txBody>
      </p:sp>
      <p:sp>
        <p:nvSpPr>
          <p:cNvPr id="43" name="Shape 41"/>
          <p:cNvSpPr/>
          <p:nvPr/>
        </p:nvSpPr>
        <p:spPr>
          <a:xfrm>
            <a:off x="7461504" y="2633472"/>
            <a:ext cx="1298448" cy="475488"/>
          </a:xfrm>
          <a:prstGeom prst="roundRect">
            <a:avLst>
              <a:gd name="adj" fmla="val 11538"/>
            </a:avLst>
          </a:prstGeom>
          <a:solidFill>
            <a:srgbClr val="FFE600">
              <a:alpha val="18000"/>
            </a:srgbClr>
          </a:solidFill>
          <a:ln w="12700">
            <a:solidFill>
              <a:srgbClr val="FFE600">
                <a:alpha val="45000"/>
              </a:srgbClr>
            </a:solidFill>
            <a:prstDash val="solid"/>
          </a:ln>
        </p:spPr>
      </p:sp>
      <p:sp>
        <p:nvSpPr>
          <p:cNvPr id="44" name="Text 42"/>
          <p:cNvSpPr/>
          <p:nvPr/>
        </p:nvSpPr>
        <p:spPr>
          <a:xfrm>
            <a:off x="7461504" y="2633472"/>
            <a:ext cx="1298448" cy="475488"/>
          </a:xfrm>
          <a:prstGeom prst="rect">
            <a:avLst/>
          </a:prstGeom>
          <a:noFill/>
          <a:ln/>
        </p:spPr>
        <p:txBody>
          <a:bodyPr wrap="square" lIns="0" tIns="0" rIns="0" bIns="0" rtlCol="0" anchor="ctr"/>
          <a:lstStyle/>
          <a:p>
            <a:pPr marL="0" indent="0" algn="ctr">
              <a:lnSpc>
                <a:spcPct val="100000"/>
              </a:lnSpc>
              <a:buNone/>
            </a:pPr>
            <a:r>
              <a:rPr lang="en-US" sz="900" b="1" dirty="0">
                <a:solidFill>
                  <a:srgbClr val="FFE600"/>
                </a:solidFill>
                <a:latin typeface="Calibri" pitchFamily="34" charset="0"/>
                <a:ea typeface="Calibri" pitchFamily="34" charset="-122"/>
                <a:cs typeface="Calibri" pitchFamily="34" charset="-120"/>
              </a:rPr>
              <a:t>8 standards</a:t>
            </a:r>
            <a:endParaRPr lang="en-US" sz="900" dirty="0"/>
          </a:p>
          <a:p>
            <a:pPr marL="0" indent="0" algn="ctr">
              <a:lnSpc>
                <a:spcPct val="100000"/>
              </a:lnSpc>
              <a:buNone/>
            </a:pPr>
            <a:r>
              <a:rPr lang="en-US" sz="900" b="1" dirty="0">
                <a:solidFill>
                  <a:srgbClr val="FFE600"/>
                </a:solidFill>
                <a:latin typeface="Calibri" pitchFamily="34" charset="0"/>
                <a:ea typeface="Calibri" pitchFamily="34" charset="-122"/>
                <a:cs typeface="Calibri" pitchFamily="34" charset="-120"/>
              </a:rPr>
              <a:t>3 patterns</a:t>
            </a:r>
            <a:endParaRPr lang="en-US" sz="900" dirty="0"/>
          </a:p>
        </p:txBody>
      </p:sp>
      <p:sp>
        <p:nvSpPr>
          <p:cNvPr id="45" name="Text 43"/>
          <p:cNvSpPr/>
          <p:nvPr/>
        </p:nvSpPr>
        <p:spPr>
          <a:xfrm>
            <a:off x="7388352" y="3227832"/>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Unity Catalog</a:t>
            </a:r>
            <a:endParaRPr lang="en-US" sz="950" dirty="0"/>
          </a:p>
        </p:txBody>
      </p:sp>
      <p:sp>
        <p:nvSpPr>
          <p:cNvPr id="46" name="Text 44"/>
          <p:cNvSpPr/>
          <p:nvPr/>
        </p:nvSpPr>
        <p:spPr>
          <a:xfrm>
            <a:off x="7388352" y="3648456"/>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Auto Loader / DLT</a:t>
            </a:r>
            <a:endParaRPr lang="en-US" sz="950" dirty="0"/>
          </a:p>
        </p:txBody>
      </p:sp>
      <p:sp>
        <p:nvSpPr>
          <p:cNvPr id="47" name="Text 45"/>
          <p:cNvSpPr/>
          <p:nvPr/>
        </p:nvSpPr>
        <p:spPr>
          <a:xfrm>
            <a:off x="7388352" y="4069080"/>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Workflows &amp; DABs</a:t>
            </a:r>
            <a:endParaRPr lang="en-US" sz="950" dirty="0"/>
          </a:p>
        </p:txBody>
      </p:sp>
      <p:sp>
        <p:nvSpPr>
          <p:cNvPr id="48" name="Text 46"/>
          <p:cNvSpPr/>
          <p:nvPr/>
        </p:nvSpPr>
        <p:spPr>
          <a:xfrm>
            <a:off x="7388352" y="4489704"/>
            <a:ext cx="1444752" cy="365760"/>
          </a:xfrm>
          <a:prstGeom prst="rect">
            <a:avLst/>
          </a:prstGeom>
          <a:noFill/>
          <a:ln/>
        </p:spPr>
        <p:txBody>
          <a:bodyPr wrap="square" lIns="0" tIns="0" rIns="0" bIns="0" rtlCol="0" anchor="ctr"/>
          <a:lstStyle/>
          <a:p>
            <a:pPr marL="0" indent="0">
              <a:buNone/>
            </a:pPr>
            <a:r>
              <a:rPr lang="en-US" sz="950" dirty="0">
                <a:solidFill>
                  <a:srgbClr val="C4C4CF"/>
                </a:solidFill>
                <a:latin typeface="Calibri" pitchFamily="34" charset="0"/>
                <a:ea typeface="Calibri" pitchFamily="34" charset="-122"/>
                <a:cs typeface="Calibri" pitchFamily="34" charset="-120"/>
              </a:rPr>
              <a:t>· Secret scopes</a:t>
            </a:r>
            <a:endParaRPr lang="en-US" sz="950" dirty="0"/>
          </a:p>
        </p:txBody>
      </p:sp>
      <p:sp>
        <p:nvSpPr>
          <p:cNvPr id="49" name="Text 47"/>
          <p:cNvSpPr/>
          <p:nvPr/>
        </p:nvSpPr>
        <p:spPr>
          <a:xfrm>
            <a:off x="457200" y="4855464"/>
            <a:ext cx="8229600" cy="256032"/>
          </a:xfrm>
          <a:prstGeom prst="rect">
            <a:avLst/>
          </a:prstGeom>
          <a:noFill/>
          <a:ln/>
        </p:spPr>
        <p:txBody>
          <a:bodyPr wrap="square" lIns="0" tIns="0" rIns="0" bIns="0" rtlCol="0" anchor="ctr"/>
          <a:lstStyle/>
          <a:p>
            <a:pPr marL="0" indent="0" algn="ctr">
              <a:buNone/>
            </a:pPr>
            <a:r>
              <a:rPr lang="en-US" sz="1000" i="1" dirty="0">
                <a:solidFill>
                  <a:srgbClr val="747480"/>
                </a:solidFill>
                <a:latin typeface="Calibri" pitchFamily="34" charset="0"/>
                <a:ea typeface="Calibri" pitchFamily="34" charset="-122"/>
                <a:cs typeface="Calibri" pitchFamily="34" charset="-120"/>
              </a:rPr>
              <a:t>27 files  ·  5 domains  ·  9 reusable patterns  ·  1 master orchestrator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2926080" y="731520"/>
            <a:ext cx="3291840" cy="3291840"/>
          </a:xfrm>
          <a:prstGeom prst="ellipse">
            <a:avLst/>
          </a:prstGeom>
          <a:solidFill>
            <a:srgbClr val="FFE600">
              <a:alpha val="7000"/>
            </a:srgbClr>
          </a:solidFill>
          <a:ln w="12700">
            <a:solidFill>
              <a:srgbClr val="FFE600">
                <a:alpha val="7000"/>
              </a:srgbClr>
            </a:solidFill>
            <a:prstDash val="solid"/>
          </a:ln>
        </p:spPr>
      </p:sp>
      <p:sp>
        <p:nvSpPr>
          <p:cNvPr id="3" name="Text 1"/>
          <p:cNvSpPr/>
          <p:nvPr/>
        </p:nvSpPr>
        <p:spPr>
          <a:xfrm>
            <a:off x="457200" y="164592"/>
            <a:ext cx="8229600" cy="347472"/>
          </a:xfrm>
          <a:prstGeom prst="rect">
            <a:avLst/>
          </a:prstGeom>
          <a:noFill/>
          <a:ln/>
        </p:spPr>
        <p:txBody>
          <a:bodyPr wrap="square" lIns="0" tIns="0" rIns="0" bIns="0" rtlCol="0" anchor="ctr"/>
          <a:lstStyle/>
          <a:p>
            <a:pPr marL="0" indent="0" algn="ctr">
              <a:buNone/>
            </a:pPr>
            <a:r>
              <a:rPr lang="en-US" sz="1000" b="1" kern="0" spc="400" dirty="0">
                <a:solidFill>
                  <a:srgbClr val="FFE600"/>
                </a:solidFill>
                <a:latin typeface="Calibri" pitchFamily="34" charset="0"/>
                <a:ea typeface="Calibri" pitchFamily="34" charset="-122"/>
                <a:cs typeface="Calibri" pitchFamily="34" charset="-120"/>
              </a:rPr>
              <a:t>INTEGRATION</a:t>
            </a:r>
            <a:endParaRPr lang="en-US" sz="1000" dirty="0"/>
          </a:p>
        </p:txBody>
      </p:sp>
      <p:sp>
        <p:nvSpPr>
          <p:cNvPr id="4" name="Shape 2"/>
          <p:cNvSpPr/>
          <p:nvPr/>
        </p:nvSpPr>
        <p:spPr>
          <a:xfrm>
            <a:off x="3456432" y="1280160"/>
            <a:ext cx="2231136" cy="2231136"/>
          </a:xfrm>
          <a:prstGeom prst="ellipse">
            <a:avLst/>
          </a:prstGeom>
          <a:solidFill>
            <a:srgbClr val="2E2E38">
              <a:alpha val="95000"/>
            </a:srgbClr>
          </a:solidFill>
          <a:ln w="12700">
            <a:solidFill>
              <a:srgbClr val="FFE600">
                <a:alpha val="80000"/>
              </a:srgbClr>
            </a:solidFill>
            <a:prstDash val="solid"/>
          </a:ln>
          <a:effectLst>
            <a:outerShdw blurRad="177800" dist="50800" dir="2700000" algn="bl" rotWithShape="0">
              <a:srgbClr val="000000">
                <a:alpha val="40000"/>
              </a:srgbClr>
            </a:outerShdw>
          </a:effectLst>
        </p:spPr>
      </p:sp>
      <p:sp>
        <p:nvSpPr>
          <p:cNvPr id="5" name="Shape 3"/>
          <p:cNvSpPr/>
          <p:nvPr/>
        </p:nvSpPr>
        <p:spPr>
          <a:xfrm>
            <a:off x="3639312" y="1463040"/>
            <a:ext cx="1865376" cy="1865376"/>
          </a:xfrm>
          <a:prstGeom prst="ellipse">
            <a:avLst/>
          </a:prstGeom>
          <a:solidFill>
            <a:srgbClr val="FFE600"/>
          </a:solidFill>
          <a:ln w="12700">
            <a:solidFill>
              <a:srgbClr val="FFE600"/>
            </a:solidFill>
            <a:prstDash val="solid"/>
          </a:ln>
        </p:spPr>
      </p:sp>
      <p:sp>
        <p:nvSpPr>
          <p:cNvPr id="6" name="Text 4"/>
          <p:cNvSpPr/>
          <p:nvPr/>
        </p:nvSpPr>
        <p:spPr>
          <a:xfrm>
            <a:off x="3456432" y="1280160"/>
            <a:ext cx="2231136" cy="2231136"/>
          </a:xfrm>
          <a:prstGeom prst="rect">
            <a:avLst/>
          </a:prstGeom>
          <a:noFill/>
          <a:ln/>
        </p:spPr>
        <p:txBody>
          <a:bodyPr wrap="square" lIns="0" tIns="0" rIns="0" bIns="0" rtlCol="0" anchor="ctr"/>
          <a:lstStyle/>
          <a:p>
            <a:pPr marL="0" indent="0" algn="ctr">
              <a:lnSpc>
                <a:spcPct val="100000"/>
              </a:lnSpc>
              <a:buNone/>
            </a:pPr>
            <a:r>
              <a:rPr lang="en-US" sz="2000" b="1" dirty="0">
                <a:solidFill>
                  <a:srgbClr val="1A1A24"/>
                </a:solidFill>
                <a:latin typeface="Cambria" pitchFamily="34" charset="0"/>
                <a:ea typeface="Cambria" pitchFamily="34" charset="-122"/>
                <a:cs typeface="Cambria" pitchFamily="34" charset="-120"/>
              </a:rPr>
              <a:t>MASTER</a:t>
            </a:r>
            <a:endParaRPr lang="en-US" sz="2000" dirty="0"/>
          </a:p>
          <a:p>
            <a:pPr marL="0" indent="0" algn="ctr">
              <a:lnSpc>
                <a:spcPct val="100000"/>
              </a:lnSpc>
              <a:buNone/>
            </a:pPr>
            <a:r>
              <a:rPr lang="en-US" sz="2000" b="1" dirty="0">
                <a:solidFill>
                  <a:srgbClr val="1A1A24"/>
                </a:solidFill>
                <a:latin typeface="Cambria" pitchFamily="34" charset="0"/>
                <a:ea typeface="Cambria" pitchFamily="34" charset="-122"/>
                <a:cs typeface="Cambria" pitchFamily="34" charset="-120"/>
              </a:rPr>
              <a:t>.md</a:t>
            </a:r>
            <a:endParaRPr lang="en-US" sz="2000" dirty="0"/>
          </a:p>
        </p:txBody>
      </p:sp>
      <p:sp>
        <p:nvSpPr>
          <p:cNvPr id="7" name="Shape 5"/>
          <p:cNvSpPr/>
          <p:nvPr/>
        </p:nvSpPr>
        <p:spPr>
          <a:xfrm>
            <a:off x="1591056" y="1120140"/>
            <a:ext cx="1951397" cy="809244"/>
          </a:xfrm>
          <a:prstGeom prst="line">
            <a:avLst/>
          </a:prstGeom>
          <a:noFill/>
          <a:ln w="15240">
            <a:solidFill>
              <a:srgbClr val="FFE600">
                <a:alpha val="45000"/>
              </a:srgbClr>
            </a:solidFill>
            <a:prstDash val="solid"/>
          </a:ln>
        </p:spPr>
      </p:sp>
      <p:sp>
        <p:nvSpPr>
          <p:cNvPr id="8" name="Shape 6"/>
          <p:cNvSpPr/>
          <p:nvPr/>
        </p:nvSpPr>
        <p:spPr>
          <a:xfrm>
            <a:off x="164592" y="749808"/>
            <a:ext cx="1426464" cy="658368"/>
          </a:xfrm>
          <a:prstGeom prst="roundRect">
            <a:avLst>
              <a:gd name="adj" fmla="val 11111"/>
            </a:avLst>
          </a:prstGeom>
          <a:solidFill>
            <a:srgbClr val="FFE600">
              <a:alpha val="92000"/>
            </a:srgbClr>
          </a:solidFill>
          <a:ln w="12700">
            <a:solidFill>
              <a:srgbClr val="FFE600">
                <a:alpha val="75000"/>
              </a:srgbClr>
            </a:solidFill>
            <a:prstDash val="solid"/>
          </a:ln>
          <a:effectLst>
            <a:outerShdw blurRad="76200" dist="25400" dir="2700000" algn="bl" rotWithShape="0">
              <a:srgbClr val="000000">
                <a:alpha val="28000"/>
              </a:srgbClr>
            </a:outerShdw>
          </a:effectLst>
        </p:spPr>
      </p:sp>
      <p:sp>
        <p:nvSpPr>
          <p:cNvPr id="9" name="Text 7"/>
          <p:cNvSpPr/>
          <p:nvPr/>
        </p:nvSpPr>
        <p:spPr>
          <a:xfrm>
            <a:off x="164592" y="749808"/>
            <a:ext cx="1426464" cy="658368"/>
          </a:xfrm>
          <a:prstGeom prst="rect">
            <a:avLst/>
          </a:prstGeom>
          <a:noFill/>
          <a:ln/>
        </p:spPr>
        <p:txBody>
          <a:bodyPr wrap="square" lIns="0" tIns="0" rIns="0" bIns="0" rtlCol="0" anchor="ctr"/>
          <a:lstStyle/>
          <a:p>
            <a:pPr marL="0" indent="0" algn="ctr">
              <a:buNone/>
            </a:pPr>
            <a:r>
              <a:rPr lang="en-US" sz="1300" b="1" dirty="0">
                <a:solidFill>
                  <a:srgbClr val="1A1A24"/>
                </a:solidFill>
                <a:latin typeface="Calibri" pitchFamily="34" charset="0"/>
                <a:ea typeface="Calibri" pitchFamily="34" charset="-122"/>
                <a:cs typeface="Calibri" pitchFamily="34" charset="-120"/>
              </a:rPr>
              <a:t>Data Layer</a:t>
            </a:r>
            <a:endParaRPr lang="en-US" sz="1300" dirty="0"/>
          </a:p>
        </p:txBody>
      </p:sp>
      <p:sp>
        <p:nvSpPr>
          <p:cNvPr id="10" name="Shape 8"/>
          <p:cNvSpPr/>
          <p:nvPr/>
        </p:nvSpPr>
        <p:spPr>
          <a:xfrm flipV="1">
            <a:off x="1591056" y="2697480"/>
            <a:ext cx="1865376" cy="411480"/>
          </a:xfrm>
          <a:prstGeom prst="line">
            <a:avLst/>
          </a:prstGeom>
          <a:noFill/>
          <a:ln w="15240">
            <a:solidFill>
              <a:srgbClr val="188CE5">
                <a:alpha val="45000"/>
              </a:srgbClr>
            </a:solidFill>
            <a:prstDash val="solid"/>
          </a:ln>
        </p:spPr>
      </p:sp>
      <p:sp>
        <p:nvSpPr>
          <p:cNvPr id="11" name="Shape 9"/>
          <p:cNvSpPr/>
          <p:nvPr/>
        </p:nvSpPr>
        <p:spPr>
          <a:xfrm>
            <a:off x="164592" y="2788920"/>
            <a:ext cx="1426464" cy="658368"/>
          </a:xfrm>
          <a:prstGeom prst="roundRect">
            <a:avLst>
              <a:gd name="adj" fmla="val 11111"/>
            </a:avLst>
          </a:prstGeom>
          <a:solidFill>
            <a:srgbClr val="188CE5">
              <a:alpha val="90000"/>
            </a:srgbClr>
          </a:solidFill>
          <a:ln w="12700">
            <a:solidFill>
              <a:srgbClr val="188CE5">
                <a:alpha val="75000"/>
              </a:srgbClr>
            </a:solidFill>
            <a:prstDash val="solid"/>
          </a:ln>
          <a:effectLst>
            <a:outerShdw blurRad="76200" dist="25400" dir="2700000" algn="bl" rotWithShape="0">
              <a:srgbClr val="000000">
                <a:alpha val="28000"/>
              </a:srgbClr>
            </a:outerShdw>
          </a:effectLst>
        </p:spPr>
      </p:sp>
      <p:sp>
        <p:nvSpPr>
          <p:cNvPr id="12" name="Text 10"/>
          <p:cNvSpPr/>
          <p:nvPr/>
        </p:nvSpPr>
        <p:spPr>
          <a:xfrm>
            <a:off x="164592" y="2788920"/>
            <a:ext cx="1426464"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API Layer</a:t>
            </a:r>
            <a:endParaRPr lang="en-US" sz="1300" dirty="0"/>
          </a:p>
        </p:txBody>
      </p:sp>
      <p:sp>
        <p:nvSpPr>
          <p:cNvPr id="13" name="Shape 11"/>
          <p:cNvSpPr/>
          <p:nvPr/>
        </p:nvSpPr>
        <p:spPr>
          <a:xfrm>
            <a:off x="4572000" y="2395728"/>
            <a:ext cx="0" cy="1636776"/>
          </a:xfrm>
          <a:prstGeom prst="line">
            <a:avLst/>
          </a:prstGeom>
          <a:noFill/>
          <a:ln w="15240">
            <a:solidFill>
              <a:srgbClr val="FFE600">
                <a:alpha val="45000"/>
              </a:srgbClr>
            </a:solidFill>
            <a:prstDash val="solid"/>
          </a:ln>
        </p:spPr>
      </p:sp>
      <p:sp>
        <p:nvSpPr>
          <p:cNvPr id="14" name="Shape 12"/>
          <p:cNvSpPr/>
          <p:nvPr/>
        </p:nvSpPr>
        <p:spPr>
          <a:xfrm>
            <a:off x="3858768" y="3703320"/>
            <a:ext cx="1426464" cy="658368"/>
          </a:xfrm>
          <a:prstGeom prst="roundRect">
            <a:avLst>
              <a:gd name="adj" fmla="val 11111"/>
            </a:avLst>
          </a:prstGeom>
          <a:solidFill>
            <a:srgbClr val="FFE600">
              <a:alpha val="92000"/>
            </a:srgbClr>
          </a:solidFill>
          <a:ln w="12700">
            <a:solidFill>
              <a:srgbClr val="FFE600">
                <a:alpha val="75000"/>
              </a:srgbClr>
            </a:solidFill>
            <a:prstDash val="solid"/>
          </a:ln>
          <a:effectLst>
            <a:outerShdw blurRad="76200" dist="25400" dir="2700000" algn="bl" rotWithShape="0">
              <a:srgbClr val="000000">
                <a:alpha val="28000"/>
              </a:srgbClr>
            </a:outerShdw>
          </a:effectLst>
        </p:spPr>
      </p:sp>
      <p:sp>
        <p:nvSpPr>
          <p:cNvPr id="15" name="Text 13"/>
          <p:cNvSpPr/>
          <p:nvPr/>
        </p:nvSpPr>
        <p:spPr>
          <a:xfrm>
            <a:off x="3858768" y="3703320"/>
            <a:ext cx="1426464" cy="658368"/>
          </a:xfrm>
          <a:prstGeom prst="rect">
            <a:avLst/>
          </a:prstGeom>
          <a:noFill/>
          <a:ln/>
        </p:spPr>
        <p:txBody>
          <a:bodyPr wrap="square" lIns="0" tIns="0" rIns="0" bIns="0" rtlCol="0" anchor="ctr"/>
          <a:lstStyle/>
          <a:p>
            <a:pPr marL="0" indent="0" algn="ctr">
              <a:buNone/>
            </a:pPr>
            <a:r>
              <a:rPr lang="en-US" sz="1300" b="1" dirty="0">
                <a:solidFill>
                  <a:srgbClr val="1A1A24"/>
                </a:solidFill>
                <a:latin typeface="Calibri" pitchFamily="34" charset="0"/>
                <a:ea typeface="Calibri" pitchFamily="34" charset="-122"/>
                <a:cs typeface="Calibri" pitchFamily="34" charset="-120"/>
              </a:rPr>
              <a:t>UI Layer</a:t>
            </a:r>
            <a:endParaRPr lang="en-US" sz="1300" dirty="0"/>
          </a:p>
        </p:txBody>
      </p:sp>
      <p:sp>
        <p:nvSpPr>
          <p:cNvPr id="16" name="Shape 14"/>
          <p:cNvSpPr/>
          <p:nvPr/>
        </p:nvSpPr>
        <p:spPr>
          <a:xfrm flipV="1">
            <a:off x="5445760" y="1069848"/>
            <a:ext cx="2045547" cy="612648"/>
          </a:xfrm>
          <a:prstGeom prst="line">
            <a:avLst/>
          </a:prstGeom>
          <a:noFill/>
          <a:ln w="15240">
            <a:solidFill>
              <a:srgbClr val="188CE5">
                <a:alpha val="45000"/>
              </a:srgbClr>
            </a:solidFill>
            <a:prstDash val="solid"/>
          </a:ln>
        </p:spPr>
      </p:sp>
      <p:sp>
        <p:nvSpPr>
          <p:cNvPr id="17" name="Shape 15"/>
          <p:cNvSpPr/>
          <p:nvPr/>
        </p:nvSpPr>
        <p:spPr>
          <a:xfrm>
            <a:off x="7552944" y="749808"/>
            <a:ext cx="1426464" cy="658368"/>
          </a:xfrm>
          <a:prstGeom prst="roundRect">
            <a:avLst>
              <a:gd name="adj" fmla="val 11111"/>
            </a:avLst>
          </a:prstGeom>
          <a:solidFill>
            <a:srgbClr val="188CE5">
              <a:alpha val="90000"/>
            </a:srgbClr>
          </a:solidFill>
          <a:ln w="12700">
            <a:solidFill>
              <a:srgbClr val="188CE5">
                <a:alpha val="75000"/>
              </a:srgbClr>
            </a:solidFill>
            <a:prstDash val="solid"/>
          </a:ln>
          <a:effectLst>
            <a:outerShdw blurRad="76200" dist="25400" dir="2700000" algn="bl" rotWithShape="0">
              <a:srgbClr val="000000">
                <a:alpha val="28000"/>
              </a:srgbClr>
            </a:outerShdw>
          </a:effectLst>
        </p:spPr>
      </p:sp>
      <p:sp>
        <p:nvSpPr>
          <p:cNvPr id="18" name="Text 16"/>
          <p:cNvSpPr/>
          <p:nvPr/>
        </p:nvSpPr>
        <p:spPr>
          <a:xfrm>
            <a:off x="7552944" y="749808"/>
            <a:ext cx="1426464" cy="65836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MS Fabric</a:t>
            </a:r>
            <a:endParaRPr lang="en-US" sz="1300" dirty="0"/>
          </a:p>
        </p:txBody>
      </p:sp>
      <p:sp>
        <p:nvSpPr>
          <p:cNvPr id="19" name="Shape 17"/>
          <p:cNvSpPr/>
          <p:nvPr/>
        </p:nvSpPr>
        <p:spPr>
          <a:xfrm>
            <a:off x="5687566" y="2651760"/>
            <a:ext cx="1865377" cy="466344"/>
          </a:xfrm>
          <a:prstGeom prst="line">
            <a:avLst/>
          </a:prstGeom>
          <a:noFill/>
          <a:ln w="15240">
            <a:solidFill>
              <a:srgbClr val="FFE600">
                <a:alpha val="45000"/>
              </a:srgbClr>
            </a:solidFill>
            <a:prstDash val="solid"/>
          </a:ln>
        </p:spPr>
      </p:sp>
      <p:sp>
        <p:nvSpPr>
          <p:cNvPr id="20" name="Shape 18"/>
          <p:cNvSpPr/>
          <p:nvPr/>
        </p:nvSpPr>
        <p:spPr>
          <a:xfrm>
            <a:off x="7552944" y="2788920"/>
            <a:ext cx="1426464" cy="658368"/>
          </a:xfrm>
          <a:prstGeom prst="roundRect">
            <a:avLst>
              <a:gd name="adj" fmla="val 11111"/>
            </a:avLst>
          </a:prstGeom>
          <a:solidFill>
            <a:srgbClr val="FFE600">
              <a:alpha val="92000"/>
            </a:srgbClr>
          </a:solidFill>
          <a:ln w="12700">
            <a:solidFill>
              <a:srgbClr val="FFE600">
                <a:alpha val="75000"/>
              </a:srgbClr>
            </a:solidFill>
            <a:prstDash val="solid"/>
          </a:ln>
          <a:effectLst>
            <a:outerShdw blurRad="76200" dist="25400" dir="2700000" algn="bl" rotWithShape="0">
              <a:srgbClr val="000000">
                <a:alpha val="28000"/>
              </a:srgbClr>
            </a:outerShdw>
          </a:effectLst>
        </p:spPr>
      </p:sp>
      <p:sp>
        <p:nvSpPr>
          <p:cNvPr id="21" name="Text 19"/>
          <p:cNvSpPr/>
          <p:nvPr/>
        </p:nvSpPr>
        <p:spPr>
          <a:xfrm>
            <a:off x="7552944" y="2788920"/>
            <a:ext cx="1426464" cy="658368"/>
          </a:xfrm>
          <a:prstGeom prst="rect">
            <a:avLst/>
          </a:prstGeom>
          <a:noFill/>
          <a:ln/>
        </p:spPr>
        <p:txBody>
          <a:bodyPr wrap="square" lIns="0" tIns="0" rIns="0" bIns="0" rtlCol="0" anchor="ctr"/>
          <a:lstStyle/>
          <a:p>
            <a:pPr marL="0" indent="0" algn="ctr">
              <a:buNone/>
            </a:pPr>
            <a:r>
              <a:rPr lang="en-US" sz="1300" b="1" dirty="0">
                <a:solidFill>
                  <a:srgbClr val="1A1A24"/>
                </a:solidFill>
                <a:latin typeface="Calibri" pitchFamily="34" charset="0"/>
                <a:ea typeface="Calibri" pitchFamily="34" charset="-122"/>
                <a:cs typeface="Calibri" pitchFamily="34" charset="-120"/>
              </a:rPr>
              <a:t>Databricks</a:t>
            </a:r>
            <a:endParaRPr lang="en-US" sz="1300" dirty="0"/>
          </a:p>
        </p:txBody>
      </p:sp>
      <p:sp>
        <p:nvSpPr>
          <p:cNvPr id="22" name="Shape 20"/>
          <p:cNvSpPr/>
          <p:nvPr/>
        </p:nvSpPr>
        <p:spPr>
          <a:xfrm>
            <a:off x="256032" y="4617720"/>
            <a:ext cx="8631936" cy="411480"/>
          </a:xfrm>
          <a:prstGeom prst="roundRect">
            <a:avLst>
              <a:gd name="adj" fmla="val 22222"/>
            </a:avLst>
          </a:prstGeom>
          <a:solidFill>
            <a:srgbClr val="23232F"/>
          </a:solidFill>
          <a:ln w="12700">
            <a:solidFill>
              <a:srgbClr val="FFE600">
                <a:alpha val="45000"/>
              </a:srgbClr>
            </a:solidFill>
            <a:prstDash val="solid"/>
          </a:ln>
          <a:effectLst>
            <a:outerShdw blurRad="76200" dist="25400" dir="2700000" algn="bl" rotWithShape="0">
              <a:srgbClr val="000000">
                <a:alpha val="28000"/>
              </a:srgbClr>
            </a:outerShdw>
          </a:effectLst>
        </p:spPr>
      </p:sp>
      <p:sp>
        <p:nvSpPr>
          <p:cNvPr id="23" name="Text 21"/>
          <p:cNvSpPr/>
          <p:nvPr/>
        </p:nvSpPr>
        <p:spPr>
          <a:xfrm>
            <a:off x="502920" y="4617720"/>
            <a:ext cx="8321040" cy="411480"/>
          </a:xfrm>
          <a:prstGeom prst="rect">
            <a:avLst/>
          </a:prstGeom>
          <a:noFill/>
          <a:ln/>
        </p:spPr>
        <p:txBody>
          <a:bodyPr wrap="square" lIns="0" tIns="0" rIns="0" bIns="0" rtlCol="0" anchor="ctr"/>
          <a:lstStyle/>
          <a:p>
            <a:pPr marL="0" indent="0">
              <a:buNone/>
            </a:pPr>
            <a:r>
              <a:rPr lang="en-US" sz="1050" b="1" dirty="0">
                <a:solidFill>
                  <a:srgbClr val="FFE600"/>
                </a:solidFill>
                <a:latin typeface="Calibri" pitchFamily="34" charset="0"/>
                <a:ea typeface="Calibri" pitchFamily="34" charset="-122"/>
                <a:cs typeface="Calibri" pitchFamily="34" charset="-120"/>
              </a:rPr>
              <a:t>workspace.config.md  </a:t>
            </a:r>
            <a:r>
              <a:rPr lang="en-US" sz="1050" dirty="0">
                <a:solidFill>
                  <a:srgbClr val="C4C4CF"/>
                </a:solidFill>
                <a:latin typeface="Calibri" pitchFamily="34" charset="0"/>
                <a:ea typeface="Calibri" pitchFamily="34" charset="-122"/>
                <a:cs typeface="Calibri" pitchFamily="34" charset="-120"/>
              </a:rPr>
              <a:t>— Single source of truth for environment names, workspace IDs, cluster specs, and secret scopes. Read first. Any missing value → agent asks before proceeding.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31A"/>
        </a:solidFill>
        <a:effectLst/>
      </p:bgPr>
    </p:bg>
    <p:spTree>
      <p:nvGrpSpPr>
        <p:cNvPr id="1" name=""/>
        <p:cNvGrpSpPr/>
        <p:nvPr/>
      </p:nvGrpSpPr>
      <p:grpSpPr>
        <a:xfrm>
          <a:off x="0" y="0"/>
          <a:ext cx="0" cy="0"/>
          <a:chOff x="0" y="0"/>
          <a:chExt cx="0" cy="0"/>
        </a:xfrm>
      </p:grpSpPr>
      <p:sp>
        <p:nvSpPr>
          <p:cNvPr id="2" name="Shape 0"/>
          <p:cNvSpPr/>
          <p:nvPr/>
        </p:nvSpPr>
        <p:spPr>
          <a:xfrm>
            <a:off x="-2286000" y="-2286000"/>
            <a:ext cx="8229600" cy="8229600"/>
          </a:xfrm>
          <a:prstGeom prst="ellipse">
            <a:avLst/>
          </a:prstGeom>
          <a:solidFill>
            <a:srgbClr val="FFE600">
              <a:alpha val="6000"/>
            </a:srgbClr>
          </a:solidFill>
          <a:ln w="12700">
            <a:solidFill>
              <a:srgbClr val="FFE600">
                <a:alpha val="6000"/>
              </a:srgbClr>
            </a:solidFill>
            <a:prstDash val="solid"/>
          </a:ln>
        </p:spPr>
      </p:sp>
      <p:sp>
        <p:nvSpPr>
          <p:cNvPr id="3" name="Text 1"/>
          <p:cNvSpPr/>
          <p:nvPr/>
        </p:nvSpPr>
        <p:spPr>
          <a:xfrm>
            <a:off x="457200" y="228600"/>
            <a:ext cx="8229600" cy="475488"/>
          </a:xfrm>
          <a:prstGeom prst="rect">
            <a:avLst/>
          </a:prstGeom>
          <a:noFill/>
          <a:ln/>
        </p:spPr>
        <p:txBody>
          <a:bodyPr wrap="square" lIns="0" tIns="0" rIns="0" bIns="0" rtlCol="0" anchor="ctr"/>
          <a:lstStyle/>
          <a:p>
            <a:pPr marL="0" indent="0">
              <a:buNone/>
            </a:pPr>
            <a:r>
              <a:rPr lang="en-US" sz="1200" b="1" kern="0" spc="600" dirty="0">
                <a:solidFill>
                  <a:srgbClr val="FFE600"/>
                </a:solidFill>
                <a:latin typeface="Calibri" pitchFamily="34" charset="0"/>
                <a:ea typeface="Calibri" pitchFamily="34" charset="-122"/>
                <a:cs typeface="Calibri" pitchFamily="34" charset="-120"/>
              </a:rPr>
              <a:t>RULE ZERO</a:t>
            </a:r>
            <a:endParaRPr lang="en-US" sz="1200" dirty="0"/>
          </a:p>
        </p:txBody>
      </p:sp>
      <p:sp>
        <p:nvSpPr>
          <p:cNvPr id="4" name="Text 2"/>
          <p:cNvSpPr/>
          <p:nvPr/>
        </p:nvSpPr>
        <p:spPr>
          <a:xfrm>
            <a:off x="457200" y="713232"/>
            <a:ext cx="8229600" cy="2240280"/>
          </a:xfrm>
          <a:prstGeom prst="rect">
            <a:avLst/>
          </a:prstGeom>
          <a:noFill/>
          <a:ln/>
        </p:spPr>
        <p:txBody>
          <a:bodyPr wrap="square" lIns="0" tIns="0" rIns="0" bIns="0" rtlCol="0" anchor="ctr"/>
          <a:lstStyle/>
          <a:p>
            <a:pPr marL="0" indent="0">
              <a:lnSpc>
                <a:spcPct val="92000"/>
              </a:lnSpc>
              <a:buNone/>
            </a:pPr>
            <a:r>
              <a:rPr lang="en-US" sz="7000" b="1" dirty="0">
                <a:solidFill>
                  <a:srgbClr val="FFFFFF"/>
                </a:solidFill>
                <a:latin typeface="Cambria" pitchFamily="34" charset="0"/>
                <a:ea typeface="Cambria" pitchFamily="34" charset="-122"/>
                <a:cs typeface="Cambria" pitchFamily="34" charset="-120"/>
              </a:rPr>
              <a:t>Ask Before</a:t>
            </a:r>
            <a:endParaRPr lang="en-US" sz="7000" dirty="0"/>
          </a:p>
          <a:p>
            <a:pPr marL="0" indent="0">
              <a:lnSpc>
                <a:spcPct val="92000"/>
              </a:lnSpc>
              <a:buNone/>
            </a:pPr>
            <a:r>
              <a:rPr lang="en-US" sz="7000" b="1" dirty="0">
                <a:solidFill>
                  <a:srgbClr val="FFFFFF"/>
                </a:solidFill>
                <a:latin typeface="Cambria" pitchFamily="34" charset="0"/>
                <a:ea typeface="Cambria" pitchFamily="34" charset="-122"/>
                <a:cs typeface="Cambria" pitchFamily="34" charset="-120"/>
              </a:rPr>
              <a:t>You Build.</a:t>
            </a:r>
            <a:endParaRPr lang="en-US" sz="7000" dirty="0"/>
          </a:p>
        </p:txBody>
      </p:sp>
      <p:sp>
        <p:nvSpPr>
          <p:cNvPr id="5" name="Text 3"/>
          <p:cNvSpPr/>
          <p:nvPr/>
        </p:nvSpPr>
        <p:spPr>
          <a:xfrm>
            <a:off x="457200" y="3017520"/>
            <a:ext cx="6400800" cy="475488"/>
          </a:xfrm>
          <a:prstGeom prst="rect">
            <a:avLst/>
          </a:prstGeom>
          <a:noFill/>
          <a:ln/>
        </p:spPr>
        <p:txBody>
          <a:bodyPr wrap="square" lIns="0" tIns="0" rIns="0" bIns="0" rtlCol="0" anchor="ctr"/>
          <a:lstStyle/>
          <a:p>
            <a:pPr marL="0" indent="0">
              <a:buNone/>
            </a:pPr>
            <a:r>
              <a:rPr lang="en-US" sz="1600" i="1" dirty="0">
                <a:solidFill>
                  <a:srgbClr val="FFE600"/>
                </a:solidFill>
                <a:latin typeface="Calibri" pitchFamily="34" charset="0"/>
                <a:ea typeface="Calibri" pitchFamily="34" charset="-122"/>
                <a:cs typeface="Calibri" pitchFamily="34" charset="-120"/>
              </a:rPr>
              <a:t>This rule overrides everything else in the playbook.</a:t>
            </a:r>
            <a:endParaRPr lang="en-US" sz="1600" dirty="0"/>
          </a:p>
        </p:txBody>
      </p:sp>
      <p:sp>
        <p:nvSpPr>
          <p:cNvPr id="6" name="Shape 4"/>
          <p:cNvSpPr/>
          <p:nvPr/>
        </p:nvSpPr>
        <p:spPr>
          <a:xfrm>
            <a:off x="457200" y="3639312"/>
            <a:ext cx="3931920" cy="1325880"/>
          </a:xfrm>
          <a:prstGeom prst="roundRect">
            <a:avLst>
              <a:gd name="adj" fmla="val 6897"/>
            </a:avLst>
          </a:prstGeom>
          <a:solidFill>
            <a:srgbClr val="FFE600">
              <a:alpha val="10000"/>
            </a:srgbClr>
          </a:solidFill>
          <a:ln w="12700">
            <a:solidFill>
              <a:srgbClr val="FFE600">
                <a:alpha val="42000"/>
              </a:srgbClr>
            </a:solidFill>
            <a:prstDash val="solid"/>
          </a:ln>
        </p:spPr>
      </p:sp>
      <p:sp>
        <p:nvSpPr>
          <p:cNvPr id="7" name="Text 5"/>
          <p:cNvSpPr/>
          <p:nvPr/>
        </p:nvSpPr>
        <p:spPr>
          <a:xfrm>
            <a:off x="621792" y="3703320"/>
            <a:ext cx="3657600" cy="310896"/>
          </a:xfrm>
          <a:prstGeom prst="rect">
            <a:avLst/>
          </a:prstGeom>
          <a:noFill/>
          <a:ln/>
        </p:spPr>
        <p:txBody>
          <a:bodyPr wrap="square" lIns="0" tIns="0" rIns="0" bIns="0" rtlCol="0" anchor="ctr"/>
          <a:lstStyle/>
          <a:p>
            <a:pPr marL="0" indent="0">
              <a:buNone/>
            </a:pPr>
            <a:r>
              <a:rPr lang="en-US" sz="950" b="1" kern="0" spc="200" dirty="0">
                <a:solidFill>
                  <a:srgbClr val="FFE600"/>
                </a:solidFill>
                <a:latin typeface="Calibri" pitchFamily="34" charset="0"/>
                <a:ea typeface="Calibri" pitchFamily="34" charset="-122"/>
                <a:cs typeface="Calibri" pitchFamily="34" charset="-120"/>
              </a:rPr>
              <a:t>AGENT ASKS WHEN...</a:t>
            </a:r>
            <a:endParaRPr lang="en-US" sz="950" dirty="0"/>
          </a:p>
        </p:txBody>
      </p:sp>
      <p:sp>
        <p:nvSpPr>
          <p:cNvPr id="8" name="Text 6"/>
          <p:cNvSpPr/>
          <p:nvPr/>
        </p:nvSpPr>
        <p:spPr>
          <a:xfrm>
            <a:off x="621792" y="4023360"/>
            <a:ext cx="3657600" cy="896112"/>
          </a:xfrm>
          <a:prstGeom prst="rect">
            <a:avLst/>
          </a:prstGeom>
          <a:noFill/>
          <a:ln/>
        </p:spPr>
        <p:txBody>
          <a:bodyPr wrap="square" lIns="0" tIns="0" rIns="0" bIns="0" rtlCol="0" anchor="ctr"/>
          <a:lstStyle/>
          <a:p>
            <a:pPr marL="0" indent="0">
              <a:lnSpc>
                <a:spcPct val="138000"/>
              </a:lnSpc>
              <a:buNone/>
            </a:pPr>
            <a:r>
              <a:rPr lang="en-US" sz="950" dirty="0">
                <a:solidFill>
                  <a:srgbClr val="C4C4CF"/>
                </a:solidFill>
                <a:latin typeface="Calibri" pitchFamily="34" charset="0"/>
                <a:ea typeface="Calibri" pitchFamily="34" charset="-122"/>
                <a:cs typeface="Calibri" pitchFamily="34" charset="-120"/>
              </a:rPr>
              <a:t>→  Catalog or schema name is unknown</a:t>
            </a:r>
            <a:endParaRPr lang="en-US" sz="950" dirty="0"/>
          </a:p>
          <a:p>
            <a:pPr marL="0" indent="0">
              <a:lnSpc>
                <a:spcPct val="138000"/>
              </a:lnSpc>
              <a:buNone/>
            </a:pPr>
            <a:r>
              <a:rPr lang="en-US" sz="950" dirty="0">
                <a:solidFill>
                  <a:srgbClr val="C4C4CF"/>
                </a:solidFill>
                <a:latin typeface="Calibri" pitchFamily="34" charset="0"/>
                <a:ea typeface="Calibri" pitchFamily="34" charset="-122"/>
                <a:cs typeface="Calibri" pitchFamily="34" charset="-120"/>
              </a:rPr>
              <a:t>→  Source system not in workspace.config.md</a:t>
            </a:r>
            <a:endParaRPr lang="en-US" sz="950" dirty="0"/>
          </a:p>
          <a:p>
            <a:pPr marL="0" indent="0">
              <a:lnSpc>
                <a:spcPct val="138000"/>
              </a:lnSpc>
              <a:buNone/>
            </a:pPr>
            <a:r>
              <a:rPr lang="en-US" sz="950" dirty="0">
                <a:solidFill>
                  <a:srgbClr val="C4C4CF"/>
                </a:solidFill>
                <a:latin typeface="Calibri" pitchFamily="34" charset="0"/>
                <a:ea typeface="Calibri" pitchFamily="34" charset="-122"/>
                <a:cs typeface="Calibri" pitchFamily="34" charset="-120"/>
              </a:rPr>
              <a:t>→  PII classification is unclear</a:t>
            </a:r>
            <a:endParaRPr lang="en-US" sz="950" dirty="0"/>
          </a:p>
          <a:p>
            <a:pPr marL="0" indent="0">
              <a:lnSpc>
                <a:spcPct val="138000"/>
              </a:lnSpc>
              <a:buNone/>
            </a:pPr>
            <a:r>
              <a:rPr lang="en-US" sz="950" dirty="0">
                <a:solidFill>
                  <a:srgbClr val="C4C4CF"/>
                </a:solidFill>
                <a:latin typeface="Calibri" pitchFamily="34" charset="0"/>
                <a:ea typeface="Calibri" pitchFamily="34" charset="-122"/>
                <a:cs typeface="Calibri" pitchFamily="34" charset="-120"/>
              </a:rPr>
              <a:t>→  Full load vs incremental not confirmed</a:t>
            </a:r>
            <a:endParaRPr lang="en-US" sz="950" dirty="0"/>
          </a:p>
          <a:p>
            <a:pPr marL="0" indent="0">
              <a:lnSpc>
                <a:spcPct val="138000"/>
              </a:lnSpc>
              <a:buNone/>
            </a:pPr>
            <a:r>
              <a:rPr lang="en-US" sz="950" dirty="0">
                <a:solidFill>
                  <a:srgbClr val="C4C4CF"/>
                </a:solidFill>
                <a:latin typeface="Calibri" pitchFamily="34" charset="0"/>
                <a:ea typeface="Calibri" pitchFamily="34" charset="-122"/>
                <a:cs typeface="Calibri" pitchFamily="34" charset="-120"/>
              </a:rPr>
              <a:t>→  Target environment (dev/uat/prod) unspecified</a:t>
            </a:r>
            <a:endParaRPr lang="en-US" sz="950" dirty="0"/>
          </a:p>
        </p:txBody>
      </p:sp>
      <p:sp>
        <p:nvSpPr>
          <p:cNvPr id="9" name="Shape 7"/>
          <p:cNvSpPr/>
          <p:nvPr/>
        </p:nvSpPr>
        <p:spPr>
          <a:xfrm>
            <a:off x="4754880" y="3639312"/>
            <a:ext cx="3931920" cy="1325880"/>
          </a:xfrm>
          <a:prstGeom prst="roundRect">
            <a:avLst>
              <a:gd name="adj" fmla="val 6897"/>
            </a:avLst>
          </a:prstGeom>
          <a:solidFill>
            <a:srgbClr val="E05252">
              <a:alpha val="10000"/>
            </a:srgbClr>
          </a:solidFill>
          <a:ln w="12700">
            <a:solidFill>
              <a:srgbClr val="E05252">
                <a:alpha val="42000"/>
              </a:srgbClr>
            </a:solidFill>
            <a:prstDash val="solid"/>
          </a:ln>
        </p:spPr>
      </p:sp>
      <p:sp>
        <p:nvSpPr>
          <p:cNvPr id="10" name="Text 8"/>
          <p:cNvSpPr/>
          <p:nvPr/>
        </p:nvSpPr>
        <p:spPr>
          <a:xfrm>
            <a:off x="4919472" y="3703320"/>
            <a:ext cx="3657600" cy="310896"/>
          </a:xfrm>
          <a:prstGeom prst="rect">
            <a:avLst/>
          </a:prstGeom>
          <a:noFill/>
          <a:ln/>
        </p:spPr>
        <p:txBody>
          <a:bodyPr wrap="square" lIns="0" tIns="0" rIns="0" bIns="0" rtlCol="0" anchor="ctr"/>
          <a:lstStyle/>
          <a:p>
            <a:pPr marL="0" indent="0">
              <a:buNone/>
            </a:pPr>
            <a:r>
              <a:rPr lang="en-US" sz="950" b="1" kern="0" spc="200" dirty="0">
                <a:solidFill>
                  <a:srgbClr val="E05252"/>
                </a:solidFill>
                <a:latin typeface="Calibri" pitchFamily="34" charset="0"/>
                <a:ea typeface="Calibri" pitchFamily="34" charset="-122"/>
                <a:cs typeface="Calibri" pitchFamily="34" charset="-120"/>
              </a:rPr>
              <a:t>NEVER HAPPENS...</a:t>
            </a:r>
            <a:endParaRPr lang="en-US" sz="950" dirty="0"/>
          </a:p>
        </p:txBody>
      </p:sp>
      <p:sp>
        <p:nvSpPr>
          <p:cNvPr id="11" name="Text 9"/>
          <p:cNvSpPr/>
          <p:nvPr/>
        </p:nvSpPr>
        <p:spPr>
          <a:xfrm>
            <a:off x="4919472" y="4023360"/>
            <a:ext cx="3657600" cy="896112"/>
          </a:xfrm>
          <a:prstGeom prst="rect">
            <a:avLst/>
          </a:prstGeom>
          <a:noFill/>
          <a:ln/>
        </p:spPr>
        <p:txBody>
          <a:bodyPr wrap="square" lIns="0" tIns="0" rIns="0" bIns="0" rtlCol="0" anchor="ctr"/>
          <a:lstStyle/>
          <a:p>
            <a:pPr marL="0" indent="0">
              <a:lnSpc>
                <a:spcPct val="138000"/>
              </a:lnSpc>
              <a:buNone/>
            </a:pPr>
            <a:r>
              <a:rPr lang="en-US" sz="950" dirty="0">
                <a:solidFill>
                  <a:srgbClr val="F87171"/>
                </a:solidFill>
                <a:latin typeface="Calibri" pitchFamily="34" charset="0"/>
                <a:ea typeface="Calibri" pitchFamily="34" charset="-122"/>
                <a:cs typeface="Calibri" pitchFamily="34" charset="-120"/>
              </a:rPr>
              <a:t>✕  Invent table or catalog names</a:t>
            </a:r>
            <a:endParaRPr lang="en-US" sz="950" dirty="0"/>
          </a:p>
          <a:p>
            <a:pPr marL="0" indent="0">
              <a:lnSpc>
                <a:spcPct val="138000"/>
              </a:lnSpc>
              <a:buNone/>
            </a:pPr>
            <a:r>
              <a:rPr lang="en-US" sz="950" dirty="0">
                <a:solidFill>
                  <a:srgbClr val="F87171"/>
                </a:solidFill>
                <a:latin typeface="Calibri" pitchFamily="34" charset="0"/>
                <a:ea typeface="Calibri" pitchFamily="34" charset="-122"/>
                <a:cs typeface="Calibri" pitchFamily="34" charset="-120"/>
              </a:rPr>
              <a:t>✕  Assume production when not confirmed</a:t>
            </a:r>
            <a:endParaRPr lang="en-US" sz="950" dirty="0"/>
          </a:p>
          <a:p>
            <a:pPr marL="0" indent="0">
              <a:lnSpc>
                <a:spcPct val="138000"/>
              </a:lnSpc>
              <a:buNone/>
            </a:pPr>
            <a:r>
              <a:rPr lang="en-US" sz="950" dirty="0">
                <a:solidFill>
                  <a:srgbClr val="F87171"/>
                </a:solidFill>
                <a:latin typeface="Calibri" pitchFamily="34" charset="0"/>
                <a:ea typeface="Calibri" pitchFamily="34" charset="-122"/>
                <a:cs typeface="Calibri" pitchFamily="34" charset="-120"/>
              </a:rPr>
              <a:t>✕  Guess PII classification</a:t>
            </a:r>
            <a:endParaRPr lang="en-US" sz="950" dirty="0"/>
          </a:p>
          <a:p>
            <a:pPr marL="0" indent="0">
              <a:lnSpc>
                <a:spcPct val="138000"/>
              </a:lnSpc>
              <a:buNone/>
            </a:pPr>
            <a:r>
              <a:rPr lang="en-US" sz="950" dirty="0">
                <a:solidFill>
                  <a:srgbClr val="F87171"/>
                </a:solidFill>
                <a:latin typeface="Calibri" pitchFamily="34" charset="0"/>
                <a:ea typeface="Calibri" pitchFamily="34" charset="-122"/>
                <a:cs typeface="Calibri" pitchFamily="34" charset="-120"/>
              </a:rPr>
              <a:t>✕  Silently use placeholder values</a:t>
            </a:r>
            <a:endParaRPr lang="en-US" sz="950" dirty="0"/>
          </a:p>
          <a:p>
            <a:pPr marL="0" indent="0">
              <a:lnSpc>
                <a:spcPct val="138000"/>
              </a:lnSpc>
              <a:buNone/>
            </a:pPr>
            <a:r>
              <a:rPr lang="en-US" sz="950" dirty="0">
                <a:solidFill>
                  <a:srgbClr val="F87171"/>
                </a:solidFill>
                <a:latin typeface="Calibri" pitchFamily="34" charset="0"/>
                <a:ea typeface="Calibri" pitchFamily="34" charset="-122"/>
                <a:cs typeface="Calibri" pitchFamily="34" charset="-120"/>
              </a:rPr>
              <a:t>✕  Proceed on ambiguous requirements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5943600" y="-1097280"/>
            <a:ext cx="5029200" cy="5029200"/>
          </a:xfrm>
          <a:prstGeom prst="ellipse">
            <a:avLst/>
          </a:prstGeom>
          <a:solidFill>
            <a:srgbClr val="FFE600">
              <a:alpha val="5000"/>
            </a:srgbClr>
          </a:solidFill>
          <a:ln w="12700">
            <a:solidFill>
              <a:srgbClr val="FFE600">
                <a:alpha val="5000"/>
              </a:srgbClr>
            </a:solidFill>
            <a:prstDash val="solid"/>
          </a:ln>
        </p:spPr>
      </p:sp>
      <p:sp>
        <p:nvSpPr>
          <p:cNvPr id="3" name="Text 1"/>
          <p:cNvSpPr/>
          <p:nvPr/>
        </p:nvSpPr>
        <p:spPr>
          <a:xfrm>
            <a:off x="457200" y="182880"/>
            <a:ext cx="8229600" cy="347472"/>
          </a:xfrm>
          <a:prstGeom prst="rect">
            <a:avLst/>
          </a:prstGeom>
          <a:noFill/>
          <a:ln/>
        </p:spPr>
        <p:txBody>
          <a:bodyPr wrap="square" lIns="0" tIns="0" rIns="0" bIns="0" rtlCol="0" anchor="ctr"/>
          <a:lstStyle/>
          <a:p>
            <a:pPr marL="0" indent="0" algn="ctr">
              <a:buNone/>
            </a:pPr>
            <a:r>
              <a:rPr lang="en-US" sz="1000" b="1" kern="0" spc="400" dirty="0">
                <a:solidFill>
                  <a:srgbClr val="FFE600"/>
                </a:solidFill>
                <a:latin typeface="Calibri" pitchFamily="34" charset="0"/>
                <a:ea typeface="Calibri" pitchFamily="34" charset="-122"/>
                <a:cs typeface="Calibri" pitchFamily="34" charset="-120"/>
              </a:rPr>
              <a:t>THE IMPACT</a:t>
            </a:r>
            <a:endParaRPr lang="en-US" sz="1000" dirty="0"/>
          </a:p>
        </p:txBody>
      </p:sp>
      <p:sp>
        <p:nvSpPr>
          <p:cNvPr id="4" name="Text 2"/>
          <p:cNvSpPr/>
          <p:nvPr/>
        </p:nvSpPr>
        <p:spPr>
          <a:xfrm>
            <a:off x="347472" y="658368"/>
            <a:ext cx="2743200" cy="1828800"/>
          </a:xfrm>
          <a:prstGeom prst="rect">
            <a:avLst/>
          </a:prstGeom>
          <a:noFill/>
          <a:ln/>
        </p:spPr>
        <p:txBody>
          <a:bodyPr wrap="square" lIns="0" tIns="0" rIns="0" bIns="0" rtlCol="0" anchor="ctr"/>
          <a:lstStyle/>
          <a:p>
            <a:pPr marL="0" indent="0" algn="ctr">
              <a:buNone/>
            </a:pPr>
            <a:r>
              <a:rPr lang="en-US" sz="8200" b="1" dirty="0">
                <a:solidFill>
                  <a:srgbClr val="FFE600"/>
                </a:solidFill>
                <a:latin typeface="Cambria" pitchFamily="34" charset="0"/>
                <a:ea typeface="Cambria" pitchFamily="34" charset="-122"/>
                <a:cs typeface="Cambria" pitchFamily="34" charset="-120"/>
              </a:rPr>
              <a:t>90%</a:t>
            </a:r>
            <a:endParaRPr lang="en-US" sz="8200" dirty="0"/>
          </a:p>
        </p:txBody>
      </p:sp>
      <p:sp>
        <p:nvSpPr>
          <p:cNvPr id="5" name="Shape 3"/>
          <p:cNvSpPr/>
          <p:nvPr/>
        </p:nvSpPr>
        <p:spPr>
          <a:xfrm>
            <a:off x="621792" y="2487168"/>
            <a:ext cx="2194560" cy="38405"/>
          </a:xfrm>
          <a:prstGeom prst="rect">
            <a:avLst/>
          </a:prstGeom>
          <a:solidFill>
            <a:srgbClr val="FFE600">
              <a:alpha val="45000"/>
            </a:srgbClr>
          </a:solidFill>
          <a:ln w="12700">
            <a:solidFill>
              <a:srgbClr val="FFE600">
                <a:alpha val="45000"/>
              </a:srgbClr>
            </a:solidFill>
            <a:prstDash val="solid"/>
          </a:ln>
        </p:spPr>
      </p:sp>
      <p:sp>
        <p:nvSpPr>
          <p:cNvPr id="6" name="Text 4"/>
          <p:cNvSpPr/>
          <p:nvPr/>
        </p:nvSpPr>
        <p:spPr>
          <a:xfrm>
            <a:off x="347472" y="2606040"/>
            <a:ext cx="274320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Less rework</a:t>
            </a:r>
            <a:endParaRPr lang="en-US" sz="1500" dirty="0"/>
          </a:p>
        </p:txBody>
      </p:sp>
      <p:sp>
        <p:nvSpPr>
          <p:cNvPr id="7" name="Text 5"/>
          <p:cNvSpPr/>
          <p:nvPr/>
        </p:nvSpPr>
        <p:spPr>
          <a:xfrm>
            <a:off x="347472" y="3127248"/>
            <a:ext cx="2743200" cy="621792"/>
          </a:xfrm>
          <a:prstGeom prst="rect">
            <a:avLst/>
          </a:prstGeom>
          <a:noFill/>
          <a:ln/>
        </p:spPr>
        <p:txBody>
          <a:bodyPr wrap="square" lIns="0" tIns="0" rIns="0" bIns="0" rtlCol="0" anchor="ctr"/>
          <a:lstStyle/>
          <a:p>
            <a:pPr marL="0" indent="0" algn="ctr">
              <a:lnSpc>
                <a:spcPct val="130000"/>
              </a:lnSpc>
              <a:buNone/>
            </a:pPr>
            <a:r>
              <a:rPr lang="en-US" sz="1050" dirty="0">
                <a:solidFill>
                  <a:srgbClr val="747480"/>
                </a:solidFill>
                <a:latin typeface="Calibri" pitchFamily="34" charset="0"/>
                <a:ea typeface="Calibri" pitchFamily="34" charset="-122"/>
                <a:cs typeface="Calibri" pitchFamily="34" charset="-120"/>
              </a:rPr>
              <a:t>Standards enforced at generation — not caught at review</a:t>
            </a:r>
            <a:endParaRPr lang="en-US" sz="1050" dirty="0"/>
          </a:p>
        </p:txBody>
      </p:sp>
      <p:sp>
        <p:nvSpPr>
          <p:cNvPr id="8" name="Text 6"/>
          <p:cNvSpPr/>
          <p:nvPr/>
        </p:nvSpPr>
        <p:spPr>
          <a:xfrm>
            <a:off x="3273552" y="658368"/>
            <a:ext cx="2743200" cy="1828800"/>
          </a:xfrm>
          <a:prstGeom prst="rect">
            <a:avLst/>
          </a:prstGeom>
          <a:noFill/>
          <a:ln/>
        </p:spPr>
        <p:txBody>
          <a:bodyPr wrap="square" lIns="0" tIns="0" rIns="0" bIns="0" rtlCol="0" anchor="ctr"/>
          <a:lstStyle/>
          <a:p>
            <a:pPr marL="0" indent="0" algn="ctr">
              <a:buNone/>
            </a:pPr>
            <a:r>
              <a:rPr lang="en-US" sz="8200" b="1" dirty="0">
                <a:solidFill>
                  <a:srgbClr val="FFE600"/>
                </a:solidFill>
                <a:latin typeface="Cambria" pitchFamily="34" charset="0"/>
                <a:ea typeface="Cambria" pitchFamily="34" charset="-122"/>
                <a:cs typeface="Cambria" pitchFamily="34" charset="-120"/>
              </a:rPr>
              <a:t>Zero</a:t>
            </a:r>
            <a:endParaRPr lang="en-US" sz="8200" dirty="0"/>
          </a:p>
        </p:txBody>
      </p:sp>
      <p:sp>
        <p:nvSpPr>
          <p:cNvPr id="9" name="Shape 7"/>
          <p:cNvSpPr/>
          <p:nvPr/>
        </p:nvSpPr>
        <p:spPr>
          <a:xfrm>
            <a:off x="3547872" y="2487168"/>
            <a:ext cx="2194560" cy="38405"/>
          </a:xfrm>
          <a:prstGeom prst="rect">
            <a:avLst/>
          </a:prstGeom>
          <a:solidFill>
            <a:srgbClr val="FFE600">
              <a:alpha val="45000"/>
            </a:srgbClr>
          </a:solidFill>
          <a:ln w="12700">
            <a:solidFill>
              <a:srgbClr val="FFE600">
                <a:alpha val="45000"/>
              </a:srgbClr>
            </a:solidFill>
            <a:prstDash val="solid"/>
          </a:ln>
        </p:spPr>
      </p:sp>
      <p:sp>
        <p:nvSpPr>
          <p:cNvPr id="10" name="Text 8"/>
          <p:cNvSpPr/>
          <p:nvPr/>
        </p:nvSpPr>
        <p:spPr>
          <a:xfrm>
            <a:off x="3273552" y="2606040"/>
            <a:ext cx="274320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Hardcoded secrets</a:t>
            </a:r>
            <a:endParaRPr lang="en-US" sz="1500" dirty="0"/>
          </a:p>
        </p:txBody>
      </p:sp>
      <p:sp>
        <p:nvSpPr>
          <p:cNvPr id="11" name="Text 9"/>
          <p:cNvSpPr/>
          <p:nvPr/>
        </p:nvSpPr>
        <p:spPr>
          <a:xfrm>
            <a:off x="3273552" y="3127248"/>
            <a:ext cx="2743200" cy="621792"/>
          </a:xfrm>
          <a:prstGeom prst="rect">
            <a:avLst/>
          </a:prstGeom>
          <a:noFill/>
          <a:ln/>
        </p:spPr>
        <p:txBody>
          <a:bodyPr wrap="square" lIns="0" tIns="0" rIns="0" bIns="0" rtlCol="0" anchor="ctr"/>
          <a:lstStyle/>
          <a:p>
            <a:pPr marL="0" indent="0" algn="ctr">
              <a:lnSpc>
                <a:spcPct val="130000"/>
              </a:lnSpc>
              <a:buNone/>
            </a:pPr>
            <a:r>
              <a:rPr lang="en-US" sz="1050" dirty="0">
                <a:solidFill>
                  <a:srgbClr val="747480"/>
                </a:solidFill>
                <a:latin typeface="Calibri" pitchFamily="34" charset="0"/>
                <a:ea typeface="Calibri" pitchFamily="34" charset="-122"/>
                <a:cs typeface="Calibri" pitchFamily="34" charset="-120"/>
              </a:rPr>
              <a:t>Security rules prevent credentials from ever being written</a:t>
            </a:r>
            <a:endParaRPr lang="en-US" sz="1050" dirty="0"/>
          </a:p>
        </p:txBody>
      </p:sp>
      <p:sp>
        <p:nvSpPr>
          <p:cNvPr id="12" name="Text 10"/>
          <p:cNvSpPr/>
          <p:nvPr/>
        </p:nvSpPr>
        <p:spPr>
          <a:xfrm>
            <a:off x="6199632" y="658368"/>
            <a:ext cx="2743200" cy="1828800"/>
          </a:xfrm>
          <a:prstGeom prst="rect">
            <a:avLst/>
          </a:prstGeom>
          <a:noFill/>
          <a:ln/>
        </p:spPr>
        <p:txBody>
          <a:bodyPr wrap="square" lIns="0" tIns="0" rIns="0" bIns="0" rtlCol="0" anchor="ctr"/>
          <a:lstStyle/>
          <a:p>
            <a:pPr marL="0" indent="0" algn="ctr">
              <a:buNone/>
            </a:pPr>
            <a:r>
              <a:rPr lang="en-US" sz="8200" b="1" dirty="0">
                <a:solidFill>
                  <a:srgbClr val="FFE600"/>
                </a:solidFill>
                <a:latin typeface="Cambria" pitchFamily="34" charset="0"/>
                <a:ea typeface="Cambria" pitchFamily="34" charset="-122"/>
                <a:cs typeface="Cambria" pitchFamily="34" charset="-120"/>
              </a:rPr>
              <a:t>1</a:t>
            </a:r>
            <a:endParaRPr lang="en-US" sz="8200" dirty="0"/>
          </a:p>
        </p:txBody>
      </p:sp>
      <p:sp>
        <p:nvSpPr>
          <p:cNvPr id="13" name="Shape 11"/>
          <p:cNvSpPr/>
          <p:nvPr/>
        </p:nvSpPr>
        <p:spPr>
          <a:xfrm>
            <a:off x="6473952" y="2487168"/>
            <a:ext cx="2194560" cy="38405"/>
          </a:xfrm>
          <a:prstGeom prst="rect">
            <a:avLst/>
          </a:prstGeom>
          <a:solidFill>
            <a:srgbClr val="FFE600">
              <a:alpha val="45000"/>
            </a:srgbClr>
          </a:solidFill>
          <a:ln w="12700">
            <a:solidFill>
              <a:srgbClr val="FFE600">
                <a:alpha val="45000"/>
              </a:srgbClr>
            </a:solidFill>
            <a:prstDash val="solid"/>
          </a:ln>
        </p:spPr>
      </p:sp>
      <p:sp>
        <p:nvSpPr>
          <p:cNvPr id="14" name="Text 12"/>
          <p:cNvSpPr/>
          <p:nvPr/>
        </p:nvSpPr>
        <p:spPr>
          <a:xfrm>
            <a:off x="6199632" y="2606040"/>
            <a:ext cx="274320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Config file</a:t>
            </a:r>
            <a:endParaRPr lang="en-US" sz="1500" dirty="0"/>
          </a:p>
        </p:txBody>
      </p:sp>
      <p:sp>
        <p:nvSpPr>
          <p:cNvPr id="15" name="Text 13"/>
          <p:cNvSpPr/>
          <p:nvPr/>
        </p:nvSpPr>
        <p:spPr>
          <a:xfrm>
            <a:off x="6199632" y="3127248"/>
            <a:ext cx="2743200" cy="621792"/>
          </a:xfrm>
          <a:prstGeom prst="rect">
            <a:avLst/>
          </a:prstGeom>
          <a:noFill/>
          <a:ln/>
        </p:spPr>
        <p:txBody>
          <a:bodyPr wrap="square" lIns="0" tIns="0" rIns="0" bIns="0" rtlCol="0" anchor="ctr"/>
          <a:lstStyle/>
          <a:p>
            <a:pPr marL="0" indent="0" algn="ctr">
              <a:lnSpc>
                <a:spcPct val="130000"/>
              </a:lnSpc>
              <a:buNone/>
            </a:pPr>
            <a:r>
              <a:rPr lang="en-US" sz="1050" dirty="0">
                <a:solidFill>
                  <a:srgbClr val="747480"/>
                </a:solidFill>
                <a:latin typeface="Calibri" pitchFamily="34" charset="0"/>
                <a:ea typeface="Calibri" pitchFamily="34" charset="-122"/>
                <a:cs typeface="Calibri" pitchFamily="34" charset="-120"/>
              </a:rPr>
              <a:t>workspace.config.md — fill once per environment, reuse forever</a:t>
            </a:r>
            <a:endParaRPr lang="en-US" sz="1050" dirty="0"/>
          </a:p>
        </p:txBody>
      </p:sp>
      <p:sp>
        <p:nvSpPr>
          <p:cNvPr id="16" name="Shape 14"/>
          <p:cNvSpPr/>
          <p:nvPr/>
        </p:nvSpPr>
        <p:spPr>
          <a:xfrm>
            <a:off x="347472" y="3886200"/>
            <a:ext cx="2743200" cy="1005840"/>
          </a:xfrm>
          <a:prstGeom prst="roundRect">
            <a:avLst>
              <a:gd name="adj" fmla="val 9091"/>
            </a:avLst>
          </a:prstGeom>
          <a:solidFill>
            <a:srgbClr val="23232F"/>
          </a:solidFill>
          <a:ln w="12700">
            <a:solidFill>
              <a:srgbClr val="FFE600">
                <a:alpha val="28000"/>
              </a:srgbClr>
            </a:solidFill>
            <a:prstDash val="solid"/>
          </a:ln>
          <a:effectLst>
            <a:outerShdw blurRad="76200" dist="25400" dir="2700000" algn="bl" rotWithShape="0">
              <a:srgbClr val="000000">
                <a:alpha val="28000"/>
              </a:srgbClr>
            </a:outerShdw>
          </a:effectLst>
        </p:spPr>
      </p:sp>
      <p:sp>
        <p:nvSpPr>
          <p:cNvPr id="17" name="Text 15"/>
          <p:cNvSpPr/>
          <p:nvPr/>
        </p:nvSpPr>
        <p:spPr>
          <a:xfrm>
            <a:off x="512064" y="3977640"/>
            <a:ext cx="2423160" cy="32918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Delivery</a:t>
            </a:r>
            <a:endParaRPr lang="en-US" sz="1200" dirty="0"/>
          </a:p>
        </p:txBody>
      </p:sp>
      <p:sp>
        <p:nvSpPr>
          <p:cNvPr id="18" name="Text 16"/>
          <p:cNvSpPr/>
          <p:nvPr/>
        </p:nvSpPr>
        <p:spPr>
          <a:xfrm>
            <a:off x="512064" y="4315968"/>
            <a:ext cx="2423160" cy="502920"/>
          </a:xfrm>
          <a:prstGeom prst="rect">
            <a:avLst/>
          </a:prstGeom>
          <a:noFill/>
          <a:ln/>
        </p:spPr>
        <p:txBody>
          <a:bodyPr wrap="square" lIns="0" tIns="0" rIns="0" bIns="0" rtlCol="0" anchor="ctr"/>
          <a:lstStyle/>
          <a:p>
            <a:pPr marL="0" indent="0">
              <a:lnSpc>
                <a:spcPct val="120000"/>
              </a:lnSpc>
              <a:buNone/>
            </a:pPr>
            <a:r>
              <a:rPr lang="en-US" sz="950" dirty="0">
                <a:solidFill>
                  <a:srgbClr val="C4C4CF"/>
                </a:solidFill>
                <a:latin typeface="Calibri" pitchFamily="34" charset="0"/>
                <a:ea typeface="Calibri" pitchFamily="34" charset="-122"/>
                <a:cs typeface="Calibri" pitchFamily="34" charset="-120"/>
              </a:rPr>
              <a:t>Engineers stop re-explaining conventions. Standards load automatically with each task.</a:t>
            </a:r>
            <a:endParaRPr lang="en-US" sz="950" dirty="0"/>
          </a:p>
        </p:txBody>
      </p:sp>
      <p:sp>
        <p:nvSpPr>
          <p:cNvPr id="19" name="Shape 17"/>
          <p:cNvSpPr/>
          <p:nvPr/>
        </p:nvSpPr>
        <p:spPr>
          <a:xfrm>
            <a:off x="3273552" y="3886200"/>
            <a:ext cx="2743200" cy="1005840"/>
          </a:xfrm>
          <a:prstGeom prst="roundRect">
            <a:avLst>
              <a:gd name="adj" fmla="val 9091"/>
            </a:avLst>
          </a:prstGeom>
          <a:solidFill>
            <a:srgbClr val="23232F"/>
          </a:solidFill>
          <a:ln w="12700">
            <a:solidFill>
              <a:srgbClr val="FFE600">
                <a:alpha val="28000"/>
              </a:srgbClr>
            </a:solidFill>
            <a:prstDash val="solid"/>
          </a:ln>
          <a:effectLst>
            <a:outerShdw blurRad="76200" dist="25400" dir="2700000" algn="bl" rotWithShape="0">
              <a:srgbClr val="000000">
                <a:alpha val="28000"/>
              </a:srgbClr>
            </a:outerShdw>
          </a:effectLst>
        </p:spPr>
      </p:sp>
      <p:sp>
        <p:nvSpPr>
          <p:cNvPr id="20" name="Text 18"/>
          <p:cNvSpPr/>
          <p:nvPr/>
        </p:nvSpPr>
        <p:spPr>
          <a:xfrm>
            <a:off x="3438144" y="3977640"/>
            <a:ext cx="2423160" cy="32918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Consistent Quality</a:t>
            </a:r>
            <a:endParaRPr lang="en-US" sz="1200" dirty="0"/>
          </a:p>
        </p:txBody>
      </p:sp>
      <p:sp>
        <p:nvSpPr>
          <p:cNvPr id="21" name="Text 19"/>
          <p:cNvSpPr/>
          <p:nvPr/>
        </p:nvSpPr>
        <p:spPr>
          <a:xfrm>
            <a:off x="3438144" y="4315968"/>
            <a:ext cx="2423160" cy="502920"/>
          </a:xfrm>
          <a:prstGeom prst="rect">
            <a:avLst/>
          </a:prstGeom>
          <a:noFill/>
          <a:ln/>
        </p:spPr>
        <p:txBody>
          <a:bodyPr wrap="square" lIns="0" tIns="0" rIns="0" bIns="0" rtlCol="0" anchor="ctr"/>
          <a:lstStyle/>
          <a:p>
            <a:pPr marL="0" indent="0">
              <a:lnSpc>
                <a:spcPct val="120000"/>
              </a:lnSpc>
              <a:buNone/>
            </a:pPr>
            <a:r>
              <a:rPr lang="en-US" sz="950" dirty="0">
                <a:solidFill>
                  <a:srgbClr val="C4C4CF"/>
                </a:solidFill>
                <a:latin typeface="Calibri" pitchFamily="34" charset="0"/>
                <a:ea typeface="Calibri" pitchFamily="34" charset="-122"/>
                <a:cs typeface="Calibri" pitchFamily="34" charset="-120"/>
              </a:rPr>
              <a:t>Same naming, same security, same patterns — whoever prompts, whatever the tool.</a:t>
            </a:r>
            <a:endParaRPr lang="en-US" sz="950" dirty="0"/>
          </a:p>
        </p:txBody>
      </p:sp>
      <p:sp>
        <p:nvSpPr>
          <p:cNvPr id="22" name="Shape 20"/>
          <p:cNvSpPr/>
          <p:nvPr/>
        </p:nvSpPr>
        <p:spPr>
          <a:xfrm>
            <a:off x="6199632" y="3886200"/>
            <a:ext cx="2743200" cy="1005840"/>
          </a:xfrm>
          <a:prstGeom prst="roundRect">
            <a:avLst>
              <a:gd name="adj" fmla="val 9091"/>
            </a:avLst>
          </a:prstGeom>
          <a:solidFill>
            <a:srgbClr val="23232F"/>
          </a:solidFill>
          <a:ln w="12700">
            <a:solidFill>
              <a:srgbClr val="FFE600">
                <a:alpha val="28000"/>
              </a:srgbClr>
            </a:solidFill>
            <a:prstDash val="solid"/>
          </a:ln>
          <a:effectLst>
            <a:outerShdw blurRad="76200" dist="25400" dir="2700000" algn="bl" rotWithShape="0">
              <a:srgbClr val="000000">
                <a:alpha val="28000"/>
              </a:srgbClr>
            </a:outerShdw>
          </a:effectLst>
        </p:spPr>
      </p:sp>
      <p:sp>
        <p:nvSpPr>
          <p:cNvPr id="23" name="Text 21"/>
          <p:cNvSpPr/>
          <p:nvPr/>
        </p:nvSpPr>
        <p:spPr>
          <a:xfrm>
            <a:off x="6364224" y="3977640"/>
            <a:ext cx="2423160" cy="32918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Easier Reviews</a:t>
            </a:r>
            <a:endParaRPr lang="en-US" sz="1200" dirty="0"/>
          </a:p>
        </p:txBody>
      </p:sp>
      <p:sp>
        <p:nvSpPr>
          <p:cNvPr id="24" name="Text 22"/>
          <p:cNvSpPr/>
          <p:nvPr/>
        </p:nvSpPr>
        <p:spPr>
          <a:xfrm>
            <a:off x="6364224" y="4315968"/>
            <a:ext cx="2423160" cy="502920"/>
          </a:xfrm>
          <a:prstGeom prst="rect">
            <a:avLst/>
          </a:prstGeom>
          <a:noFill/>
          <a:ln/>
        </p:spPr>
        <p:txBody>
          <a:bodyPr wrap="square" lIns="0" tIns="0" rIns="0" bIns="0" rtlCol="0" anchor="ctr"/>
          <a:lstStyle/>
          <a:p>
            <a:pPr marL="0" indent="0">
              <a:lnSpc>
                <a:spcPct val="120000"/>
              </a:lnSpc>
              <a:buNone/>
            </a:pPr>
            <a:r>
              <a:rPr lang="en-US" sz="950" dirty="0">
                <a:solidFill>
                  <a:srgbClr val="C4C4CF"/>
                </a:solidFill>
                <a:latin typeface="Calibri" pitchFamily="34" charset="0"/>
                <a:ea typeface="Calibri" pitchFamily="34" charset="-122"/>
                <a:cs typeface="Calibri" pitchFamily="34" charset="-120"/>
              </a:rPr>
              <a:t>Reviewers focus on business logic. Conventions are already correct.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4"/>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FFE600"/>
          </a:solidFill>
          <a:ln w="12700">
            <a:solidFill>
              <a:srgbClr val="FFE600"/>
            </a:solidFill>
            <a:prstDash val="solid"/>
          </a:ln>
        </p:spPr>
      </p:sp>
      <p:sp>
        <p:nvSpPr>
          <p:cNvPr id="3" name="Shape 1"/>
          <p:cNvSpPr/>
          <p:nvPr/>
        </p:nvSpPr>
        <p:spPr>
          <a:xfrm>
            <a:off x="5029200" y="-914400"/>
            <a:ext cx="4114800" cy="4114800"/>
          </a:xfrm>
          <a:prstGeom prst="ellipse">
            <a:avLst/>
          </a:prstGeom>
          <a:solidFill>
            <a:srgbClr val="2E2E38">
              <a:alpha val="16000"/>
            </a:srgbClr>
          </a:solidFill>
          <a:ln w="12700">
            <a:solidFill>
              <a:srgbClr val="2E2E38">
                <a:alpha val="16000"/>
              </a:srgbClr>
            </a:solidFill>
            <a:prstDash val="solid"/>
          </a:ln>
        </p:spPr>
      </p:sp>
      <p:sp>
        <p:nvSpPr>
          <p:cNvPr id="4" name="Shape 2"/>
          <p:cNvSpPr/>
          <p:nvPr/>
        </p:nvSpPr>
        <p:spPr>
          <a:xfrm>
            <a:off x="6858000" y="3200400"/>
            <a:ext cx="2926080" cy="2926080"/>
          </a:xfrm>
          <a:prstGeom prst="ellipse">
            <a:avLst/>
          </a:prstGeom>
          <a:solidFill>
            <a:srgbClr val="2E2E38">
              <a:alpha val="12000"/>
            </a:srgbClr>
          </a:solidFill>
          <a:ln w="12700">
            <a:solidFill>
              <a:srgbClr val="2E2E38">
                <a:alpha val="12000"/>
              </a:srgbClr>
            </a:solidFill>
            <a:prstDash val="solid"/>
          </a:ln>
        </p:spPr>
      </p:sp>
      <p:sp>
        <p:nvSpPr>
          <p:cNvPr id="5" name="Text 3"/>
          <p:cNvSpPr/>
          <p:nvPr/>
        </p:nvSpPr>
        <p:spPr>
          <a:xfrm>
            <a:off x="6053328" y="713232"/>
            <a:ext cx="2907792" cy="2423160"/>
          </a:xfrm>
          <a:prstGeom prst="rect">
            <a:avLst/>
          </a:prstGeom>
          <a:noFill/>
          <a:ln/>
        </p:spPr>
        <p:txBody>
          <a:bodyPr wrap="square" lIns="0" tIns="0" rIns="0" bIns="0" rtlCol="0" anchor="ctr"/>
          <a:lstStyle/>
          <a:p>
            <a:pPr marL="0" indent="0">
              <a:lnSpc>
                <a:spcPct val="100000"/>
              </a:lnSpc>
              <a:buNone/>
            </a:pPr>
            <a:r>
              <a:rPr lang="en-US" sz="4000" b="1" dirty="0">
                <a:solidFill>
                  <a:srgbClr val="1A1A24"/>
                </a:solidFill>
                <a:latin typeface="Cambria" pitchFamily="34" charset="0"/>
                <a:ea typeface="Cambria" pitchFamily="34" charset="-122"/>
                <a:cs typeface="Cambria" pitchFamily="34" charset="-120"/>
              </a:rPr>
              <a:t>Ready</a:t>
            </a:r>
            <a:endParaRPr lang="en-US" sz="4000" dirty="0"/>
          </a:p>
          <a:p>
            <a:pPr marL="0" indent="0">
              <a:lnSpc>
                <a:spcPct val="100000"/>
              </a:lnSpc>
              <a:buNone/>
            </a:pPr>
            <a:r>
              <a:rPr lang="en-US" sz="4000" b="1" dirty="0">
                <a:solidFill>
                  <a:srgbClr val="1A1A24"/>
                </a:solidFill>
                <a:latin typeface="Cambria" pitchFamily="34" charset="0"/>
                <a:ea typeface="Cambria" pitchFamily="34" charset="-122"/>
                <a:cs typeface="Cambria" pitchFamily="34" charset="-120"/>
              </a:rPr>
              <a:t>in 4</a:t>
            </a:r>
            <a:endParaRPr lang="en-US" sz="4000" dirty="0"/>
          </a:p>
          <a:p>
            <a:pPr marL="0" indent="0">
              <a:lnSpc>
                <a:spcPct val="100000"/>
              </a:lnSpc>
              <a:buNone/>
            </a:pPr>
            <a:r>
              <a:rPr lang="en-US" sz="4000" b="1" dirty="0">
                <a:solidFill>
                  <a:srgbClr val="1A1A24"/>
                </a:solidFill>
                <a:latin typeface="Cambria" pitchFamily="34" charset="0"/>
                <a:ea typeface="Cambria" pitchFamily="34" charset="-122"/>
                <a:cs typeface="Cambria" pitchFamily="34" charset="-120"/>
              </a:rPr>
              <a:t>steps.</a:t>
            </a:r>
            <a:endParaRPr lang="en-US" sz="4000" dirty="0"/>
          </a:p>
        </p:txBody>
      </p:sp>
      <p:sp>
        <p:nvSpPr>
          <p:cNvPr id="6" name="Text 4"/>
          <p:cNvSpPr/>
          <p:nvPr/>
        </p:nvSpPr>
        <p:spPr>
          <a:xfrm>
            <a:off x="6053328" y="3310128"/>
            <a:ext cx="2907792" cy="822960"/>
          </a:xfrm>
          <a:prstGeom prst="rect">
            <a:avLst/>
          </a:prstGeom>
          <a:noFill/>
          <a:ln/>
        </p:spPr>
        <p:txBody>
          <a:bodyPr wrap="square" lIns="0" tIns="0" rIns="0" bIns="0" rtlCol="0" anchor="ctr"/>
          <a:lstStyle/>
          <a:p>
            <a:pPr marL="0" indent="0">
              <a:lnSpc>
                <a:spcPct val="135000"/>
              </a:lnSpc>
              <a:buNone/>
            </a:pPr>
            <a:r>
              <a:rPr lang="en-US" sz="1300" dirty="0">
                <a:solidFill>
                  <a:srgbClr val="2E2E38"/>
                </a:solidFill>
                <a:latin typeface="Calibri" pitchFamily="34" charset="0"/>
                <a:ea typeface="Calibri" pitchFamily="34" charset="-122"/>
                <a:cs typeface="Calibri" pitchFamily="34" charset="-120"/>
              </a:rPr>
              <a:t>The playbook is</a:t>
            </a:r>
            <a:endParaRPr lang="en-US" sz="1300" dirty="0"/>
          </a:p>
          <a:p>
            <a:pPr marL="0" indent="0">
              <a:lnSpc>
                <a:spcPct val="135000"/>
              </a:lnSpc>
              <a:buNone/>
            </a:pPr>
            <a:r>
              <a:rPr lang="en-US" sz="1300" dirty="0">
                <a:solidFill>
                  <a:srgbClr val="2E2E38"/>
                </a:solidFill>
                <a:latin typeface="Calibri" pitchFamily="34" charset="0"/>
                <a:ea typeface="Calibri" pitchFamily="34" charset="-122"/>
                <a:cs typeface="Calibri" pitchFamily="34" charset="-120"/>
              </a:rPr>
              <a:t>already built.</a:t>
            </a:r>
            <a:endParaRPr lang="en-US" sz="1300" dirty="0"/>
          </a:p>
        </p:txBody>
      </p:sp>
      <p:sp>
        <p:nvSpPr>
          <p:cNvPr id="7" name="Text 5"/>
          <p:cNvSpPr/>
          <p:nvPr/>
        </p:nvSpPr>
        <p:spPr>
          <a:xfrm>
            <a:off x="6053328" y="4178808"/>
            <a:ext cx="2907792" cy="658368"/>
          </a:xfrm>
          <a:prstGeom prst="rect">
            <a:avLst/>
          </a:prstGeom>
          <a:noFill/>
          <a:ln/>
        </p:spPr>
        <p:txBody>
          <a:bodyPr wrap="square" lIns="0" tIns="0" rIns="0" bIns="0" rtlCol="0" anchor="ctr"/>
          <a:lstStyle/>
          <a:p>
            <a:pPr marL="0" indent="0">
              <a:lnSpc>
                <a:spcPct val="130000"/>
              </a:lnSpc>
              <a:buNone/>
            </a:pPr>
            <a:r>
              <a:rPr lang="en-US" sz="1250" i="1" dirty="0">
                <a:solidFill>
                  <a:srgbClr val="2E2E38"/>
                </a:solidFill>
                <a:latin typeface="Calibri" pitchFamily="34" charset="0"/>
                <a:ea typeface="Calibri" pitchFamily="34" charset="-122"/>
                <a:cs typeface="Calibri" pitchFamily="34" charset="-120"/>
              </a:rPr>
              <a:t>You just need to</a:t>
            </a:r>
            <a:endParaRPr lang="en-US" sz="1250" dirty="0"/>
          </a:p>
          <a:p>
            <a:pPr marL="0" indent="0">
              <a:lnSpc>
                <a:spcPct val="130000"/>
              </a:lnSpc>
              <a:buNone/>
            </a:pPr>
            <a:r>
              <a:rPr lang="en-US" sz="1250" i="1" dirty="0">
                <a:solidFill>
                  <a:srgbClr val="2E2E38"/>
                </a:solidFill>
                <a:latin typeface="Calibri" pitchFamily="34" charset="0"/>
                <a:ea typeface="Calibri" pitchFamily="34" charset="-122"/>
                <a:cs typeface="Calibri" pitchFamily="34" charset="-120"/>
              </a:rPr>
              <a:t>fill in the blanks.</a:t>
            </a:r>
            <a:endParaRPr lang="en-US" sz="1250" dirty="0"/>
          </a:p>
        </p:txBody>
      </p:sp>
      <p:sp>
        <p:nvSpPr>
          <p:cNvPr id="8" name="Text 6"/>
          <p:cNvSpPr/>
          <p:nvPr/>
        </p:nvSpPr>
        <p:spPr>
          <a:xfrm>
            <a:off x="438912" y="201168"/>
            <a:ext cx="5303520" cy="347472"/>
          </a:xfrm>
          <a:prstGeom prst="rect">
            <a:avLst/>
          </a:prstGeom>
          <a:noFill/>
          <a:ln/>
        </p:spPr>
        <p:txBody>
          <a:bodyPr wrap="square" lIns="0" tIns="0" rIns="0" bIns="0" rtlCol="0" anchor="ctr"/>
          <a:lstStyle/>
          <a:p>
            <a:pPr marL="0" indent="0">
              <a:buNone/>
            </a:pPr>
            <a:r>
              <a:rPr lang="en-US" sz="1000" b="1" kern="0" spc="400" dirty="0">
                <a:solidFill>
                  <a:srgbClr val="FFE600"/>
                </a:solidFill>
                <a:latin typeface="Calibri" pitchFamily="34" charset="0"/>
                <a:ea typeface="Calibri" pitchFamily="34" charset="-122"/>
                <a:cs typeface="Calibri" pitchFamily="34" charset="-120"/>
              </a:rPr>
              <a:t>NEXT STEPS</a:t>
            </a:r>
            <a:endParaRPr lang="en-US" sz="1000" dirty="0"/>
          </a:p>
        </p:txBody>
      </p:sp>
      <p:sp>
        <p:nvSpPr>
          <p:cNvPr id="9" name="Shape 7"/>
          <p:cNvSpPr/>
          <p:nvPr/>
        </p:nvSpPr>
        <p:spPr>
          <a:xfrm>
            <a:off x="438912" y="786384"/>
            <a:ext cx="530352" cy="530352"/>
          </a:xfrm>
          <a:prstGeom prst="ellipse">
            <a:avLst/>
          </a:prstGeom>
          <a:solidFill>
            <a:srgbClr val="FFE600"/>
          </a:solidFill>
          <a:ln w="12700">
            <a:solidFill>
              <a:srgbClr val="FFE600"/>
            </a:solidFill>
            <a:prstDash val="solid"/>
          </a:ln>
        </p:spPr>
      </p:sp>
      <p:sp>
        <p:nvSpPr>
          <p:cNvPr id="10" name="Text 8"/>
          <p:cNvSpPr/>
          <p:nvPr/>
        </p:nvSpPr>
        <p:spPr>
          <a:xfrm>
            <a:off x="438912" y="786384"/>
            <a:ext cx="530352" cy="530352"/>
          </a:xfrm>
          <a:prstGeom prst="rect">
            <a:avLst/>
          </a:prstGeom>
          <a:noFill/>
          <a:ln/>
        </p:spPr>
        <p:txBody>
          <a:bodyPr wrap="square" lIns="0" tIns="0" rIns="0" bIns="0" rtlCol="0" anchor="ctr"/>
          <a:lstStyle/>
          <a:p>
            <a:pPr marL="0" indent="0" algn="ctr">
              <a:buNone/>
            </a:pPr>
            <a:r>
              <a:rPr lang="en-US" sz="1600" b="1" dirty="0">
                <a:solidFill>
                  <a:srgbClr val="1A1A24"/>
                </a:solidFill>
                <a:latin typeface="Cambria" pitchFamily="34" charset="0"/>
                <a:ea typeface="Cambria" pitchFamily="34" charset="-122"/>
                <a:cs typeface="Cambria" pitchFamily="34" charset="-120"/>
              </a:rPr>
              <a:t>1</a:t>
            </a:r>
            <a:endParaRPr lang="en-US" sz="1600" dirty="0"/>
          </a:p>
        </p:txBody>
      </p:sp>
      <p:sp>
        <p:nvSpPr>
          <p:cNvPr id="11" name="Text 9"/>
          <p:cNvSpPr/>
          <p:nvPr/>
        </p:nvSpPr>
        <p:spPr>
          <a:xfrm>
            <a:off x="1115568" y="786384"/>
            <a:ext cx="4462272"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Fill in workspace.config.md</a:t>
            </a:r>
            <a:endParaRPr lang="en-US" sz="1350" dirty="0"/>
          </a:p>
        </p:txBody>
      </p:sp>
      <p:sp>
        <p:nvSpPr>
          <p:cNvPr id="12" name="Text 10"/>
          <p:cNvSpPr/>
          <p:nvPr/>
        </p:nvSpPr>
        <p:spPr>
          <a:xfrm>
            <a:off x="1115568" y="1152144"/>
            <a:ext cx="4462272" cy="475488"/>
          </a:xfrm>
          <a:prstGeom prst="rect">
            <a:avLst/>
          </a:prstGeom>
          <a:noFill/>
          <a:ln/>
        </p:spPr>
        <p:txBody>
          <a:bodyPr wrap="square" lIns="0" tIns="0" rIns="0" bIns="0" rtlCol="0" anchor="ctr"/>
          <a:lstStyle/>
          <a:p>
            <a:pPr marL="0" indent="0">
              <a:lnSpc>
                <a:spcPct val="120000"/>
              </a:lnSpc>
              <a:buNone/>
            </a:pPr>
            <a:r>
              <a:rPr lang="en-US" sz="1050" dirty="0">
                <a:solidFill>
                  <a:srgbClr val="C4C4CF"/>
                </a:solidFill>
                <a:latin typeface="Calibri" pitchFamily="34" charset="0"/>
                <a:ea typeface="Calibri" pitchFamily="34" charset="-122"/>
                <a:cs typeface="Calibri" pitchFamily="34" charset="-120"/>
              </a:rPr>
              <a:t>Add real catalog names, workspace IDs, cluster specs, and secret scope names per environment.</a:t>
            </a:r>
            <a:endParaRPr lang="en-US" sz="1050" dirty="0"/>
          </a:p>
        </p:txBody>
      </p:sp>
      <p:sp>
        <p:nvSpPr>
          <p:cNvPr id="13" name="Shape 11"/>
          <p:cNvSpPr/>
          <p:nvPr/>
        </p:nvSpPr>
        <p:spPr>
          <a:xfrm>
            <a:off x="438912" y="1837944"/>
            <a:ext cx="530352" cy="530352"/>
          </a:xfrm>
          <a:prstGeom prst="ellipse">
            <a:avLst/>
          </a:prstGeom>
          <a:solidFill>
            <a:srgbClr val="FFE600"/>
          </a:solidFill>
          <a:ln w="12700">
            <a:solidFill>
              <a:srgbClr val="FFE600"/>
            </a:solidFill>
            <a:prstDash val="solid"/>
          </a:ln>
        </p:spPr>
      </p:sp>
      <p:sp>
        <p:nvSpPr>
          <p:cNvPr id="14" name="Text 12"/>
          <p:cNvSpPr/>
          <p:nvPr/>
        </p:nvSpPr>
        <p:spPr>
          <a:xfrm>
            <a:off x="438912" y="1837944"/>
            <a:ext cx="530352" cy="530352"/>
          </a:xfrm>
          <a:prstGeom prst="rect">
            <a:avLst/>
          </a:prstGeom>
          <a:noFill/>
          <a:ln/>
        </p:spPr>
        <p:txBody>
          <a:bodyPr wrap="square" lIns="0" tIns="0" rIns="0" bIns="0" rtlCol="0" anchor="ctr"/>
          <a:lstStyle/>
          <a:p>
            <a:pPr marL="0" indent="0" algn="ctr">
              <a:buNone/>
            </a:pPr>
            <a:r>
              <a:rPr lang="en-US" sz="1600" b="1" dirty="0">
                <a:solidFill>
                  <a:srgbClr val="1A1A24"/>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1115568" y="1837944"/>
            <a:ext cx="4462272"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Commit to your Git repository</a:t>
            </a:r>
            <a:endParaRPr lang="en-US" sz="1350" dirty="0"/>
          </a:p>
        </p:txBody>
      </p:sp>
      <p:sp>
        <p:nvSpPr>
          <p:cNvPr id="16" name="Text 14"/>
          <p:cNvSpPr/>
          <p:nvPr/>
        </p:nvSpPr>
        <p:spPr>
          <a:xfrm>
            <a:off x="1115568" y="2203704"/>
            <a:ext cx="4462272" cy="475488"/>
          </a:xfrm>
          <a:prstGeom prst="rect">
            <a:avLst/>
          </a:prstGeom>
          <a:noFill/>
          <a:ln/>
        </p:spPr>
        <p:txBody>
          <a:bodyPr wrap="square" lIns="0" tIns="0" rIns="0" bIns="0" rtlCol="0" anchor="ctr"/>
          <a:lstStyle/>
          <a:p>
            <a:pPr marL="0" indent="0">
              <a:lnSpc>
                <a:spcPct val="120000"/>
              </a:lnSpc>
              <a:buNone/>
            </a:pPr>
            <a:r>
              <a:rPr lang="en-US" sz="1050" dirty="0">
                <a:solidFill>
                  <a:srgbClr val="C4C4CF"/>
                </a:solidFill>
                <a:latin typeface="Calibri" pitchFamily="34" charset="0"/>
                <a:ea typeface="Calibri" pitchFamily="34" charset="-122"/>
                <a:cs typeface="Calibri" pitchFamily="34" charset="-120"/>
              </a:rPr>
              <a:t>Place /playbook at the repo root so every AI tool discovers it automatically.</a:t>
            </a:r>
            <a:endParaRPr lang="en-US" sz="1050" dirty="0"/>
          </a:p>
        </p:txBody>
      </p:sp>
      <p:sp>
        <p:nvSpPr>
          <p:cNvPr id="17" name="Shape 15"/>
          <p:cNvSpPr/>
          <p:nvPr/>
        </p:nvSpPr>
        <p:spPr>
          <a:xfrm>
            <a:off x="438912" y="2889504"/>
            <a:ext cx="530352" cy="530352"/>
          </a:xfrm>
          <a:prstGeom prst="ellipse">
            <a:avLst/>
          </a:prstGeom>
          <a:solidFill>
            <a:srgbClr val="FFE600"/>
          </a:solidFill>
          <a:ln w="12700">
            <a:solidFill>
              <a:srgbClr val="FFE600"/>
            </a:solidFill>
            <a:prstDash val="solid"/>
          </a:ln>
        </p:spPr>
      </p:sp>
      <p:sp>
        <p:nvSpPr>
          <p:cNvPr id="18" name="Text 16"/>
          <p:cNvSpPr/>
          <p:nvPr/>
        </p:nvSpPr>
        <p:spPr>
          <a:xfrm>
            <a:off x="438912" y="2889504"/>
            <a:ext cx="530352" cy="530352"/>
          </a:xfrm>
          <a:prstGeom prst="rect">
            <a:avLst/>
          </a:prstGeom>
          <a:noFill/>
          <a:ln/>
        </p:spPr>
        <p:txBody>
          <a:bodyPr wrap="square" lIns="0" tIns="0" rIns="0" bIns="0" rtlCol="0" anchor="ctr"/>
          <a:lstStyle/>
          <a:p>
            <a:pPr marL="0" indent="0" algn="ctr">
              <a:buNone/>
            </a:pPr>
            <a:r>
              <a:rPr lang="en-US" sz="1600" b="1" dirty="0">
                <a:solidFill>
                  <a:srgbClr val="1A1A24"/>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115568" y="2889504"/>
            <a:ext cx="4462272"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Point your agent at MASTER.md</a:t>
            </a:r>
            <a:endParaRPr lang="en-US" sz="1350" dirty="0"/>
          </a:p>
        </p:txBody>
      </p:sp>
      <p:sp>
        <p:nvSpPr>
          <p:cNvPr id="20" name="Text 18"/>
          <p:cNvSpPr/>
          <p:nvPr/>
        </p:nvSpPr>
        <p:spPr>
          <a:xfrm>
            <a:off x="1115568" y="3255264"/>
            <a:ext cx="4462272" cy="475488"/>
          </a:xfrm>
          <a:prstGeom prst="rect">
            <a:avLst/>
          </a:prstGeom>
          <a:noFill/>
          <a:ln/>
        </p:spPr>
        <p:txBody>
          <a:bodyPr wrap="square" lIns="0" tIns="0" rIns="0" bIns="0" rtlCol="0" anchor="ctr"/>
          <a:lstStyle/>
          <a:p>
            <a:pPr marL="0" indent="0">
              <a:lnSpc>
                <a:spcPct val="120000"/>
              </a:lnSpc>
              <a:buNone/>
            </a:pPr>
            <a:r>
              <a:rPr lang="en-US" sz="1050" dirty="0">
                <a:solidFill>
                  <a:srgbClr val="C4C4CF"/>
                </a:solidFill>
                <a:latin typeface="Calibri" pitchFamily="34" charset="0"/>
                <a:ea typeface="Calibri" pitchFamily="34" charset="-122"/>
                <a:cs typeface="Calibri" pitchFamily="34" charset="-120"/>
              </a:rPr>
              <a:t>In Cursor, Copilot, or Claude — instruct the agent to read MASTER.md before every task.</a:t>
            </a:r>
            <a:endParaRPr lang="en-US" sz="1050" dirty="0"/>
          </a:p>
        </p:txBody>
      </p:sp>
      <p:sp>
        <p:nvSpPr>
          <p:cNvPr id="21" name="Shape 19"/>
          <p:cNvSpPr/>
          <p:nvPr/>
        </p:nvSpPr>
        <p:spPr>
          <a:xfrm>
            <a:off x="438912" y="3941064"/>
            <a:ext cx="530352" cy="530352"/>
          </a:xfrm>
          <a:prstGeom prst="ellipse">
            <a:avLst/>
          </a:prstGeom>
          <a:solidFill>
            <a:srgbClr val="FFE600"/>
          </a:solidFill>
          <a:ln w="12700">
            <a:solidFill>
              <a:srgbClr val="FFE600"/>
            </a:solidFill>
            <a:prstDash val="solid"/>
          </a:ln>
        </p:spPr>
      </p:sp>
      <p:sp>
        <p:nvSpPr>
          <p:cNvPr id="22" name="Text 20"/>
          <p:cNvSpPr/>
          <p:nvPr/>
        </p:nvSpPr>
        <p:spPr>
          <a:xfrm>
            <a:off x="438912" y="3941064"/>
            <a:ext cx="530352" cy="530352"/>
          </a:xfrm>
          <a:prstGeom prst="rect">
            <a:avLst/>
          </a:prstGeom>
          <a:noFill/>
          <a:ln/>
        </p:spPr>
        <p:txBody>
          <a:bodyPr wrap="square" lIns="0" tIns="0" rIns="0" bIns="0" rtlCol="0" anchor="ctr"/>
          <a:lstStyle/>
          <a:p>
            <a:pPr marL="0" indent="0" algn="ctr">
              <a:buNone/>
            </a:pPr>
            <a:r>
              <a:rPr lang="en-US" sz="1600" b="1" dirty="0">
                <a:solidFill>
                  <a:srgbClr val="1A1A24"/>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1115568" y="3941064"/>
            <a:ext cx="4462272" cy="34747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Validate on one real task</a:t>
            </a:r>
            <a:endParaRPr lang="en-US" sz="1350" dirty="0"/>
          </a:p>
        </p:txBody>
      </p:sp>
      <p:sp>
        <p:nvSpPr>
          <p:cNvPr id="24" name="Text 22"/>
          <p:cNvSpPr/>
          <p:nvPr/>
        </p:nvSpPr>
        <p:spPr>
          <a:xfrm>
            <a:off x="1115568" y="4306824"/>
            <a:ext cx="4462272" cy="475488"/>
          </a:xfrm>
          <a:prstGeom prst="rect">
            <a:avLst/>
          </a:prstGeom>
          <a:noFill/>
          <a:ln/>
        </p:spPr>
        <p:txBody>
          <a:bodyPr wrap="square" lIns="0" tIns="0" rIns="0" bIns="0" rtlCol="0" anchor="ctr"/>
          <a:lstStyle/>
          <a:p>
            <a:pPr marL="0" indent="0">
              <a:lnSpc>
                <a:spcPct val="120000"/>
              </a:lnSpc>
              <a:buNone/>
            </a:pPr>
            <a:r>
              <a:rPr lang="en-US" sz="1050" dirty="0">
                <a:solidFill>
                  <a:srgbClr val="C4C4CF"/>
                </a:solidFill>
                <a:latin typeface="Calibri" pitchFamily="34" charset="0"/>
                <a:ea typeface="Calibri" pitchFamily="34" charset="-122"/>
                <a:cs typeface="Calibri" pitchFamily="34" charset="-120"/>
              </a:rPr>
              <a:t>Run a pipeline or schema task. Review output against the CORE.md checklist.</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A24"/>
        </a:solidFill>
        <a:effectLst/>
      </p:bgPr>
    </p:bg>
    <p:spTree>
      <p:nvGrpSpPr>
        <p:cNvPr id="1" name="">
          <a:extLst>
            <a:ext uri="{FF2B5EF4-FFF2-40B4-BE49-F238E27FC236}">
              <a16:creationId xmlns:a16="http://schemas.microsoft.com/office/drawing/2014/main" id="{06561327-DF8D-5D57-E9E5-901523F73A2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FCC25E46-998F-E41C-8F88-2212ED37CD79}"/>
              </a:ext>
            </a:extLst>
          </p:cNvPr>
          <p:cNvSpPr/>
          <p:nvPr/>
        </p:nvSpPr>
        <p:spPr>
          <a:xfrm>
            <a:off x="6400800" y="-1005840"/>
            <a:ext cx="3474720" cy="3474720"/>
          </a:xfrm>
          <a:prstGeom prst="ellipse">
            <a:avLst/>
          </a:prstGeom>
          <a:solidFill>
            <a:srgbClr val="2E2E38">
              <a:alpha val="18000"/>
            </a:srgbClr>
          </a:solidFill>
          <a:ln w="12700">
            <a:solidFill>
              <a:srgbClr val="2E2E38">
                <a:alpha val="18000"/>
              </a:srgbClr>
            </a:solidFill>
            <a:prstDash val="solid"/>
          </a:ln>
        </p:spPr>
      </p:sp>
      <p:sp>
        <p:nvSpPr>
          <p:cNvPr id="4" name="Shape 2">
            <a:extLst>
              <a:ext uri="{FF2B5EF4-FFF2-40B4-BE49-F238E27FC236}">
                <a16:creationId xmlns:a16="http://schemas.microsoft.com/office/drawing/2014/main" id="{4063CC36-5F34-478B-02F7-9C3DEDB4BE5A}"/>
              </a:ext>
            </a:extLst>
          </p:cNvPr>
          <p:cNvSpPr/>
          <p:nvPr/>
        </p:nvSpPr>
        <p:spPr>
          <a:xfrm>
            <a:off x="7498080" y="3108960"/>
            <a:ext cx="2560320" cy="2560320"/>
          </a:xfrm>
          <a:prstGeom prst="ellipse">
            <a:avLst/>
          </a:prstGeom>
          <a:solidFill>
            <a:srgbClr val="2E2E38">
              <a:alpha val="12000"/>
            </a:srgbClr>
          </a:solidFill>
          <a:ln w="12700">
            <a:solidFill>
              <a:srgbClr val="2E2E38">
                <a:alpha val="12000"/>
              </a:srgbClr>
            </a:solidFill>
            <a:prstDash val="solid"/>
          </a:ln>
        </p:spPr>
      </p:sp>
      <p:sp>
        <p:nvSpPr>
          <p:cNvPr id="25" name="Shape 3">
            <a:extLst>
              <a:ext uri="{FF2B5EF4-FFF2-40B4-BE49-F238E27FC236}">
                <a16:creationId xmlns:a16="http://schemas.microsoft.com/office/drawing/2014/main" id="{8F418D4E-6E5C-3D45-ED56-5F3A90FFD35F}"/>
              </a:ext>
            </a:extLst>
          </p:cNvPr>
          <p:cNvSpPr/>
          <p:nvPr/>
        </p:nvSpPr>
        <p:spPr>
          <a:xfrm>
            <a:off x="5846194" y="1639062"/>
            <a:ext cx="1865376" cy="1865376"/>
          </a:xfrm>
          <a:prstGeom prst="ellipse">
            <a:avLst/>
          </a:prstGeom>
          <a:solidFill>
            <a:srgbClr val="FFE600"/>
          </a:solidFill>
          <a:ln w="12700">
            <a:solidFill>
              <a:srgbClr val="FFE600"/>
            </a:solidFill>
            <a:prstDash val="solid"/>
          </a:ln>
        </p:spPr>
        <p:txBody>
          <a:bodyPr/>
          <a:lstStyle/>
          <a:p>
            <a:endParaRPr lang="en-IN" dirty="0"/>
          </a:p>
        </p:txBody>
      </p:sp>
      <p:sp>
        <p:nvSpPr>
          <p:cNvPr id="27" name="Text 8">
            <a:extLst>
              <a:ext uri="{FF2B5EF4-FFF2-40B4-BE49-F238E27FC236}">
                <a16:creationId xmlns:a16="http://schemas.microsoft.com/office/drawing/2014/main" id="{A45F5E0E-C802-5015-0CAF-CE0B39D3606F}"/>
              </a:ext>
            </a:extLst>
          </p:cNvPr>
          <p:cNvSpPr/>
          <p:nvPr/>
        </p:nvSpPr>
        <p:spPr>
          <a:xfrm>
            <a:off x="6164223" y="2313432"/>
            <a:ext cx="2377440" cy="475488"/>
          </a:xfrm>
          <a:prstGeom prst="rect">
            <a:avLst/>
          </a:prstGeom>
          <a:noFill/>
          <a:ln/>
        </p:spPr>
        <p:txBody>
          <a:bodyPr wrap="square" lIns="0" tIns="0" rIns="0" bIns="0" rtlCol="0" anchor="ctr"/>
          <a:lstStyle/>
          <a:p>
            <a:pPr marL="0" indent="0">
              <a:buNone/>
            </a:pPr>
            <a:r>
              <a:rPr lang="en-US" sz="3200" dirty="0"/>
              <a:t>FUTURE</a:t>
            </a:r>
          </a:p>
        </p:txBody>
      </p:sp>
      <p:sp>
        <p:nvSpPr>
          <p:cNvPr id="28" name="Shape 23">
            <a:extLst>
              <a:ext uri="{FF2B5EF4-FFF2-40B4-BE49-F238E27FC236}">
                <a16:creationId xmlns:a16="http://schemas.microsoft.com/office/drawing/2014/main" id="{C7685D1E-4B13-246F-8FA6-A7154C0549CA}"/>
              </a:ext>
            </a:extLst>
          </p:cNvPr>
          <p:cNvSpPr/>
          <p:nvPr/>
        </p:nvSpPr>
        <p:spPr>
          <a:xfrm>
            <a:off x="71336" y="635540"/>
            <a:ext cx="4500664" cy="3474720"/>
          </a:xfrm>
          <a:prstGeom prst="roundRect">
            <a:avLst>
              <a:gd name="adj" fmla="val 2451"/>
            </a:avLst>
          </a:prstGeom>
          <a:solidFill>
            <a:srgbClr val="1E1E2A"/>
          </a:solidFill>
          <a:ln w="12700">
            <a:solidFill>
              <a:srgbClr val="10B981">
                <a:alpha val="70000"/>
              </a:srgbClr>
            </a:solidFill>
            <a:prstDash val="solid"/>
          </a:ln>
          <a:effectLst>
            <a:outerShdw blurRad="190500" dist="50800" dir="2700000" algn="bl" rotWithShape="0">
              <a:srgbClr val="000000">
                <a:alpha val="35000"/>
              </a:srgbClr>
            </a:outerShdw>
          </a:effectLst>
        </p:spPr>
      </p:sp>
      <p:sp>
        <p:nvSpPr>
          <p:cNvPr id="29" name="Text 26">
            <a:extLst>
              <a:ext uri="{FF2B5EF4-FFF2-40B4-BE49-F238E27FC236}">
                <a16:creationId xmlns:a16="http://schemas.microsoft.com/office/drawing/2014/main" id="{0A12ECAD-A266-A9C6-F3CC-E1E693C34364}"/>
              </a:ext>
            </a:extLst>
          </p:cNvPr>
          <p:cNvSpPr txBox="1"/>
          <p:nvPr/>
        </p:nvSpPr>
        <p:spPr>
          <a:xfrm>
            <a:off x="294943" y="837098"/>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Prompt:</a:t>
            </a:r>
            <a:endParaRPr lang="en-US" sz="900" dirty="0"/>
          </a:p>
        </p:txBody>
      </p:sp>
      <p:sp>
        <p:nvSpPr>
          <p:cNvPr id="30" name="Text 27">
            <a:extLst>
              <a:ext uri="{FF2B5EF4-FFF2-40B4-BE49-F238E27FC236}">
                <a16:creationId xmlns:a16="http://schemas.microsoft.com/office/drawing/2014/main" id="{9A0679B2-AF03-5EFA-081C-DC01E407BAAD}"/>
              </a:ext>
            </a:extLst>
          </p:cNvPr>
          <p:cNvSpPr txBox="1"/>
          <p:nvPr/>
        </p:nvSpPr>
        <p:spPr>
          <a:xfrm>
            <a:off x="1255387" y="837098"/>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Sanitised · restated · confirmed before any action</a:t>
            </a:r>
            <a:endParaRPr lang="en-US" sz="900" dirty="0"/>
          </a:p>
        </p:txBody>
      </p:sp>
      <p:sp>
        <p:nvSpPr>
          <p:cNvPr id="31" name="Text 28">
            <a:extLst>
              <a:ext uri="{FF2B5EF4-FFF2-40B4-BE49-F238E27FC236}">
                <a16:creationId xmlns:a16="http://schemas.microsoft.com/office/drawing/2014/main" id="{99A310D2-2B71-BF34-B2C1-F9AD05193C1B}"/>
              </a:ext>
            </a:extLst>
          </p:cNvPr>
          <p:cNvSpPr txBox="1"/>
          <p:nvPr/>
        </p:nvSpPr>
        <p:spPr>
          <a:xfrm>
            <a:off x="249547" y="1184570"/>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Requirements:</a:t>
            </a:r>
            <a:endParaRPr lang="en-US" sz="900" dirty="0"/>
          </a:p>
        </p:txBody>
      </p:sp>
      <p:sp>
        <p:nvSpPr>
          <p:cNvPr id="32" name="Text 29">
            <a:extLst>
              <a:ext uri="{FF2B5EF4-FFF2-40B4-BE49-F238E27FC236}">
                <a16:creationId xmlns:a16="http://schemas.microsoft.com/office/drawing/2014/main" id="{51B47784-C91D-8115-9ACD-A0FCC2EDD16B}"/>
              </a:ext>
            </a:extLst>
          </p:cNvPr>
          <p:cNvSpPr txBox="1"/>
          <p:nvPr/>
        </p:nvSpPr>
        <p:spPr>
          <a:xfrm>
            <a:off x="1255387" y="1184570"/>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BRD + STTM with zero TBDs · all gaps flagged before dev</a:t>
            </a:r>
            <a:endParaRPr lang="en-US" sz="900" dirty="0"/>
          </a:p>
        </p:txBody>
      </p:sp>
      <p:sp>
        <p:nvSpPr>
          <p:cNvPr id="33" name="Text 30">
            <a:extLst>
              <a:ext uri="{FF2B5EF4-FFF2-40B4-BE49-F238E27FC236}">
                <a16:creationId xmlns:a16="http://schemas.microsoft.com/office/drawing/2014/main" id="{154BE306-4D49-DA9F-0F9C-5CE7C48B5ADC}"/>
              </a:ext>
            </a:extLst>
          </p:cNvPr>
          <p:cNvSpPr txBox="1"/>
          <p:nvPr/>
        </p:nvSpPr>
        <p:spPr>
          <a:xfrm>
            <a:off x="249547" y="1532042"/>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Design:</a:t>
            </a:r>
            <a:endParaRPr lang="en-US" sz="900" dirty="0"/>
          </a:p>
        </p:txBody>
      </p:sp>
      <p:sp>
        <p:nvSpPr>
          <p:cNvPr id="34" name="Text 31">
            <a:extLst>
              <a:ext uri="{FF2B5EF4-FFF2-40B4-BE49-F238E27FC236}">
                <a16:creationId xmlns:a16="http://schemas.microsoft.com/office/drawing/2014/main" id="{664DFED0-9BF4-5D04-2867-938B9F08D547}"/>
              </a:ext>
            </a:extLst>
          </p:cNvPr>
          <p:cNvSpPr txBox="1"/>
          <p:nvPr/>
        </p:nvSpPr>
        <p:spPr>
          <a:xfrm>
            <a:off x="1255387" y="1532042"/>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ADRs for every decision · drift detected automatically</a:t>
            </a:r>
            <a:endParaRPr lang="en-US" sz="900" dirty="0"/>
          </a:p>
        </p:txBody>
      </p:sp>
      <p:sp>
        <p:nvSpPr>
          <p:cNvPr id="35" name="Text 32">
            <a:extLst>
              <a:ext uri="{FF2B5EF4-FFF2-40B4-BE49-F238E27FC236}">
                <a16:creationId xmlns:a16="http://schemas.microsoft.com/office/drawing/2014/main" id="{78352EC4-F225-8A93-A6B8-74578663BF6A}"/>
              </a:ext>
            </a:extLst>
          </p:cNvPr>
          <p:cNvSpPr txBox="1"/>
          <p:nvPr/>
        </p:nvSpPr>
        <p:spPr>
          <a:xfrm>
            <a:off x="249547" y="1879514"/>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Build:</a:t>
            </a:r>
            <a:endParaRPr lang="en-US" sz="900" dirty="0"/>
          </a:p>
        </p:txBody>
      </p:sp>
      <p:sp>
        <p:nvSpPr>
          <p:cNvPr id="36" name="Text 33">
            <a:extLst>
              <a:ext uri="{FF2B5EF4-FFF2-40B4-BE49-F238E27FC236}">
                <a16:creationId xmlns:a16="http://schemas.microsoft.com/office/drawing/2014/main" id="{F4645E70-C402-BB90-FE9E-77FDFF581BF9}"/>
              </a:ext>
            </a:extLst>
          </p:cNvPr>
          <p:cNvSpPr txBox="1"/>
          <p:nvPr/>
        </p:nvSpPr>
        <p:spPr>
          <a:xfrm>
            <a:off x="1255387" y="1879514"/>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8-cell standard · explicit SELECT · DECIMAL(19,4) · audit cols</a:t>
            </a:r>
            <a:endParaRPr lang="en-US" sz="900" dirty="0"/>
          </a:p>
        </p:txBody>
      </p:sp>
      <p:sp>
        <p:nvSpPr>
          <p:cNvPr id="37" name="Text 34">
            <a:extLst>
              <a:ext uri="{FF2B5EF4-FFF2-40B4-BE49-F238E27FC236}">
                <a16:creationId xmlns:a16="http://schemas.microsoft.com/office/drawing/2014/main" id="{E9717982-3BFA-F6E9-3370-DE87F025F8D7}"/>
              </a:ext>
            </a:extLst>
          </p:cNvPr>
          <p:cNvSpPr txBox="1"/>
          <p:nvPr/>
        </p:nvSpPr>
        <p:spPr>
          <a:xfrm>
            <a:off x="249547" y="2226986"/>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Testing:</a:t>
            </a:r>
            <a:endParaRPr lang="en-US" sz="900" dirty="0"/>
          </a:p>
        </p:txBody>
      </p:sp>
      <p:sp>
        <p:nvSpPr>
          <p:cNvPr id="38" name="Text 35">
            <a:extLst>
              <a:ext uri="{FF2B5EF4-FFF2-40B4-BE49-F238E27FC236}">
                <a16:creationId xmlns:a16="http://schemas.microsoft.com/office/drawing/2014/main" id="{4B5B535A-32BF-148F-363F-47E614306D31}"/>
              </a:ext>
            </a:extLst>
          </p:cNvPr>
          <p:cNvSpPr txBox="1"/>
          <p:nvPr/>
        </p:nvSpPr>
        <p:spPr>
          <a:xfrm>
            <a:off x="1255387" y="2226986"/>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Risk-based: 47 of 312 tests run · flaky tests quarantined</a:t>
            </a:r>
            <a:endParaRPr lang="en-US" sz="900" dirty="0"/>
          </a:p>
        </p:txBody>
      </p:sp>
      <p:sp>
        <p:nvSpPr>
          <p:cNvPr id="39" name="Text 36">
            <a:extLst>
              <a:ext uri="{FF2B5EF4-FFF2-40B4-BE49-F238E27FC236}">
                <a16:creationId xmlns:a16="http://schemas.microsoft.com/office/drawing/2014/main" id="{EAD0A771-FE1D-ADB3-E720-D4D6A0AD170A}"/>
              </a:ext>
            </a:extLst>
          </p:cNvPr>
          <p:cNvSpPr txBox="1"/>
          <p:nvPr/>
        </p:nvSpPr>
        <p:spPr>
          <a:xfrm>
            <a:off x="249547" y="2574458"/>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Deployment:</a:t>
            </a:r>
            <a:endParaRPr lang="en-US" sz="900" dirty="0"/>
          </a:p>
        </p:txBody>
      </p:sp>
      <p:sp>
        <p:nvSpPr>
          <p:cNvPr id="40" name="Text 37">
            <a:extLst>
              <a:ext uri="{FF2B5EF4-FFF2-40B4-BE49-F238E27FC236}">
                <a16:creationId xmlns:a16="http://schemas.microsoft.com/office/drawing/2014/main" id="{D2C35037-D6DA-6CFA-E17F-4C6CB1D655AC}"/>
              </a:ext>
            </a:extLst>
          </p:cNvPr>
          <p:cNvSpPr txBox="1"/>
          <p:nvPr/>
        </p:nvSpPr>
        <p:spPr>
          <a:xfrm>
            <a:off x="1255387" y="2574458"/>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Release readiness score · strategy recommendation · auto rollback</a:t>
            </a:r>
            <a:endParaRPr lang="en-US" sz="900" dirty="0"/>
          </a:p>
        </p:txBody>
      </p:sp>
      <p:sp>
        <p:nvSpPr>
          <p:cNvPr id="41" name="Text 38">
            <a:extLst>
              <a:ext uri="{FF2B5EF4-FFF2-40B4-BE49-F238E27FC236}">
                <a16:creationId xmlns:a16="http://schemas.microsoft.com/office/drawing/2014/main" id="{A5CAE738-4F4F-717D-45E9-485E833E6E87}"/>
              </a:ext>
            </a:extLst>
          </p:cNvPr>
          <p:cNvSpPr txBox="1"/>
          <p:nvPr/>
        </p:nvSpPr>
        <p:spPr>
          <a:xfrm>
            <a:off x="249547" y="2921930"/>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Operations:</a:t>
            </a:r>
            <a:endParaRPr lang="en-US" sz="900" dirty="0"/>
          </a:p>
        </p:txBody>
      </p:sp>
      <p:sp>
        <p:nvSpPr>
          <p:cNvPr id="42" name="Text 39">
            <a:extLst>
              <a:ext uri="{FF2B5EF4-FFF2-40B4-BE49-F238E27FC236}">
                <a16:creationId xmlns:a16="http://schemas.microsoft.com/office/drawing/2014/main" id="{DEB96AAE-B5F8-9C0A-90CB-A3517D5DB1A7}"/>
              </a:ext>
            </a:extLst>
          </p:cNvPr>
          <p:cNvSpPr txBox="1"/>
          <p:nvPr/>
        </p:nvSpPr>
        <p:spPr>
          <a:xfrm>
            <a:off x="1255387" y="2921930"/>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1 root alert +  downstream alerts correlated automatically</a:t>
            </a:r>
            <a:endParaRPr lang="en-US" sz="900" dirty="0"/>
          </a:p>
        </p:txBody>
      </p:sp>
      <p:sp>
        <p:nvSpPr>
          <p:cNvPr id="43" name="Text 40">
            <a:extLst>
              <a:ext uri="{FF2B5EF4-FFF2-40B4-BE49-F238E27FC236}">
                <a16:creationId xmlns:a16="http://schemas.microsoft.com/office/drawing/2014/main" id="{D5470CA6-B5F7-32D0-B41B-951D63A77FE0}"/>
              </a:ext>
            </a:extLst>
          </p:cNvPr>
          <p:cNvSpPr txBox="1"/>
          <p:nvPr/>
        </p:nvSpPr>
        <p:spPr>
          <a:xfrm>
            <a:off x="249547" y="3269402"/>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Learning:</a:t>
            </a:r>
            <a:endParaRPr lang="en-US" sz="900" dirty="0"/>
          </a:p>
        </p:txBody>
      </p:sp>
      <p:sp>
        <p:nvSpPr>
          <p:cNvPr id="44" name="Text 41">
            <a:extLst>
              <a:ext uri="{FF2B5EF4-FFF2-40B4-BE49-F238E27FC236}">
                <a16:creationId xmlns:a16="http://schemas.microsoft.com/office/drawing/2014/main" id="{F66349B6-FA31-D2E7-748B-58636C15C18F}"/>
              </a:ext>
            </a:extLst>
          </p:cNvPr>
          <p:cNvSpPr txBox="1"/>
          <p:nvPr/>
        </p:nvSpPr>
        <p:spPr>
          <a:xfrm>
            <a:off x="1255387" y="3269402"/>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86.3% recommendation accuracy · improving every month</a:t>
            </a:r>
            <a:endParaRPr lang="en-US" sz="900" dirty="0"/>
          </a:p>
        </p:txBody>
      </p:sp>
      <p:sp>
        <p:nvSpPr>
          <p:cNvPr id="45" name="Text 42">
            <a:extLst>
              <a:ext uri="{FF2B5EF4-FFF2-40B4-BE49-F238E27FC236}">
                <a16:creationId xmlns:a16="http://schemas.microsoft.com/office/drawing/2014/main" id="{538272C9-4CA9-351A-342F-4E7AAC966B7F}"/>
              </a:ext>
            </a:extLst>
          </p:cNvPr>
          <p:cNvSpPr txBox="1"/>
          <p:nvPr/>
        </p:nvSpPr>
        <p:spPr>
          <a:xfrm>
            <a:off x="249547" y="3616874"/>
            <a:ext cx="1024128" cy="29260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Human control:</a:t>
            </a:r>
            <a:endParaRPr lang="en-US" sz="900" dirty="0"/>
          </a:p>
        </p:txBody>
      </p:sp>
      <p:sp>
        <p:nvSpPr>
          <p:cNvPr id="46" name="Text 43">
            <a:extLst>
              <a:ext uri="{FF2B5EF4-FFF2-40B4-BE49-F238E27FC236}">
                <a16:creationId xmlns:a16="http://schemas.microsoft.com/office/drawing/2014/main" id="{82EC8979-C7DC-D8D0-1D3F-99D31A930FA9}"/>
              </a:ext>
            </a:extLst>
          </p:cNvPr>
          <p:cNvSpPr txBox="1"/>
          <p:nvPr/>
        </p:nvSpPr>
        <p:spPr>
          <a:xfrm>
            <a:off x="1255387" y="3616874"/>
            <a:ext cx="2697480" cy="292608"/>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11 gates · AI stops after every phase · human signs off</a:t>
            </a:r>
            <a:endParaRPr lang="en-US" sz="900" dirty="0"/>
          </a:p>
        </p:txBody>
      </p:sp>
    </p:spTree>
    <p:extLst>
      <p:ext uri="{BB962C8B-B14F-4D97-AF65-F5344CB8AC3E}">
        <p14:creationId xmlns:p14="http://schemas.microsoft.com/office/powerpoint/2010/main" val="871765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2564</Words>
  <Application>Microsoft Office PowerPoint</Application>
  <PresentationFormat>On-screen Show (16:9)</PresentationFormat>
  <Paragraphs>231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Engineering Playbook — EY</dc:title>
  <dc:subject>PptxGenJS Presentation</dc:subject>
  <dc:creator>PptxGenJS</dc:creator>
  <cp:lastModifiedBy>Office</cp:lastModifiedBy>
  <cp:revision>4</cp:revision>
  <dcterms:created xsi:type="dcterms:W3CDTF">2026-06-14T10:43:55Z</dcterms:created>
  <dcterms:modified xsi:type="dcterms:W3CDTF">2026-09-01T11:12:17Z</dcterms:modified>
</cp:coreProperties>
</file>