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rchitecture" id="{4f0870a8-e344-1816-a5e4-f2290da418a1}">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the AI actually works, not which files it uses. Think of it as a careful analyst who never claims more than the evidence supports.
It starts from evidence: code, metadata and table history, pipeline definitions, documents and old BRDs, the discovery packages, and read-only answers from Genie and DevOps.
Understanding happens in four moves. First it reads each source on its own terms: it turns code into step-by-step logic, documents into claims, metadata into objects and keys. Second it connects them: what calls what, what feeds what, the run order and whether each part is still active. That gives a technical map. Third it interprets: what each flow is for, the business processes, rules and terms, and what is current versus planned. That gives a business map, but at this point it is only the AI's reading. Fourth it checks and asks: read-only checks against the data, a separate reviewer agent re-checking, and questions to people for anything the evidence can't settle.
Everything lands in a versioned memory with three parts: technical facts, business meaning, and the gaps and conflicts still open. Only then does it build the BRD: choose the scope, map every template section to where its content comes from, and write phase by phase, with each phase approved, before producing the Functional, Technical and Summary documents.
The bottom row follows one real rule. The code says 5,000 units means tier 2. Connected, we see it uses the rate card and runs monthly. Interpreted, customers above 5,000 units earn the tier-2 rebate, which is still Inferred. The data shows 3% of customers reach it, so it is now From evidence. The finance expert confirms it, so it is Confirmed, and it appears as BR-21 in both the Functional and Technical documents.
That is the trust ladder: Inferred, From evidence, Confirmed. If sources disagree it is marked Conflicting and becomes a question. Nothing moves up the ladder without evidence or a named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11480" y="274320"/>
            <a:ext cx="11365992" cy="566928"/>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ph idx="101" type="body" hasCustomPrompt="1"/>
          </p:nvPr>
        </p:nvSpPr>
        <p:spPr>
          <a:xfrm>
            <a:off x="411480" y="841248"/>
            <a:ext cx="11365992" cy="36576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2.xml"/><Relationship Id="rId9"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11480" y="274320"/>
            <a:ext cx="11365992" cy="566928"/>
          </a:xfrm>
          <a:prstGeom prst="rect">
            <a:avLst/>
          </a:prstGeom>
          <a:noFill/>
          <a:ln/>
        </p:spPr>
        <p:txBody>
          <a:bodyPr wrap="square" lIns="0" tIns="0" rIns="0" bIns="0" rtlCol="0" anchor="ctr"/>
          <a:lstStyle/>
          <a:p>
            <a:pPr algn="l" indent="0" marL="0">
              <a:buNone/>
            </a:pPr>
            <a:r>
              <a:rPr lang="en-US" sz="3200" b="1" dirty="0">
                <a:solidFill>
                  <a:schemeClr val="tx1"/>
                </a:solidFill>
              </a:rPr>
              <a:t>How the AI understands a system and builds the BRD</a:t>
            </a:r>
            <a:endParaRPr lang="en-US" sz="3200" dirty="0"/>
          </a:p>
        </p:txBody>
      </p:sp>
      <p:sp>
        <p:nvSpPr>
          <p:cNvPr id="3" name="Text 0"/>
          <p:cNvSpPr/>
          <p:nvPr>
            <p:ph idx="101" type="body" hasCustomPrompt="1"/>
          </p:nvPr>
        </p:nvSpPr>
        <p:spPr>
          <a:xfrm>
            <a:off x="411480" y="841248"/>
            <a:ext cx="11365992" cy="365760"/>
          </a:xfrm>
          <a:prstGeom prst="rect">
            <a:avLst/>
          </a:prstGeom>
          <a:noFill/>
          <a:ln/>
        </p:spPr>
        <p:txBody>
          <a:bodyPr wrap="square" lIns="0" tIns="0" rIns="0" bIns="0" rtlCol="0" anchor="ctr"/>
          <a:lstStyle/>
          <a:p>
            <a:pPr indent="0" marL="0">
              <a:buNone/>
            </a:pPr>
            <a:r>
              <a:rPr lang="en-US" sz="1500" dirty="0">
                <a:solidFill>
                  <a:schemeClr val="accent6"/>
                </a:solidFill>
              </a:rPr>
              <a:t>It reads, connects, interprets and checks the evidence, asks people what only they know, and only then writes.</a:t>
            </a:r>
            <a:endParaRPr lang="en-US" sz="1500" dirty="0"/>
          </a:p>
        </p:txBody>
      </p:sp>
      <p:sp>
        <p:nvSpPr>
          <p:cNvPr id="4" name="Evidence icon circle"/>
          <p:cNvSpPr/>
          <p:nvPr/>
        </p:nvSpPr>
        <p:spPr>
          <a:xfrm>
            <a:off x="411480" y="1371600"/>
            <a:ext cx="329184" cy="329184"/>
          </a:xfrm>
          <a:prstGeom prst="ellipse">
            <a:avLst/>
          </a:prstGeom>
          <a:solidFill>
            <a:schemeClr val="accent6"/>
          </a:solidFill>
          <a:ln/>
        </p:spPr>
      </p:sp>
      <p:pic>
        <p:nvPicPr>
          <p:cNvPr id="5" name="Image 0" descr="Evidence icon">    </p:cNvPr>
          <p:cNvPicPr>
            <a:picLocks noChangeAspect="1"/>
          </p:cNvPicPr>
          <p:nvPr/>
        </p:nvPicPr>
        <p:blipFill>
          <a:blip r:embed="rId1"/>
          <a:stretch>
            <a:fillRect/>
          </a:stretch>
        </p:blipFill>
        <p:spPr>
          <a:xfrm>
            <a:off x="493776" y="1453896"/>
            <a:ext cx="164592" cy="164592"/>
          </a:xfrm>
          <a:prstGeom prst="rect">
            <a:avLst/>
          </a:prstGeom>
        </p:spPr>
      </p:pic>
      <p:sp>
        <p:nvSpPr>
          <p:cNvPr id="6" name="Evidence heading"/>
          <p:cNvSpPr txBox="1"/>
          <p:nvPr/>
        </p:nvSpPr>
        <p:spPr>
          <a:xfrm>
            <a:off x="813816" y="1371600"/>
            <a:ext cx="1143000" cy="329184"/>
          </a:xfrm>
          <a:prstGeom prst="rect">
            <a:avLst/>
          </a:prstGeom>
          <a:noFill/>
          <a:ln/>
        </p:spPr>
        <p:txBody>
          <a:bodyPr wrap="square" lIns="0" tIns="0" rIns="0" bIns="0" rtlCol="0" anchor="ctr"/>
          <a:lstStyle/>
          <a:p>
            <a:pPr algn="l" indent="0" marL="0">
              <a:buNone/>
            </a:pPr>
            <a:r>
              <a:rPr lang="en-US" sz="1300" b="1" dirty="0">
                <a:solidFill>
                  <a:schemeClr val="tx1"/>
                </a:solidFill>
              </a:rPr>
              <a:t>Evidence</a:t>
            </a:r>
            <a:endParaRPr lang="en-US" sz="1100" dirty="0"/>
          </a:p>
        </p:txBody>
      </p:sp>
      <p:sp>
        <p:nvSpPr>
          <p:cNvPr id="7" name="Evidence Code: procedures, jobs"/>
          <p:cNvSpPr/>
          <p:nvPr/>
        </p:nvSpPr>
        <p:spPr>
          <a:xfrm>
            <a:off x="411480" y="1810512"/>
            <a:ext cx="1572768" cy="365760"/>
          </a:xfrm>
          <a:prstGeom prst="roundRect">
            <a:avLst>
              <a:gd name="adj" fmla="val 15000"/>
            </a:avLst>
          </a:prstGeom>
          <a:solidFill>
            <a:schemeClr val="bg1"/>
          </a:solidFill>
          <a:ln w="12700">
            <a:solidFill>
              <a:srgbClr val="C9D5D3"/>
            </a:solidFill>
            <a:prstDash val="solid"/>
          </a:ln>
        </p:spPr>
      </p:sp>
      <p:sp>
        <p:nvSpPr>
          <p:cNvPr id="8" name="Evidence text Code: procedures, jobs"/>
          <p:cNvSpPr txBox="1"/>
          <p:nvPr/>
        </p:nvSpPr>
        <p:spPr>
          <a:xfrm>
            <a:off x="411480" y="1810512"/>
            <a:ext cx="1572768" cy="365760"/>
          </a:xfrm>
          <a:prstGeom prst="rect">
            <a:avLst/>
          </a:prstGeom>
          <a:noFill/>
          <a:ln/>
        </p:spPr>
        <p:txBody>
          <a:bodyPr wrap="square" lIns="12700" tIns="63500" rIns="63500" bIns="12700" rtlCol="0" anchor="ctr"/>
          <a:lstStyle/>
          <a:p>
            <a:pPr algn="l" indent="0" marL="0">
              <a:buNone/>
            </a:pPr>
            <a:r>
              <a:rPr lang="en-US" sz="1000" dirty="0">
                <a:solidFill>
                  <a:schemeClr val="tx1"/>
                </a:solidFill>
              </a:rPr>
              <a:t>Code: procedures, jobs</a:t>
            </a:r>
            <a:endParaRPr lang="en-US" sz="1100" dirty="0"/>
          </a:p>
        </p:txBody>
      </p:sp>
      <p:sp>
        <p:nvSpPr>
          <p:cNvPr id="9" name="Evidence Metadata, table history"/>
          <p:cNvSpPr/>
          <p:nvPr/>
        </p:nvSpPr>
        <p:spPr>
          <a:xfrm>
            <a:off x="411480" y="2240280"/>
            <a:ext cx="1572768" cy="365760"/>
          </a:xfrm>
          <a:prstGeom prst="roundRect">
            <a:avLst>
              <a:gd name="adj" fmla="val 15000"/>
            </a:avLst>
          </a:prstGeom>
          <a:solidFill>
            <a:schemeClr val="bg1"/>
          </a:solidFill>
          <a:ln w="12700">
            <a:solidFill>
              <a:srgbClr val="C9D5D3"/>
            </a:solidFill>
            <a:prstDash val="solid"/>
          </a:ln>
        </p:spPr>
      </p:sp>
      <p:sp>
        <p:nvSpPr>
          <p:cNvPr id="10" name="Evidence text Metadata, table history"/>
          <p:cNvSpPr txBox="1"/>
          <p:nvPr/>
        </p:nvSpPr>
        <p:spPr>
          <a:xfrm>
            <a:off x="411480" y="2240280"/>
            <a:ext cx="1572768" cy="365760"/>
          </a:xfrm>
          <a:prstGeom prst="rect">
            <a:avLst/>
          </a:prstGeom>
          <a:noFill/>
          <a:ln/>
        </p:spPr>
        <p:txBody>
          <a:bodyPr wrap="square" lIns="12700" tIns="63500" rIns="63500" bIns="12700" rtlCol="0" anchor="ctr"/>
          <a:lstStyle/>
          <a:p>
            <a:pPr algn="l" indent="0" marL="0">
              <a:buNone/>
            </a:pPr>
            <a:r>
              <a:rPr lang="en-US" sz="1000" dirty="0">
                <a:solidFill>
                  <a:schemeClr val="tx1"/>
                </a:solidFill>
              </a:rPr>
              <a:t>Metadata, table history</a:t>
            </a:r>
            <a:endParaRPr lang="en-US" sz="1100" dirty="0"/>
          </a:p>
        </p:txBody>
      </p:sp>
      <p:sp>
        <p:nvSpPr>
          <p:cNvPr id="11" name="Evidence Pipeline definitions"/>
          <p:cNvSpPr/>
          <p:nvPr/>
        </p:nvSpPr>
        <p:spPr>
          <a:xfrm>
            <a:off x="411480" y="2670048"/>
            <a:ext cx="1572768" cy="365760"/>
          </a:xfrm>
          <a:prstGeom prst="roundRect">
            <a:avLst>
              <a:gd name="adj" fmla="val 15000"/>
            </a:avLst>
          </a:prstGeom>
          <a:solidFill>
            <a:schemeClr val="bg1"/>
          </a:solidFill>
          <a:ln w="12700">
            <a:solidFill>
              <a:srgbClr val="C9D5D3"/>
            </a:solidFill>
            <a:prstDash val="solid"/>
          </a:ln>
        </p:spPr>
      </p:sp>
      <p:sp>
        <p:nvSpPr>
          <p:cNvPr id="12" name="Evidence text Pipeline definitions"/>
          <p:cNvSpPr txBox="1"/>
          <p:nvPr/>
        </p:nvSpPr>
        <p:spPr>
          <a:xfrm>
            <a:off x="411480" y="2670048"/>
            <a:ext cx="1572768" cy="365760"/>
          </a:xfrm>
          <a:prstGeom prst="rect">
            <a:avLst/>
          </a:prstGeom>
          <a:noFill/>
          <a:ln/>
        </p:spPr>
        <p:txBody>
          <a:bodyPr wrap="square" lIns="12700" tIns="63500" rIns="63500" bIns="12700" rtlCol="0" anchor="ctr"/>
          <a:lstStyle/>
          <a:p>
            <a:pPr algn="l" indent="0" marL="0">
              <a:buNone/>
            </a:pPr>
            <a:r>
              <a:rPr lang="en-US" sz="1000" dirty="0">
                <a:solidFill>
                  <a:schemeClr val="tx1"/>
                </a:solidFill>
              </a:rPr>
              <a:t>Pipeline definitions</a:t>
            </a:r>
            <a:endParaRPr lang="en-US" sz="1100" dirty="0"/>
          </a:p>
        </p:txBody>
      </p:sp>
      <p:sp>
        <p:nvSpPr>
          <p:cNvPr id="13" name="Evidence Documents, old BRDs"/>
          <p:cNvSpPr/>
          <p:nvPr/>
        </p:nvSpPr>
        <p:spPr>
          <a:xfrm>
            <a:off x="411480" y="3099816"/>
            <a:ext cx="1572768" cy="365760"/>
          </a:xfrm>
          <a:prstGeom prst="roundRect">
            <a:avLst>
              <a:gd name="adj" fmla="val 15000"/>
            </a:avLst>
          </a:prstGeom>
          <a:solidFill>
            <a:schemeClr val="bg1"/>
          </a:solidFill>
          <a:ln w="12700">
            <a:solidFill>
              <a:srgbClr val="C9D5D3"/>
            </a:solidFill>
            <a:prstDash val="solid"/>
          </a:ln>
        </p:spPr>
      </p:sp>
      <p:sp>
        <p:nvSpPr>
          <p:cNvPr id="14" name="Evidence text Documents, old BRDs"/>
          <p:cNvSpPr txBox="1"/>
          <p:nvPr/>
        </p:nvSpPr>
        <p:spPr>
          <a:xfrm>
            <a:off x="411480" y="3099816"/>
            <a:ext cx="1572768" cy="365760"/>
          </a:xfrm>
          <a:prstGeom prst="rect">
            <a:avLst/>
          </a:prstGeom>
          <a:noFill/>
          <a:ln/>
        </p:spPr>
        <p:txBody>
          <a:bodyPr wrap="square" lIns="12700" tIns="63500" rIns="63500" bIns="12700" rtlCol="0" anchor="ctr"/>
          <a:lstStyle/>
          <a:p>
            <a:pPr algn="l" indent="0" marL="0">
              <a:buNone/>
            </a:pPr>
            <a:r>
              <a:rPr lang="en-US" sz="1000" dirty="0">
                <a:solidFill>
                  <a:schemeClr val="tx1"/>
                </a:solidFill>
              </a:rPr>
              <a:t>Documents, old BRDs</a:t>
            </a:r>
            <a:endParaRPr lang="en-US" sz="1100" dirty="0"/>
          </a:p>
        </p:txBody>
      </p:sp>
      <p:sp>
        <p:nvSpPr>
          <p:cNvPr id="15" name="Evidence Discovery packages"/>
          <p:cNvSpPr/>
          <p:nvPr/>
        </p:nvSpPr>
        <p:spPr>
          <a:xfrm>
            <a:off x="411480" y="3529584"/>
            <a:ext cx="1572768" cy="365760"/>
          </a:xfrm>
          <a:prstGeom prst="roundRect">
            <a:avLst>
              <a:gd name="adj" fmla="val 15000"/>
            </a:avLst>
          </a:prstGeom>
          <a:solidFill>
            <a:schemeClr val="bg1"/>
          </a:solidFill>
          <a:ln w="12700">
            <a:solidFill>
              <a:srgbClr val="C9D5D3"/>
            </a:solidFill>
            <a:prstDash val="solid"/>
          </a:ln>
        </p:spPr>
      </p:sp>
      <p:sp>
        <p:nvSpPr>
          <p:cNvPr id="16" name="Evidence text Discovery packages"/>
          <p:cNvSpPr txBox="1"/>
          <p:nvPr/>
        </p:nvSpPr>
        <p:spPr>
          <a:xfrm>
            <a:off x="411480" y="3529584"/>
            <a:ext cx="1572768" cy="365760"/>
          </a:xfrm>
          <a:prstGeom prst="rect">
            <a:avLst/>
          </a:prstGeom>
          <a:noFill/>
          <a:ln/>
        </p:spPr>
        <p:txBody>
          <a:bodyPr wrap="square" lIns="12700" tIns="63500" rIns="63500" bIns="12700" rtlCol="0" anchor="ctr"/>
          <a:lstStyle/>
          <a:p>
            <a:pPr algn="l" indent="0" marL="0">
              <a:buNone/>
            </a:pPr>
            <a:r>
              <a:rPr lang="en-US" sz="1000" dirty="0">
                <a:solidFill>
                  <a:schemeClr val="tx1"/>
                </a:solidFill>
              </a:rPr>
              <a:t>Discovery packages</a:t>
            </a:r>
            <a:endParaRPr lang="en-US" sz="1100" dirty="0"/>
          </a:p>
        </p:txBody>
      </p:sp>
      <p:sp>
        <p:nvSpPr>
          <p:cNvPr id="17" name="Evidence Genie and DevOps"/>
          <p:cNvSpPr/>
          <p:nvPr/>
        </p:nvSpPr>
        <p:spPr>
          <a:xfrm>
            <a:off x="411480" y="3959352"/>
            <a:ext cx="1572768" cy="365760"/>
          </a:xfrm>
          <a:prstGeom prst="roundRect">
            <a:avLst>
              <a:gd name="adj" fmla="val 15000"/>
            </a:avLst>
          </a:prstGeom>
          <a:solidFill>
            <a:schemeClr val="bg1"/>
          </a:solidFill>
          <a:ln w="12700">
            <a:solidFill>
              <a:srgbClr val="C9D5D3"/>
            </a:solidFill>
            <a:prstDash val="solid"/>
          </a:ln>
        </p:spPr>
      </p:sp>
      <p:sp>
        <p:nvSpPr>
          <p:cNvPr id="18" name="Evidence text Genie and DevOps"/>
          <p:cNvSpPr txBox="1"/>
          <p:nvPr/>
        </p:nvSpPr>
        <p:spPr>
          <a:xfrm>
            <a:off x="411480" y="3959352"/>
            <a:ext cx="1572768" cy="365760"/>
          </a:xfrm>
          <a:prstGeom prst="rect">
            <a:avLst/>
          </a:prstGeom>
          <a:noFill/>
          <a:ln/>
        </p:spPr>
        <p:txBody>
          <a:bodyPr wrap="square" lIns="12700" tIns="63500" rIns="63500" bIns="12700" rtlCol="0" anchor="ctr"/>
          <a:lstStyle/>
          <a:p>
            <a:pPr algn="l" indent="0" marL="0">
              <a:buNone/>
            </a:pPr>
            <a:r>
              <a:rPr lang="en-US" sz="1000" dirty="0">
                <a:solidFill>
                  <a:schemeClr val="tx1"/>
                </a:solidFill>
              </a:rPr>
              <a:t>Genie and DevOps</a:t>
            </a:r>
            <a:endParaRPr lang="en-US" sz="1100" dirty="0"/>
          </a:p>
        </p:txBody>
      </p:sp>
      <p:sp>
        <p:nvSpPr>
          <p:cNvPr id="19" name="Evidence to understand"/>
          <p:cNvSpPr/>
          <p:nvPr/>
        </p:nvSpPr>
        <p:spPr>
          <a:xfrm>
            <a:off x="2011680" y="2880360"/>
            <a:ext cx="128016" cy="0"/>
          </a:xfrm>
          <a:prstGeom prst="line">
            <a:avLst/>
          </a:prstGeom>
          <a:noFill/>
          <a:ln w="15875">
            <a:solidFill>
              <a:schemeClr val="accent6"/>
            </a:solidFill>
            <a:prstDash val="solid"/>
            <a:tailEnd type="triangle"/>
          </a:ln>
        </p:spPr>
      </p:sp>
      <p:sp>
        <p:nvSpPr>
          <p:cNvPr id="20" name="Understand panel"/>
          <p:cNvSpPr/>
          <p:nvPr/>
        </p:nvSpPr>
        <p:spPr>
          <a:xfrm>
            <a:off x="2167128" y="1371600"/>
            <a:ext cx="6355080" cy="3017520"/>
          </a:xfrm>
          <a:prstGeom prst="roundRect">
            <a:avLst>
              <a:gd name="adj" fmla="val 2424"/>
            </a:avLst>
          </a:prstGeom>
          <a:solidFill>
            <a:schemeClr val="bg2"/>
          </a:solidFill>
          <a:ln w="12700">
            <a:solidFill>
              <a:srgbClr val="C9D5D3"/>
            </a:solidFill>
            <a:prstDash val="solid"/>
          </a:ln>
        </p:spPr>
      </p:sp>
      <p:sp>
        <p:nvSpPr>
          <p:cNvPr id="21" name="Understand heading"/>
          <p:cNvSpPr txBox="1"/>
          <p:nvPr/>
        </p:nvSpPr>
        <p:spPr>
          <a:xfrm>
            <a:off x="2304288" y="1426464"/>
            <a:ext cx="2743200" cy="292608"/>
          </a:xfrm>
          <a:prstGeom prst="rect">
            <a:avLst/>
          </a:prstGeom>
          <a:noFill/>
          <a:ln/>
        </p:spPr>
        <p:txBody>
          <a:bodyPr wrap="square" lIns="0" tIns="0" rIns="0" bIns="0" rtlCol="0" anchor="ctr"/>
          <a:lstStyle/>
          <a:p>
            <a:pPr algn="l" indent="0" marL="0">
              <a:buNone/>
            </a:pPr>
            <a:r>
              <a:rPr lang="en-US" sz="1300" b="1" dirty="0">
                <a:solidFill>
                  <a:schemeClr val="accent1"/>
                </a:solidFill>
              </a:rPr>
              <a:t>Understand</a:t>
            </a:r>
            <a:endParaRPr lang="en-US" sz="1100" dirty="0"/>
          </a:p>
        </p:txBody>
      </p:sp>
      <p:sp>
        <p:nvSpPr>
          <p:cNvPr id="22" name="Card 1 Read"/>
          <p:cNvSpPr/>
          <p:nvPr/>
        </p:nvSpPr>
        <p:spPr>
          <a:xfrm>
            <a:off x="2304288" y="1773936"/>
            <a:ext cx="1463040" cy="1572768"/>
          </a:xfrm>
          <a:prstGeom prst="roundRect">
            <a:avLst>
              <a:gd name="adj" fmla="val 3750"/>
            </a:avLst>
          </a:prstGeom>
          <a:solidFill>
            <a:schemeClr val="bg1"/>
          </a:solidFill>
          <a:ln w="15875">
            <a:solidFill>
              <a:schemeClr val="accent1"/>
            </a:solidFill>
            <a:prstDash val="solid"/>
          </a:ln>
        </p:spPr>
      </p:sp>
      <p:sp>
        <p:nvSpPr>
          <p:cNvPr id="23" name="Card icon 1 Read circle"/>
          <p:cNvSpPr/>
          <p:nvPr/>
        </p:nvSpPr>
        <p:spPr>
          <a:xfrm>
            <a:off x="2395728" y="1865376"/>
            <a:ext cx="292608" cy="292608"/>
          </a:xfrm>
          <a:prstGeom prst="ellipse">
            <a:avLst/>
          </a:prstGeom>
          <a:solidFill>
            <a:schemeClr val="accent1"/>
          </a:solidFill>
          <a:ln/>
        </p:spPr>
      </p:sp>
      <p:pic>
        <p:nvPicPr>
          <p:cNvPr id="24" name="Image 1" descr="Card icon 1 Read">    </p:cNvPr>
          <p:cNvPicPr>
            <a:picLocks noChangeAspect="1"/>
          </p:cNvPicPr>
          <p:nvPr/>
        </p:nvPicPr>
        <p:blipFill>
          <a:blip r:embed="rId2"/>
          <a:stretch>
            <a:fillRect/>
          </a:stretch>
        </p:blipFill>
        <p:spPr>
          <a:xfrm>
            <a:off x="2468880" y="1938528"/>
            <a:ext cx="146304" cy="146304"/>
          </a:xfrm>
          <a:prstGeom prst="rect">
            <a:avLst/>
          </a:prstGeom>
        </p:spPr>
      </p:pic>
      <p:sp>
        <p:nvSpPr>
          <p:cNvPr id="25" name="Card title 1 Read"/>
          <p:cNvSpPr txBox="1"/>
          <p:nvPr/>
        </p:nvSpPr>
        <p:spPr>
          <a:xfrm>
            <a:off x="2724912" y="1847088"/>
            <a:ext cx="1005840" cy="329184"/>
          </a:xfrm>
          <a:prstGeom prst="rect">
            <a:avLst/>
          </a:prstGeom>
          <a:noFill/>
          <a:ln/>
        </p:spPr>
        <p:txBody>
          <a:bodyPr wrap="square" lIns="0" tIns="0" rIns="0" bIns="0" rtlCol="0" anchor="ctr"/>
          <a:lstStyle/>
          <a:p>
            <a:pPr algn="l" indent="0" marL="0">
              <a:buNone/>
            </a:pPr>
            <a:r>
              <a:rPr lang="en-US" sz="1200" b="1" dirty="0">
                <a:solidFill>
                  <a:schemeClr val="tx1"/>
                </a:solidFill>
              </a:rPr>
              <a:t>1 Read</a:t>
            </a:r>
            <a:endParaRPr lang="en-US" sz="1100" dirty="0"/>
          </a:p>
        </p:txBody>
      </p:sp>
      <p:sp>
        <p:nvSpPr>
          <p:cNvPr id="26" name="Card body 1 Read"/>
          <p:cNvSpPr txBox="1"/>
          <p:nvPr/>
        </p:nvSpPr>
        <p:spPr>
          <a:xfrm>
            <a:off x="2359152" y="2194560"/>
            <a:ext cx="1353312" cy="1115568"/>
          </a:xfrm>
          <a:prstGeom prst="rect">
            <a:avLst/>
          </a:prstGeom>
          <a:noFill/>
          <a:ln/>
        </p:spPr>
        <p:txBody>
          <a:bodyPr wrap="square" lIns="12700" tIns="38100" rIns="38100" bIns="12700" rtlCol="0" anchor="t"/>
          <a:lstStyle/>
          <a:p>
            <a:pPr algn="l" indent="0" marL="0">
              <a:buNone/>
            </a:pPr>
            <a:r>
              <a:rPr lang="en-US" sz="1000" i="1" dirty="0">
                <a:solidFill>
                  <a:schemeClr val="accent1"/>
                </a:solidFill>
              </a:rPr>
              <a:t>what each source says</a:t>
            </a:r>
            <a:endParaRPr lang="en-US" sz="1100" dirty="0"/>
          </a:p>
          <a:p>
            <a:pPr algn="l" indent="0" marL="0">
              <a:buNone/>
            </a:pPr>
            <a:r>
              <a:rPr lang="en-US" sz="1000" dirty="0">
                <a:solidFill>
                  <a:schemeClr val="tx1"/>
                </a:solidFill>
              </a:rPr>
              <a:t>Code → logic steps</a:t>
            </a:r>
            <a:endParaRPr lang="en-US" sz="1100" dirty="0"/>
          </a:p>
          <a:p>
            <a:pPr algn="l" indent="0" marL="0">
              <a:buNone/>
            </a:pPr>
            <a:r>
              <a:rPr lang="en-US" sz="1000" dirty="0">
                <a:solidFill>
                  <a:schemeClr val="tx1"/>
                </a:solidFill>
              </a:rPr>
              <a:t>Documents → claims</a:t>
            </a:r>
            <a:endParaRPr lang="en-US" sz="1100" dirty="0"/>
          </a:p>
          <a:p>
            <a:pPr algn="l" indent="0" marL="0">
              <a:buNone/>
            </a:pPr>
            <a:r>
              <a:rPr lang="en-US" sz="1000" dirty="0">
                <a:solidFill>
                  <a:schemeClr val="tx1"/>
                </a:solidFill>
              </a:rPr>
              <a:t>Metadata → objects</a:t>
            </a:r>
            <a:endParaRPr lang="en-US" sz="1100" dirty="0"/>
          </a:p>
          <a:p>
            <a:pPr algn="l" indent="0" marL="0">
              <a:buNone/>
            </a:pPr>
            <a:r>
              <a:rPr lang="en-US" sz="1000" b="1" dirty="0">
                <a:solidFill>
                  <a:schemeClr val="accent1"/>
                </a:solidFill>
              </a:rPr>
              <a:t>→ object cards</a:t>
            </a:r>
            <a:endParaRPr lang="en-US" sz="1100" dirty="0"/>
          </a:p>
        </p:txBody>
      </p:sp>
      <p:sp>
        <p:nvSpPr>
          <p:cNvPr id="27" name="Card arrow 0"/>
          <p:cNvSpPr/>
          <p:nvPr/>
        </p:nvSpPr>
        <p:spPr>
          <a:xfrm>
            <a:off x="3771900" y="2560320"/>
            <a:ext cx="82296" cy="0"/>
          </a:xfrm>
          <a:prstGeom prst="line">
            <a:avLst/>
          </a:prstGeom>
          <a:noFill/>
          <a:ln w="15875">
            <a:solidFill>
              <a:schemeClr val="accent6"/>
            </a:solidFill>
            <a:prstDash val="solid"/>
            <a:tailEnd type="triangle"/>
          </a:ln>
        </p:spPr>
      </p:sp>
      <p:sp>
        <p:nvSpPr>
          <p:cNvPr id="28" name="Card 2 Connect"/>
          <p:cNvSpPr/>
          <p:nvPr/>
        </p:nvSpPr>
        <p:spPr>
          <a:xfrm>
            <a:off x="3858768" y="1773936"/>
            <a:ext cx="1463040" cy="1572768"/>
          </a:xfrm>
          <a:prstGeom prst="roundRect">
            <a:avLst>
              <a:gd name="adj" fmla="val 3750"/>
            </a:avLst>
          </a:prstGeom>
          <a:solidFill>
            <a:schemeClr val="bg1"/>
          </a:solidFill>
          <a:ln w="15875">
            <a:solidFill>
              <a:schemeClr val="accent1"/>
            </a:solidFill>
            <a:prstDash val="solid"/>
          </a:ln>
        </p:spPr>
      </p:sp>
      <p:sp>
        <p:nvSpPr>
          <p:cNvPr id="29" name="Card icon 2 Connect circle"/>
          <p:cNvSpPr/>
          <p:nvPr/>
        </p:nvSpPr>
        <p:spPr>
          <a:xfrm>
            <a:off x="3950208" y="1865376"/>
            <a:ext cx="292608" cy="292608"/>
          </a:xfrm>
          <a:prstGeom prst="ellipse">
            <a:avLst/>
          </a:prstGeom>
          <a:solidFill>
            <a:schemeClr val="accent1"/>
          </a:solidFill>
          <a:ln/>
        </p:spPr>
      </p:sp>
      <p:pic>
        <p:nvPicPr>
          <p:cNvPr id="30" name="Image 2" descr="Card icon 2 Connect">    </p:cNvPr>
          <p:cNvPicPr>
            <a:picLocks noChangeAspect="1"/>
          </p:cNvPicPr>
          <p:nvPr/>
        </p:nvPicPr>
        <p:blipFill>
          <a:blip r:embed="rId3"/>
          <a:stretch>
            <a:fillRect/>
          </a:stretch>
        </p:blipFill>
        <p:spPr>
          <a:xfrm>
            <a:off x="4023360" y="1938528"/>
            <a:ext cx="146304" cy="146304"/>
          </a:xfrm>
          <a:prstGeom prst="rect">
            <a:avLst/>
          </a:prstGeom>
        </p:spPr>
      </p:pic>
      <p:sp>
        <p:nvSpPr>
          <p:cNvPr id="31" name="Card title 2 Connect"/>
          <p:cNvSpPr txBox="1"/>
          <p:nvPr/>
        </p:nvSpPr>
        <p:spPr>
          <a:xfrm>
            <a:off x="4279392" y="1847088"/>
            <a:ext cx="1005840" cy="329184"/>
          </a:xfrm>
          <a:prstGeom prst="rect">
            <a:avLst/>
          </a:prstGeom>
          <a:noFill/>
          <a:ln/>
        </p:spPr>
        <p:txBody>
          <a:bodyPr wrap="square" lIns="0" tIns="0" rIns="0" bIns="0" rtlCol="0" anchor="ctr"/>
          <a:lstStyle/>
          <a:p>
            <a:pPr algn="l" indent="0" marL="0">
              <a:buNone/>
            </a:pPr>
            <a:r>
              <a:rPr lang="en-US" sz="1200" b="1" dirty="0">
                <a:solidFill>
                  <a:schemeClr val="tx1"/>
                </a:solidFill>
              </a:rPr>
              <a:t>2 Connect</a:t>
            </a:r>
            <a:endParaRPr lang="en-US" sz="1100" dirty="0"/>
          </a:p>
        </p:txBody>
      </p:sp>
      <p:sp>
        <p:nvSpPr>
          <p:cNvPr id="32" name="Card body 2 Connect"/>
          <p:cNvSpPr txBox="1"/>
          <p:nvPr/>
        </p:nvSpPr>
        <p:spPr>
          <a:xfrm>
            <a:off x="3913632" y="2194560"/>
            <a:ext cx="1353312" cy="1115568"/>
          </a:xfrm>
          <a:prstGeom prst="rect">
            <a:avLst/>
          </a:prstGeom>
          <a:noFill/>
          <a:ln/>
        </p:spPr>
        <p:txBody>
          <a:bodyPr wrap="square" lIns="12700" tIns="38100" rIns="38100" bIns="12700" rtlCol="0" anchor="t"/>
          <a:lstStyle/>
          <a:p>
            <a:pPr algn="l" indent="0" marL="0">
              <a:buNone/>
            </a:pPr>
            <a:r>
              <a:rPr lang="en-US" sz="1000" i="1" dirty="0">
                <a:solidFill>
                  <a:schemeClr val="accent1"/>
                </a:solidFill>
              </a:rPr>
              <a:t>how the pieces fit</a:t>
            </a:r>
            <a:endParaRPr lang="en-US" sz="1100" dirty="0"/>
          </a:p>
          <a:p>
            <a:pPr algn="l" indent="0" marL="0">
              <a:buNone/>
            </a:pPr>
            <a:r>
              <a:rPr lang="en-US" sz="1000" dirty="0">
                <a:solidFill>
                  <a:schemeClr val="tx1"/>
                </a:solidFill>
              </a:rPr>
              <a:t>Who calls, who feeds</a:t>
            </a:r>
            <a:endParaRPr lang="en-US" sz="1100" dirty="0"/>
          </a:p>
          <a:p>
            <a:pPr algn="l" indent="0" marL="0">
              <a:buNone/>
            </a:pPr>
            <a:r>
              <a:rPr lang="en-US" sz="1000" dirty="0">
                <a:solidFill>
                  <a:schemeClr val="tx1"/>
                </a:solidFill>
              </a:rPr>
              <a:t>Lineage, run order</a:t>
            </a:r>
            <a:endParaRPr lang="en-US" sz="1100" dirty="0"/>
          </a:p>
          <a:p>
            <a:pPr algn="l" indent="0" marL="0">
              <a:buNone/>
            </a:pPr>
            <a:r>
              <a:rPr lang="en-US" sz="1000" dirty="0">
                <a:solidFill>
                  <a:schemeClr val="tx1"/>
                </a:solidFill>
              </a:rPr>
              <a:t>Active or not</a:t>
            </a:r>
            <a:endParaRPr lang="en-US" sz="1100" dirty="0"/>
          </a:p>
          <a:p>
            <a:pPr algn="l" indent="0" marL="0">
              <a:buNone/>
            </a:pPr>
            <a:r>
              <a:rPr lang="en-US" sz="1000" b="1" dirty="0">
                <a:solidFill>
                  <a:schemeClr val="accent1"/>
                </a:solidFill>
              </a:rPr>
              <a:t>→ technical map</a:t>
            </a:r>
            <a:endParaRPr lang="en-US" sz="1100" dirty="0"/>
          </a:p>
        </p:txBody>
      </p:sp>
      <p:sp>
        <p:nvSpPr>
          <p:cNvPr id="33" name="Card arrow 1"/>
          <p:cNvSpPr/>
          <p:nvPr/>
        </p:nvSpPr>
        <p:spPr>
          <a:xfrm>
            <a:off x="5326380" y="2560320"/>
            <a:ext cx="82296" cy="0"/>
          </a:xfrm>
          <a:prstGeom prst="line">
            <a:avLst/>
          </a:prstGeom>
          <a:noFill/>
          <a:ln w="15875">
            <a:solidFill>
              <a:schemeClr val="accent6"/>
            </a:solidFill>
            <a:prstDash val="solid"/>
            <a:tailEnd type="triangle"/>
          </a:ln>
        </p:spPr>
      </p:sp>
      <p:sp>
        <p:nvSpPr>
          <p:cNvPr id="34" name="Card 3 Interpret"/>
          <p:cNvSpPr/>
          <p:nvPr/>
        </p:nvSpPr>
        <p:spPr>
          <a:xfrm>
            <a:off x="5413248" y="1773936"/>
            <a:ext cx="1463040" cy="1572768"/>
          </a:xfrm>
          <a:prstGeom prst="roundRect">
            <a:avLst>
              <a:gd name="adj" fmla="val 3750"/>
            </a:avLst>
          </a:prstGeom>
          <a:solidFill>
            <a:schemeClr val="bg1"/>
          </a:solidFill>
          <a:ln w="15875">
            <a:solidFill>
              <a:schemeClr val="accent1"/>
            </a:solidFill>
            <a:prstDash val="solid"/>
          </a:ln>
        </p:spPr>
      </p:sp>
      <p:sp>
        <p:nvSpPr>
          <p:cNvPr id="35" name="Card icon 3 Interpret circle"/>
          <p:cNvSpPr/>
          <p:nvPr/>
        </p:nvSpPr>
        <p:spPr>
          <a:xfrm>
            <a:off x="5504688" y="1865376"/>
            <a:ext cx="292608" cy="292608"/>
          </a:xfrm>
          <a:prstGeom prst="ellipse">
            <a:avLst/>
          </a:prstGeom>
          <a:solidFill>
            <a:schemeClr val="accent1"/>
          </a:solidFill>
          <a:ln/>
        </p:spPr>
      </p:sp>
      <p:pic>
        <p:nvPicPr>
          <p:cNvPr id="36" name="Image 3" descr="Card icon 3 Interpret">    </p:cNvPr>
          <p:cNvPicPr>
            <a:picLocks noChangeAspect="1"/>
          </p:cNvPicPr>
          <p:nvPr/>
        </p:nvPicPr>
        <p:blipFill>
          <a:blip r:embed="rId4"/>
          <a:stretch>
            <a:fillRect/>
          </a:stretch>
        </p:blipFill>
        <p:spPr>
          <a:xfrm>
            <a:off x="5577840" y="1938528"/>
            <a:ext cx="146304" cy="146304"/>
          </a:xfrm>
          <a:prstGeom prst="rect">
            <a:avLst/>
          </a:prstGeom>
        </p:spPr>
      </p:pic>
      <p:sp>
        <p:nvSpPr>
          <p:cNvPr id="37" name="Card title 3 Interpret"/>
          <p:cNvSpPr txBox="1"/>
          <p:nvPr/>
        </p:nvSpPr>
        <p:spPr>
          <a:xfrm>
            <a:off x="5833872" y="1847088"/>
            <a:ext cx="1005840" cy="329184"/>
          </a:xfrm>
          <a:prstGeom prst="rect">
            <a:avLst/>
          </a:prstGeom>
          <a:noFill/>
          <a:ln/>
        </p:spPr>
        <p:txBody>
          <a:bodyPr wrap="square" lIns="0" tIns="0" rIns="0" bIns="0" rtlCol="0" anchor="ctr"/>
          <a:lstStyle/>
          <a:p>
            <a:pPr algn="l" indent="0" marL="0">
              <a:buNone/>
            </a:pPr>
            <a:r>
              <a:rPr lang="en-US" sz="1200" b="1" dirty="0">
                <a:solidFill>
                  <a:schemeClr val="tx1"/>
                </a:solidFill>
              </a:rPr>
              <a:t>3 Interpret</a:t>
            </a:r>
            <a:endParaRPr lang="en-US" sz="1100" dirty="0"/>
          </a:p>
        </p:txBody>
      </p:sp>
      <p:sp>
        <p:nvSpPr>
          <p:cNvPr id="38" name="Card body 3 Interpret"/>
          <p:cNvSpPr txBox="1"/>
          <p:nvPr/>
        </p:nvSpPr>
        <p:spPr>
          <a:xfrm>
            <a:off x="5468112" y="2194560"/>
            <a:ext cx="1353312" cy="1115568"/>
          </a:xfrm>
          <a:prstGeom prst="rect">
            <a:avLst/>
          </a:prstGeom>
          <a:noFill/>
          <a:ln/>
        </p:spPr>
        <p:txBody>
          <a:bodyPr wrap="square" lIns="12700" tIns="38100" rIns="38100" bIns="12700" rtlCol="0" anchor="t"/>
          <a:lstStyle/>
          <a:p>
            <a:pPr algn="l" indent="0" marL="0">
              <a:buNone/>
            </a:pPr>
            <a:r>
              <a:rPr lang="en-US" sz="1000" i="1" dirty="0">
                <a:solidFill>
                  <a:schemeClr val="accent1"/>
                </a:solidFill>
              </a:rPr>
              <a:t>what it means</a:t>
            </a:r>
            <a:endParaRPr lang="en-US" sz="1100" dirty="0"/>
          </a:p>
          <a:p>
            <a:pPr algn="l" indent="0" marL="0">
              <a:buNone/>
            </a:pPr>
            <a:r>
              <a:rPr lang="en-US" sz="1000" dirty="0">
                <a:solidFill>
                  <a:schemeClr val="tx1"/>
                </a:solidFill>
              </a:rPr>
              <a:t>Purpose of each flow</a:t>
            </a:r>
            <a:endParaRPr lang="en-US" sz="1100" dirty="0"/>
          </a:p>
          <a:p>
            <a:pPr algn="l" indent="0" marL="0">
              <a:buNone/>
            </a:pPr>
            <a:r>
              <a:rPr lang="en-US" sz="1000" dirty="0">
                <a:solidFill>
                  <a:schemeClr val="tx1"/>
                </a:solidFill>
              </a:rPr>
              <a:t>Processes, rules, terms</a:t>
            </a:r>
            <a:endParaRPr lang="en-US" sz="1100" dirty="0"/>
          </a:p>
          <a:p>
            <a:pPr algn="l" indent="0" marL="0">
              <a:buNone/>
            </a:pPr>
            <a:r>
              <a:rPr lang="en-US" sz="1000" dirty="0">
                <a:solidFill>
                  <a:schemeClr val="tx1"/>
                </a:solidFill>
              </a:rPr>
              <a:t>Current vs future</a:t>
            </a:r>
            <a:endParaRPr lang="en-US" sz="1100" dirty="0"/>
          </a:p>
          <a:p>
            <a:pPr algn="l" indent="0" marL="0">
              <a:buNone/>
            </a:pPr>
            <a:r>
              <a:rPr lang="en-US" sz="1000" b="1" dirty="0">
                <a:solidFill>
                  <a:schemeClr val="accent1"/>
                </a:solidFill>
              </a:rPr>
              <a:t>→ business map</a:t>
            </a:r>
            <a:endParaRPr lang="en-US" sz="1100" dirty="0"/>
          </a:p>
        </p:txBody>
      </p:sp>
      <p:sp>
        <p:nvSpPr>
          <p:cNvPr id="39" name="Card arrow 2"/>
          <p:cNvSpPr/>
          <p:nvPr/>
        </p:nvSpPr>
        <p:spPr>
          <a:xfrm>
            <a:off x="6880860" y="2560320"/>
            <a:ext cx="82296" cy="0"/>
          </a:xfrm>
          <a:prstGeom prst="line">
            <a:avLst/>
          </a:prstGeom>
          <a:noFill/>
          <a:ln w="15875">
            <a:solidFill>
              <a:schemeClr val="accent6"/>
            </a:solidFill>
            <a:prstDash val="solid"/>
            <a:tailEnd type="triangle"/>
          </a:ln>
        </p:spPr>
      </p:sp>
      <p:sp>
        <p:nvSpPr>
          <p:cNvPr id="40" name="Card 4 Check, ask"/>
          <p:cNvSpPr/>
          <p:nvPr/>
        </p:nvSpPr>
        <p:spPr>
          <a:xfrm>
            <a:off x="6967728" y="1773936"/>
            <a:ext cx="1463040" cy="1572768"/>
          </a:xfrm>
          <a:prstGeom prst="roundRect">
            <a:avLst>
              <a:gd name="adj" fmla="val 3750"/>
            </a:avLst>
          </a:prstGeom>
          <a:solidFill>
            <a:schemeClr val="bg1"/>
          </a:solidFill>
          <a:ln w="15875">
            <a:solidFill>
              <a:schemeClr val="accent2"/>
            </a:solidFill>
            <a:prstDash val="solid"/>
          </a:ln>
        </p:spPr>
      </p:sp>
      <p:sp>
        <p:nvSpPr>
          <p:cNvPr id="41" name="Card icon 4 Check, ask circle"/>
          <p:cNvSpPr/>
          <p:nvPr/>
        </p:nvSpPr>
        <p:spPr>
          <a:xfrm>
            <a:off x="7059168" y="1865376"/>
            <a:ext cx="292608" cy="292608"/>
          </a:xfrm>
          <a:prstGeom prst="ellipse">
            <a:avLst/>
          </a:prstGeom>
          <a:solidFill>
            <a:schemeClr val="accent2"/>
          </a:solidFill>
          <a:ln/>
        </p:spPr>
      </p:sp>
      <p:pic>
        <p:nvPicPr>
          <p:cNvPr id="42" name="Image 4" descr="Card icon 4 Check, ask">    </p:cNvPr>
          <p:cNvPicPr>
            <a:picLocks noChangeAspect="1"/>
          </p:cNvPicPr>
          <p:nvPr/>
        </p:nvPicPr>
        <p:blipFill>
          <a:blip r:embed="rId5"/>
          <a:stretch>
            <a:fillRect/>
          </a:stretch>
        </p:blipFill>
        <p:spPr>
          <a:xfrm>
            <a:off x="7132320" y="1938528"/>
            <a:ext cx="146304" cy="146304"/>
          </a:xfrm>
          <a:prstGeom prst="rect">
            <a:avLst/>
          </a:prstGeom>
        </p:spPr>
      </p:pic>
      <p:sp>
        <p:nvSpPr>
          <p:cNvPr id="43" name="Card title 4 Check, ask"/>
          <p:cNvSpPr txBox="1"/>
          <p:nvPr/>
        </p:nvSpPr>
        <p:spPr>
          <a:xfrm>
            <a:off x="7388352" y="1847088"/>
            <a:ext cx="1005840" cy="329184"/>
          </a:xfrm>
          <a:prstGeom prst="rect">
            <a:avLst/>
          </a:prstGeom>
          <a:noFill/>
          <a:ln/>
        </p:spPr>
        <p:txBody>
          <a:bodyPr wrap="square" lIns="0" tIns="0" rIns="0" bIns="0" rtlCol="0" anchor="ctr"/>
          <a:lstStyle/>
          <a:p>
            <a:pPr algn="l" indent="0" marL="0">
              <a:buNone/>
            </a:pPr>
            <a:r>
              <a:rPr lang="en-US" sz="1200" b="1" dirty="0">
                <a:solidFill>
                  <a:schemeClr val="tx1"/>
                </a:solidFill>
              </a:rPr>
              <a:t>4 Check, ask</a:t>
            </a:r>
            <a:endParaRPr lang="en-US" sz="1100" dirty="0"/>
          </a:p>
        </p:txBody>
      </p:sp>
      <p:sp>
        <p:nvSpPr>
          <p:cNvPr id="44" name="Card body 4 Check, ask"/>
          <p:cNvSpPr txBox="1"/>
          <p:nvPr/>
        </p:nvSpPr>
        <p:spPr>
          <a:xfrm>
            <a:off x="7022592" y="2194560"/>
            <a:ext cx="1353312" cy="1115568"/>
          </a:xfrm>
          <a:prstGeom prst="rect">
            <a:avLst/>
          </a:prstGeom>
          <a:noFill/>
          <a:ln/>
        </p:spPr>
        <p:txBody>
          <a:bodyPr wrap="square" lIns="12700" tIns="38100" rIns="38100" bIns="12700" rtlCol="0" anchor="t"/>
          <a:lstStyle/>
          <a:p>
            <a:pPr algn="l" indent="0" marL="0">
              <a:buNone/>
            </a:pPr>
            <a:r>
              <a:rPr lang="en-US" sz="1000" i="1" dirty="0">
                <a:solidFill>
                  <a:schemeClr val="accent2"/>
                </a:solidFill>
              </a:rPr>
              <a:t>before it is trusted</a:t>
            </a:r>
            <a:endParaRPr lang="en-US" sz="1100" dirty="0"/>
          </a:p>
          <a:p>
            <a:pPr algn="l" indent="0" marL="0">
              <a:buNone/>
            </a:pPr>
            <a:r>
              <a:rPr lang="en-US" sz="1000" dirty="0">
                <a:solidFill>
                  <a:schemeClr val="tx1"/>
                </a:solidFill>
              </a:rPr>
              <a:t>Read-only data checks</a:t>
            </a:r>
            <a:endParaRPr lang="en-US" sz="1100" dirty="0"/>
          </a:p>
          <a:p>
            <a:pPr algn="l" indent="0" marL="0">
              <a:buNone/>
            </a:pPr>
            <a:r>
              <a:rPr lang="en-US" sz="1000" dirty="0">
                <a:solidFill>
                  <a:schemeClr val="tx1"/>
                </a:solidFill>
              </a:rPr>
              <a:t>Reviewer re-checks</a:t>
            </a:r>
            <a:endParaRPr lang="en-US" sz="1100" dirty="0"/>
          </a:p>
          <a:p>
            <a:pPr algn="l" indent="0" marL="0">
              <a:buNone/>
            </a:pPr>
            <a:r>
              <a:rPr lang="en-US" sz="1000" dirty="0">
                <a:solidFill>
                  <a:schemeClr val="tx1"/>
                </a:solidFill>
              </a:rPr>
              <a:t>Ask people the rest</a:t>
            </a:r>
            <a:endParaRPr lang="en-US" sz="1100" dirty="0"/>
          </a:p>
          <a:p>
            <a:pPr algn="l" indent="0" marL="0">
              <a:buNone/>
            </a:pPr>
            <a:r>
              <a:rPr lang="en-US" sz="1000" b="1" dirty="0">
                <a:solidFill>
                  <a:schemeClr val="accent2"/>
                </a:solidFill>
              </a:rPr>
              <a:t>→ labels updated</a:t>
            </a:r>
            <a:endParaRPr lang="en-US" sz="1100" dirty="0"/>
          </a:p>
        </p:txBody>
      </p:sp>
      <p:sp>
        <p:nvSpPr>
          <p:cNvPr id="45" name="Memory bar"/>
          <p:cNvSpPr/>
          <p:nvPr/>
        </p:nvSpPr>
        <p:spPr>
          <a:xfrm>
            <a:off x="2304288" y="3474720"/>
            <a:ext cx="6080760" cy="804672"/>
          </a:xfrm>
          <a:prstGeom prst="roundRect">
            <a:avLst>
              <a:gd name="adj" fmla="val 6818"/>
            </a:avLst>
          </a:prstGeom>
          <a:solidFill>
            <a:schemeClr val="accent1"/>
          </a:solidFill>
          <a:ln/>
        </p:spPr>
      </p:sp>
      <p:sp>
        <p:nvSpPr>
          <p:cNvPr id="46" name="Memory icon circle"/>
          <p:cNvSpPr/>
          <p:nvPr/>
        </p:nvSpPr>
        <p:spPr>
          <a:xfrm>
            <a:off x="2414016" y="3712464"/>
            <a:ext cx="329184" cy="329184"/>
          </a:xfrm>
          <a:prstGeom prst="ellipse">
            <a:avLst/>
          </a:prstGeom>
          <a:solidFill>
            <a:schemeClr val="tx2"/>
          </a:solidFill>
          <a:ln/>
        </p:spPr>
      </p:sp>
      <p:pic>
        <p:nvPicPr>
          <p:cNvPr id="47" name="Image 5" descr="Memory icon">    </p:cNvPr>
          <p:cNvPicPr>
            <a:picLocks noChangeAspect="1"/>
          </p:cNvPicPr>
          <p:nvPr/>
        </p:nvPicPr>
        <p:blipFill>
          <a:blip r:embed="rId6"/>
          <a:stretch>
            <a:fillRect/>
          </a:stretch>
        </p:blipFill>
        <p:spPr>
          <a:xfrm>
            <a:off x="2496312" y="3794760"/>
            <a:ext cx="164592" cy="164592"/>
          </a:xfrm>
          <a:prstGeom prst="rect">
            <a:avLst/>
          </a:prstGeom>
        </p:spPr>
      </p:pic>
      <p:sp>
        <p:nvSpPr>
          <p:cNvPr id="48" name="Memory label"/>
          <p:cNvSpPr txBox="1"/>
          <p:nvPr/>
        </p:nvSpPr>
        <p:spPr>
          <a:xfrm>
            <a:off x="2788920" y="3474720"/>
            <a:ext cx="1325880" cy="804672"/>
          </a:xfrm>
          <a:prstGeom prst="rect">
            <a:avLst/>
          </a:prstGeom>
          <a:noFill/>
          <a:ln/>
        </p:spPr>
        <p:txBody>
          <a:bodyPr wrap="square" lIns="0" tIns="0" rIns="0" bIns="0" rtlCol="0" anchor="ctr"/>
          <a:lstStyle/>
          <a:p>
            <a:pPr algn="l" indent="0" marL="0">
              <a:buNone/>
            </a:pPr>
            <a:r>
              <a:rPr lang="en-US" sz="1200" b="1" dirty="0">
                <a:solidFill>
                  <a:schemeClr val="bg1"/>
                </a:solidFill>
              </a:rPr>
              <a:t>Memory</a:t>
            </a:r>
            <a:endParaRPr lang="en-US" sz="1100" dirty="0"/>
          </a:p>
          <a:p>
            <a:pPr algn="l" indent="0" marL="0">
              <a:buNone/>
            </a:pPr>
            <a:r>
              <a:rPr lang="en-US" sz="1000" dirty="0">
                <a:solidFill>
                  <a:schemeClr val="bg1"/>
                </a:solidFill>
              </a:rPr>
              <a:t>versioned v1.0, v1.1 …</a:t>
            </a:r>
            <a:endParaRPr lang="en-US" sz="1100" dirty="0"/>
          </a:p>
        </p:txBody>
      </p:sp>
      <p:sp>
        <p:nvSpPr>
          <p:cNvPr id="49" name="Memory part Technical facts"/>
          <p:cNvSpPr/>
          <p:nvPr/>
        </p:nvSpPr>
        <p:spPr>
          <a:xfrm>
            <a:off x="4133088" y="3547872"/>
            <a:ext cx="1325880" cy="658368"/>
          </a:xfrm>
          <a:prstGeom prst="roundRect">
            <a:avLst>
              <a:gd name="adj" fmla="val 8333"/>
            </a:avLst>
          </a:prstGeom>
          <a:solidFill>
            <a:schemeClr val="bg1">
              <a:alpha val="15000"/>
            </a:schemeClr>
          </a:solidFill>
          <a:ln/>
        </p:spPr>
      </p:sp>
      <p:sp>
        <p:nvSpPr>
          <p:cNvPr id="50" name="Memory part text Technical facts"/>
          <p:cNvSpPr txBox="1"/>
          <p:nvPr/>
        </p:nvSpPr>
        <p:spPr>
          <a:xfrm>
            <a:off x="4133088" y="3547872"/>
            <a:ext cx="1325880" cy="658368"/>
          </a:xfrm>
          <a:prstGeom prst="rect">
            <a:avLst/>
          </a:prstGeom>
          <a:noFill/>
          <a:ln/>
        </p:spPr>
        <p:txBody>
          <a:bodyPr wrap="square" lIns="12700" tIns="63500" rIns="63500" bIns="12700" rtlCol="0" anchor="ctr"/>
          <a:lstStyle/>
          <a:p>
            <a:pPr algn="l" indent="0" marL="0">
              <a:buNone/>
            </a:pPr>
            <a:r>
              <a:rPr lang="en-US" sz="1050" b="1" dirty="0">
                <a:solidFill>
                  <a:schemeClr val="bg1"/>
                </a:solidFill>
              </a:rPr>
              <a:t>Technical facts</a:t>
            </a:r>
            <a:endParaRPr lang="en-US" sz="1100" dirty="0"/>
          </a:p>
          <a:p>
            <a:pPr algn="l" indent="0" marL="0">
              <a:buNone/>
            </a:pPr>
            <a:r>
              <a:rPr lang="en-US" sz="1000" dirty="0">
                <a:solidFill>
                  <a:schemeClr val="bg1"/>
                </a:solidFill>
              </a:rPr>
              <a:t>objects, flows, activity</a:t>
            </a:r>
            <a:endParaRPr lang="en-US" sz="1100" dirty="0"/>
          </a:p>
        </p:txBody>
      </p:sp>
      <p:sp>
        <p:nvSpPr>
          <p:cNvPr id="51" name="Memory part Business meaning"/>
          <p:cNvSpPr/>
          <p:nvPr/>
        </p:nvSpPr>
        <p:spPr>
          <a:xfrm>
            <a:off x="5550408" y="3547872"/>
            <a:ext cx="1325880" cy="658368"/>
          </a:xfrm>
          <a:prstGeom prst="roundRect">
            <a:avLst>
              <a:gd name="adj" fmla="val 8333"/>
            </a:avLst>
          </a:prstGeom>
          <a:solidFill>
            <a:schemeClr val="bg1">
              <a:alpha val="15000"/>
            </a:schemeClr>
          </a:solidFill>
          <a:ln/>
        </p:spPr>
      </p:sp>
      <p:sp>
        <p:nvSpPr>
          <p:cNvPr id="52" name="Memory part text Business meaning"/>
          <p:cNvSpPr txBox="1"/>
          <p:nvPr/>
        </p:nvSpPr>
        <p:spPr>
          <a:xfrm>
            <a:off x="5550408" y="3547872"/>
            <a:ext cx="1325880" cy="658368"/>
          </a:xfrm>
          <a:prstGeom prst="rect">
            <a:avLst/>
          </a:prstGeom>
          <a:noFill/>
          <a:ln/>
        </p:spPr>
        <p:txBody>
          <a:bodyPr wrap="square" lIns="12700" tIns="63500" rIns="63500" bIns="12700" rtlCol="0" anchor="ctr"/>
          <a:lstStyle/>
          <a:p>
            <a:pPr algn="l" indent="0" marL="0">
              <a:buNone/>
            </a:pPr>
            <a:r>
              <a:rPr lang="en-US" sz="1050" b="1" dirty="0">
                <a:solidFill>
                  <a:schemeClr val="bg1"/>
                </a:solidFill>
              </a:rPr>
              <a:t>Business meaning</a:t>
            </a:r>
            <a:endParaRPr lang="en-US" sz="1100" dirty="0"/>
          </a:p>
          <a:p>
            <a:pPr algn="l" indent="0" marL="0">
              <a:buNone/>
            </a:pPr>
            <a:r>
              <a:rPr lang="en-US" sz="1000" dirty="0">
                <a:solidFill>
                  <a:schemeClr val="bg1"/>
                </a:solidFill>
              </a:rPr>
              <a:t>purposes, rules, terms</a:t>
            </a:r>
            <a:endParaRPr lang="en-US" sz="1100" dirty="0"/>
          </a:p>
        </p:txBody>
      </p:sp>
      <p:sp>
        <p:nvSpPr>
          <p:cNvPr id="53" name="Memory part Gaps and conflicts"/>
          <p:cNvSpPr/>
          <p:nvPr/>
        </p:nvSpPr>
        <p:spPr>
          <a:xfrm>
            <a:off x="6967728" y="3547872"/>
            <a:ext cx="1325880" cy="658368"/>
          </a:xfrm>
          <a:prstGeom prst="roundRect">
            <a:avLst>
              <a:gd name="adj" fmla="val 8333"/>
            </a:avLst>
          </a:prstGeom>
          <a:solidFill>
            <a:schemeClr val="bg1">
              <a:alpha val="15000"/>
            </a:schemeClr>
          </a:solidFill>
          <a:ln/>
        </p:spPr>
      </p:sp>
      <p:sp>
        <p:nvSpPr>
          <p:cNvPr id="54" name="Memory part text Gaps and conflicts"/>
          <p:cNvSpPr txBox="1"/>
          <p:nvPr/>
        </p:nvSpPr>
        <p:spPr>
          <a:xfrm>
            <a:off x="6967728" y="3547872"/>
            <a:ext cx="1325880" cy="658368"/>
          </a:xfrm>
          <a:prstGeom prst="rect">
            <a:avLst/>
          </a:prstGeom>
          <a:noFill/>
          <a:ln/>
        </p:spPr>
        <p:txBody>
          <a:bodyPr wrap="square" lIns="12700" tIns="63500" rIns="63500" bIns="12700" rtlCol="0" anchor="ctr"/>
          <a:lstStyle/>
          <a:p>
            <a:pPr algn="l" indent="0" marL="0">
              <a:buNone/>
            </a:pPr>
            <a:r>
              <a:rPr lang="en-US" sz="1050" b="1" dirty="0">
                <a:solidFill>
                  <a:schemeClr val="bg1"/>
                </a:solidFill>
              </a:rPr>
              <a:t>Gaps and conflicts</a:t>
            </a:r>
            <a:endParaRPr lang="en-US" sz="1100" dirty="0"/>
          </a:p>
          <a:p>
            <a:pPr algn="l" indent="0" marL="0">
              <a:buNone/>
            </a:pPr>
            <a:r>
              <a:rPr lang="en-US" sz="1000" dirty="0">
                <a:solidFill>
                  <a:schemeClr val="bg1"/>
                </a:solidFill>
              </a:rPr>
              <a:t>open questions</a:t>
            </a:r>
            <a:endParaRPr lang="en-US" sz="1100" dirty="0"/>
          </a:p>
        </p:txBody>
      </p:sp>
      <p:sp>
        <p:nvSpPr>
          <p:cNvPr id="55" name="Understand to build"/>
          <p:cNvSpPr/>
          <p:nvPr/>
        </p:nvSpPr>
        <p:spPr>
          <a:xfrm>
            <a:off x="8549640" y="2880360"/>
            <a:ext cx="128016" cy="0"/>
          </a:xfrm>
          <a:prstGeom prst="line">
            <a:avLst/>
          </a:prstGeom>
          <a:noFill/>
          <a:ln w="15875">
            <a:solidFill>
              <a:schemeClr val="accent6"/>
            </a:solidFill>
            <a:prstDash val="solid"/>
            <a:tailEnd type="triangle"/>
          </a:ln>
        </p:spPr>
      </p:sp>
      <p:sp>
        <p:nvSpPr>
          <p:cNvPr id="56" name="Build icon circle"/>
          <p:cNvSpPr/>
          <p:nvPr/>
        </p:nvSpPr>
        <p:spPr>
          <a:xfrm>
            <a:off x="8705088" y="1371600"/>
            <a:ext cx="329184" cy="329184"/>
          </a:xfrm>
          <a:prstGeom prst="ellipse">
            <a:avLst/>
          </a:prstGeom>
          <a:solidFill>
            <a:schemeClr val="accent1"/>
          </a:solidFill>
          <a:ln/>
        </p:spPr>
      </p:sp>
      <p:pic>
        <p:nvPicPr>
          <p:cNvPr id="57" name="Image 6" descr="Build icon">    </p:cNvPr>
          <p:cNvPicPr>
            <a:picLocks noChangeAspect="1"/>
          </p:cNvPicPr>
          <p:nvPr/>
        </p:nvPicPr>
        <p:blipFill>
          <a:blip r:embed="rId7"/>
          <a:stretch>
            <a:fillRect/>
          </a:stretch>
        </p:blipFill>
        <p:spPr>
          <a:xfrm>
            <a:off x="8787384" y="1453896"/>
            <a:ext cx="164592" cy="164592"/>
          </a:xfrm>
          <a:prstGeom prst="rect">
            <a:avLst/>
          </a:prstGeom>
        </p:spPr>
      </p:pic>
      <p:sp>
        <p:nvSpPr>
          <p:cNvPr id="58" name="Build heading"/>
          <p:cNvSpPr txBox="1"/>
          <p:nvPr/>
        </p:nvSpPr>
        <p:spPr>
          <a:xfrm>
            <a:off x="9107424" y="1371600"/>
            <a:ext cx="2286000" cy="329184"/>
          </a:xfrm>
          <a:prstGeom prst="rect">
            <a:avLst/>
          </a:prstGeom>
          <a:noFill/>
          <a:ln/>
        </p:spPr>
        <p:txBody>
          <a:bodyPr wrap="square" lIns="0" tIns="0" rIns="0" bIns="0" rtlCol="0" anchor="ctr"/>
          <a:lstStyle/>
          <a:p>
            <a:pPr algn="l" indent="0" marL="0">
              <a:buNone/>
            </a:pPr>
            <a:r>
              <a:rPr lang="en-US" sz="1300" b="1" dirty="0">
                <a:solidFill>
                  <a:schemeClr val="tx1"/>
                </a:solidFill>
              </a:rPr>
              <a:t>Build the BRD</a:t>
            </a:r>
            <a:endParaRPr lang="en-US" sz="1100" dirty="0"/>
          </a:p>
        </p:txBody>
      </p:sp>
      <p:sp>
        <p:nvSpPr>
          <p:cNvPr id="59" name="Build step Choose the scope"/>
          <p:cNvSpPr/>
          <p:nvPr/>
        </p:nvSpPr>
        <p:spPr>
          <a:xfrm>
            <a:off x="8705088" y="1810512"/>
            <a:ext cx="3072384" cy="512064"/>
          </a:xfrm>
          <a:prstGeom prst="roundRect">
            <a:avLst>
              <a:gd name="adj" fmla="val 10714"/>
            </a:avLst>
          </a:prstGeom>
          <a:solidFill>
            <a:schemeClr val="bg1"/>
          </a:solidFill>
          <a:ln w="15875">
            <a:solidFill>
              <a:schemeClr val="accent1"/>
            </a:solidFill>
            <a:prstDash val="solid"/>
          </a:ln>
        </p:spPr>
      </p:sp>
      <p:sp>
        <p:nvSpPr>
          <p:cNvPr id="60" name="Build step text Choose the scope"/>
          <p:cNvSpPr txBox="1"/>
          <p:nvPr/>
        </p:nvSpPr>
        <p:spPr>
          <a:xfrm>
            <a:off x="8705088" y="1810512"/>
            <a:ext cx="3072384" cy="512064"/>
          </a:xfrm>
          <a:prstGeom prst="rect">
            <a:avLst/>
          </a:prstGeom>
          <a:noFill/>
          <a:ln/>
        </p:spPr>
        <p:txBody>
          <a:bodyPr wrap="square" lIns="25400" tIns="76200" rIns="76200" bIns="25400" rtlCol="0" anchor="ctr"/>
          <a:lstStyle/>
          <a:p>
            <a:pPr algn="l" indent="0" marL="0">
              <a:buNone/>
            </a:pPr>
            <a:r>
              <a:rPr lang="en-US" sz="1100" b="1" dirty="0">
                <a:solidFill>
                  <a:schemeClr val="tx1"/>
                </a:solidFill>
              </a:rPr>
              <a:t>Choose the scope</a:t>
            </a:r>
            <a:endParaRPr lang="en-US" sz="1100" dirty="0"/>
          </a:p>
          <a:p>
            <a:pPr algn="l" indent="0" marL="0">
              <a:buNone/>
            </a:pPr>
            <a:r>
              <a:rPr lang="en-US" sz="1000" dirty="0">
                <a:solidFill>
                  <a:schemeClr val="accent6"/>
                </a:solidFill>
              </a:rPr>
              <a:t>from what the memory knows</a:t>
            </a:r>
            <a:endParaRPr lang="en-US" sz="1100" dirty="0"/>
          </a:p>
        </p:txBody>
      </p:sp>
      <p:sp>
        <p:nvSpPr>
          <p:cNvPr id="61" name="Build arrow 0"/>
          <p:cNvSpPr/>
          <p:nvPr/>
        </p:nvSpPr>
        <p:spPr>
          <a:xfrm>
            <a:off x="10241280" y="2327148"/>
            <a:ext cx="0" cy="82296"/>
          </a:xfrm>
          <a:prstGeom prst="line">
            <a:avLst/>
          </a:prstGeom>
          <a:noFill/>
          <a:ln w="15875">
            <a:solidFill>
              <a:schemeClr val="accent6"/>
            </a:solidFill>
            <a:prstDash val="solid"/>
            <a:tailEnd type="triangle"/>
          </a:ln>
        </p:spPr>
      </p:sp>
      <p:sp>
        <p:nvSpPr>
          <p:cNvPr id="62" name="Build step Map the templates"/>
          <p:cNvSpPr/>
          <p:nvPr/>
        </p:nvSpPr>
        <p:spPr>
          <a:xfrm>
            <a:off x="8705088" y="2414016"/>
            <a:ext cx="3072384" cy="512064"/>
          </a:xfrm>
          <a:prstGeom prst="roundRect">
            <a:avLst>
              <a:gd name="adj" fmla="val 10714"/>
            </a:avLst>
          </a:prstGeom>
          <a:solidFill>
            <a:schemeClr val="bg1"/>
          </a:solidFill>
          <a:ln w="15875">
            <a:solidFill>
              <a:schemeClr val="accent1"/>
            </a:solidFill>
            <a:prstDash val="solid"/>
          </a:ln>
        </p:spPr>
      </p:sp>
      <p:sp>
        <p:nvSpPr>
          <p:cNvPr id="63" name="Build step text Map the templates"/>
          <p:cNvSpPr txBox="1"/>
          <p:nvPr/>
        </p:nvSpPr>
        <p:spPr>
          <a:xfrm>
            <a:off x="8705088" y="2414016"/>
            <a:ext cx="3072384" cy="512064"/>
          </a:xfrm>
          <a:prstGeom prst="rect">
            <a:avLst/>
          </a:prstGeom>
          <a:noFill/>
          <a:ln/>
        </p:spPr>
        <p:txBody>
          <a:bodyPr wrap="square" lIns="25400" tIns="76200" rIns="76200" bIns="25400" rtlCol="0" anchor="ctr"/>
          <a:lstStyle/>
          <a:p>
            <a:pPr algn="l" indent="0" marL="0">
              <a:buNone/>
            </a:pPr>
            <a:r>
              <a:rPr lang="en-US" sz="1100" b="1" dirty="0">
                <a:solidFill>
                  <a:schemeClr val="tx1"/>
                </a:solidFill>
              </a:rPr>
              <a:t>Map the templates</a:t>
            </a:r>
            <a:endParaRPr lang="en-US" sz="1100" dirty="0"/>
          </a:p>
          <a:p>
            <a:pPr algn="l" indent="0" marL="0">
              <a:buNone/>
            </a:pPr>
            <a:r>
              <a:rPr lang="en-US" sz="1000" dirty="0">
                <a:solidFill>
                  <a:schemeClr val="accent6"/>
                </a:solidFill>
              </a:rPr>
              <a:t>each section → where its content comes from</a:t>
            </a:r>
            <a:endParaRPr lang="en-US" sz="1100" dirty="0"/>
          </a:p>
        </p:txBody>
      </p:sp>
      <p:sp>
        <p:nvSpPr>
          <p:cNvPr id="64" name="Build arrow 1"/>
          <p:cNvSpPr/>
          <p:nvPr/>
        </p:nvSpPr>
        <p:spPr>
          <a:xfrm>
            <a:off x="10241280" y="2930652"/>
            <a:ext cx="0" cy="82296"/>
          </a:xfrm>
          <a:prstGeom prst="line">
            <a:avLst/>
          </a:prstGeom>
          <a:noFill/>
          <a:ln w="15875">
            <a:solidFill>
              <a:schemeClr val="accent6"/>
            </a:solidFill>
            <a:prstDash val="solid"/>
            <a:tailEnd type="triangle"/>
          </a:ln>
        </p:spPr>
      </p:sp>
      <p:sp>
        <p:nvSpPr>
          <p:cNvPr id="65" name="Build step Write phase by phase"/>
          <p:cNvSpPr/>
          <p:nvPr/>
        </p:nvSpPr>
        <p:spPr>
          <a:xfrm>
            <a:off x="8705088" y="3017520"/>
            <a:ext cx="3072384" cy="512064"/>
          </a:xfrm>
          <a:prstGeom prst="roundRect">
            <a:avLst>
              <a:gd name="adj" fmla="val 10714"/>
            </a:avLst>
          </a:prstGeom>
          <a:solidFill>
            <a:schemeClr val="bg1"/>
          </a:solidFill>
          <a:ln w="15875">
            <a:solidFill>
              <a:schemeClr val="accent1"/>
            </a:solidFill>
            <a:prstDash val="solid"/>
          </a:ln>
        </p:spPr>
      </p:sp>
      <p:sp>
        <p:nvSpPr>
          <p:cNvPr id="66" name="Build step text Write phase by phase"/>
          <p:cNvSpPr txBox="1"/>
          <p:nvPr/>
        </p:nvSpPr>
        <p:spPr>
          <a:xfrm>
            <a:off x="8705088" y="3017520"/>
            <a:ext cx="3072384" cy="512064"/>
          </a:xfrm>
          <a:prstGeom prst="rect">
            <a:avLst/>
          </a:prstGeom>
          <a:noFill/>
          <a:ln/>
        </p:spPr>
        <p:txBody>
          <a:bodyPr wrap="square" lIns="25400" tIns="76200" rIns="76200" bIns="25400" rtlCol="0" anchor="ctr"/>
          <a:lstStyle/>
          <a:p>
            <a:pPr algn="l" indent="0" marL="0">
              <a:buNone/>
            </a:pPr>
            <a:r>
              <a:rPr lang="en-US" sz="1100" b="1" dirty="0">
                <a:solidFill>
                  <a:schemeClr val="tx1"/>
                </a:solidFill>
              </a:rPr>
              <a:t>Write phase by phase</a:t>
            </a:r>
            <a:endParaRPr lang="en-US" sz="1100" dirty="0"/>
          </a:p>
          <a:p>
            <a:pPr algn="l" indent="0" marL="0">
              <a:buNone/>
            </a:pPr>
            <a:r>
              <a:rPr lang="en-US" sz="1000" dirty="0">
                <a:solidFill>
                  <a:schemeClr val="accent6"/>
                </a:solidFill>
              </a:rPr>
              <a:t>scope, process, rules, technical, gaps, risks</a:t>
            </a:r>
            <a:endParaRPr lang="en-US" sz="1100" dirty="0"/>
          </a:p>
        </p:txBody>
      </p:sp>
      <p:sp>
        <p:nvSpPr>
          <p:cNvPr id="67" name="Build to docs"/>
          <p:cNvSpPr/>
          <p:nvPr/>
        </p:nvSpPr>
        <p:spPr>
          <a:xfrm>
            <a:off x="10241280" y="3534156"/>
            <a:ext cx="0" cy="82296"/>
          </a:xfrm>
          <a:prstGeom prst="line">
            <a:avLst/>
          </a:prstGeom>
          <a:noFill/>
          <a:ln w="15875">
            <a:solidFill>
              <a:schemeClr val="accent6"/>
            </a:solidFill>
            <a:prstDash val="solid"/>
            <a:tailEnd type="triangle"/>
          </a:ln>
        </p:spPr>
      </p:sp>
      <p:sp>
        <p:nvSpPr>
          <p:cNvPr id="68" name="Doc Functional"/>
          <p:cNvSpPr/>
          <p:nvPr/>
        </p:nvSpPr>
        <p:spPr>
          <a:xfrm>
            <a:off x="8705088" y="3621024"/>
            <a:ext cx="975360" cy="768096"/>
          </a:xfrm>
          <a:prstGeom prst="roundRect">
            <a:avLst>
              <a:gd name="adj" fmla="val 7143"/>
            </a:avLst>
          </a:prstGeom>
          <a:solidFill>
            <a:schemeClr val="accent1"/>
          </a:solidFill>
          <a:ln/>
        </p:spPr>
      </p:sp>
      <p:sp>
        <p:nvSpPr>
          <p:cNvPr id="69" name="Doc text Functional"/>
          <p:cNvSpPr txBox="1"/>
          <p:nvPr/>
        </p:nvSpPr>
        <p:spPr>
          <a:xfrm>
            <a:off x="8705088" y="3621024"/>
            <a:ext cx="975360" cy="768096"/>
          </a:xfrm>
          <a:prstGeom prst="rect">
            <a:avLst/>
          </a:prstGeom>
          <a:noFill/>
          <a:ln/>
        </p:spPr>
        <p:txBody>
          <a:bodyPr wrap="square" lIns="12700" tIns="12700" rIns="12700" bIns="12700" rtlCol="0" anchor="ctr"/>
          <a:lstStyle/>
          <a:p>
            <a:pPr algn="ctr" indent="0" marL="0">
              <a:buNone/>
            </a:pPr>
            <a:r>
              <a:rPr lang="en-US" sz="1050" b="1" dirty="0">
                <a:solidFill>
                  <a:schemeClr val="bg1"/>
                </a:solidFill>
              </a:rPr>
              <a:t>Functional</a:t>
            </a:r>
            <a:endParaRPr lang="en-US" sz="1100" dirty="0"/>
          </a:p>
          <a:p>
            <a:pPr algn="ctr" indent="0" marL="0">
              <a:buNone/>
            </a:pPr>
            <a:r>
              <a:rPr lang="en-US" sz="1000" dirty="0">
                <a:solidFill>
                  <a:schemeClr val="bg1"/>
                </a:solidFill>
              </a:rPr>
              <a:t>business readers</a:t>
            </a:r>
            <a:endParaRPr lang="en-US" sz="1100" dirty="0"/>
          </a:p>
        </p:txBody>
      </p:sp>
      <p:sp>
        <p:nvSpPr>
          <p:cNvPr id="70" name="Doc Technical"/>
          <p:cNvSpPr/>
          <p:nvPr/>
        </p:nvSpPr>
        <p:spPr>
          <a:xfrm>
            <a:off x="9753600" y="3621024"/>
            <a:ext cx="975360" cy="768096"/>
          </a:xfrm>
          <a:prstGeom prst="roundRect">
            <a:avLst>
              <a:gd name="adj" fmla="val 7143"/>
            </a:avLst>
          </a:prstGeom>
          <a:solidFill>
            <a:schemeClr val="accent1"/>
          </a:solidFill>
          <a:ln/>
        </p:spPr>
      </p:sp>
      <p:sp>
        <p:nvSpPr>
          <p:cNvPr id="71" name="Doc text Technical"/>
          <p:cNvSpPr txBox="1"/>
          <p:nvPr/>
        </p:nvSpPr>
        <p:spPr>
          <a:xfrm>
            <a:off x="9753600" y="3621024"/>
            <a:ext cx="975360" cy="768096"/>
          </a:xfrm>
          <a:prstGeom prst="rect">
            <a:avLst/>
          </a:prstGeom>
          <a:noFill/>
          <a:ln/>
        </p:spPr>
        <p:txBody>
          <a:bodyPr wrap="square" lIns="12700" tIns="12700" rIns="12700" bIns="12700" rtlCol="0" anchor="ctr"/>
          <a:lstStyle/>
          <a:p>
            <a:pPr algn="ctr" indent="0" marL="0">
              <a:buNone/>
            </a:pPr>
            <a:r>
              <a:rPr lang="en-US" sz="1050" b="1" dirty="0">
                <a:solidFill>
                  <a:schemeClr val="bg1"/>
                </a:solidFill>
              </a:rPr>
              <a:t>Technical</a:t>
            </a:r>
            <a:endParaRPr lang="en-US" sz="1100" dirty="0"/>
          </a:p>
          <a:p>
            <a:pPr algn="ctr" indent="0" marL="0">
              <a:buNone/>
            </a:pPr>
            <a:r>
              <a:rPr lang="en-US" sz="1000" dirty="0">
                <a:solidFill>
                  <a:schemeClr val="bg1"/>
                </a:solidFill>
              </a:rPr>
              <a:t>builders</a:t>
            </a:r>
            <a:endParaRPr lang="en-US" sz="1100" dirty="0"/>
          </a:p>
        </p:txBody>
      </p:sp>
      <p:sp>
        <p:nvSpPr>
          <p:cNvPr id="72" name="Doc Summary"/>
          <p:cNvSpPr/>
          <p:nvPr/>
        </p:nvSpPr>
        <p:spPr>
          <a:xfrm>
            <a:off x="10802112" y="3621024"/>
            <a:ext cx="975360" cy="768096"/>
          </a:xfrm>
          <a:prstGeom prst="roundRect">
            <a:avLst>
              <a:gd name="adj" fmla="val 7143"/>
            </a:avLst>
          </a:prstGeom>
          <a:solidFill>
            <a:schemeClr val="accent1"/>
          </a:solidFill>
          <a:ln/>
        </p:spPr>
      </p:sp>
      <p:sp>
        <p:nvSpPr>
          <p:cNvPr id="73" name="Doc text Summary"/>
          <p:cNvSpPr txBox="1"/>
          <p:nvPr/>
        </p:nvSpPr>
        <p:spPr>
          <a:xfrm>
            <a:off x="10802112" y="3621024"/>
            <a:ext cx="975360" cy="768096"/>
          </a:xfrm>
          <a:prstGeom prst="rect">
            <a:avLst/>
          </a:prstGeom>
          <a:noFill/>
          <a:ln/>
        </p:spPr>
        <p:txBody>
          <a:bodyPr wrap="square" lIns="12700" tIns="12700" rIns="12700" bIns="12700" rtlCol="0" anchor="ctr"/>
          <a:lstStyle/>
          <a:p>
            <a:pPr algn="ctr" indent="0" marL="0">
              <a:buNone/>
            </a:pPr>
            <a:r>
              <a:rPr lang="en-US" sz="1050" b="1" dirty="0">
                <a:solidFill>
                  <a:schemeClr val="bg1"/>
                </a:solidFill>
              </a:rPr>
              <a:t>Summary</a:t>
            </a:r>
            <a:endParaRPr lang="en-US" sz="1100" dirty="0"/>
          </a:p>
          <a:p>
            <a:pPr algn="ctr" indent="0" marL="0">
              <a:buNone/>
            </a:pPr>
            <a:r>
              <a:rPr lang="en-US" sz="1000" dirty="0">
                <a:solidFill>
                  <a:schemeClr val="bg1"/>
                </a:solidFill>
              </a:rPr>
              <a:t>from F + T</a:t>
            </a:r>
            <a:endParaRPr lang="en-US" sz="1100" dirty="0"/>
          </a:p>
        </p:txBody>
      </p:sp>
      <p:sp>
        <p:nvSpPr>
          <p:cNvPr id="74" name="Trace heading"/>
          <p:cNvSpPr txBox="1"/>
          <p:nvPr/>
        </p:nvSpPr>
        <p:spPr>
          <a:xfrm>
            <a:off x="411480" y="4590288"/>
            <a:ext cx="1280160" cy="896112"/>
          </a:xfrm>
          <a:prstGeom prst="rect">
            <a:avLst/>
          </a:prstGeom>
          <a:noFill/>
          <a:ln/>
        </p:spPr>
        <p:txBody>
          <a:bodyPr wrap="square" lIns="0" tIns="0" rIns="0" bIns="0" rtlCol="0" anchor="ctr"/>
          <a:lstStyle/>
          <a:p>
            <a:pPr algn="l" indent="0" marL="0">
              <a:buNone/>
            </a:pPr>
            <a:r>
              <a:rPr lang="en-US" sz="1200" b="1" dirty="0">
                <a:solidFill>
                  <a:schemeClr val="tx1"/>
                </a:solidFill>
              </a:rPr>
              <a:t>One rule, traced</a:t>
            </a:r>
            <a:endParaRPr lang="en-US" sz="1100" dirty="0"/>
          </a:p>
          <a:p>
            <a:pPr algn="l" indent="0" marL="0">
              <a:buNone/>
            </a:pPr>
            <a:r>
              <a:rPr lang="en-US" sz="1000" dirty="0">
                <a:solidFill>
                  <a:schemeClr val="accent6"/>
                </a:solidFill>
              </a:rPr>
              <a:t>rebate tier threshold</a:t>
            </a:r>
            <a:endParaRPr lang="en-US" sz="1100" dirty="0"/>
          </a:p>
        </p:txBody>
      </p:sp>
      <p:sp>
        <p:nvSpPr>
          <p:cNvPr id="75" name="Trace Read"/>
          <p:cNvSpPr/>
          <p:nvPr/>
        </p:nvSpPr>
        <p:spPr>
          <a:xfrm>
            <a:off x="1737360" y="4590288"/>
            <a:ext cx="1520952" cy="896112"/>
          </a:xfrm>
          <a:prstGeom prst="roundRect">
            <a:avLst>
              <a:gd name="adj" fmla="val 6122"/>
            </a:avLst>
          </a:prstGeom>
          <a:solidFill>
            <a:schemeClr val="bg1"/>
          </a:solidFill>
          <a:ln w="12700">
            <a:solidFill>
              <a:srgbClr val="C9D5D3"/>
            </a:solidFill>
            <a:prstDash val="solid"/>
          </a:ln>
        </p:spPr>
      </p:sp>
      <p:sp>
        <p:nvSpPr>
          <p:cNvPr id="76" name="Trace text Read"/>
          <p:cNvSpPr txBox="1"/>
          <p:nvPr/>
        </p:nvSpPr>
        <p:spPr>
          <a:xfrm>
            <a:off x="1737360" y="4590288"/>
            <a:ext cx="1520952" cy="896112"/>
          </a:xfrm>
          <a:prstGeom prst="rect">
            <a:avLst/>
          </a:prstGeom>
          <a:noFill/>
          <a:ln/>
        </p:spPr>
        <p:txBody>
          <a:bodyPr wrap="square" lIns="38100" tIns="63500" rIns="63500" bIns="25400" rtlCol="0" anchor="t"/>
          <a:lstStyle/>
          <a:p>
            <a:pPr algn="l" indent="0" marL="0">
              <a:buNone/>
            </a:pPr>
            <a:r>
              <a:rPr lang="en-US" sz="1050" b="1" dirty="0">
                <a:solidFill>
                  <a:schemeClr val="accent1"/>
                </a:solidFill>
              </a:rPr>
              <a:t>Read</a:t>
            </a:r>
            <a:endParaRPr lang="en-US" sz="1100" dirty="0"/>
          </a:p>
          <a:p>
            <a:pPr algn="l" indent="0" marL="0">
              <a:buNone/>
            </a:pPr>
            <a:r>
              <a:rPr lang="en-US" sz="1000" dirty="0">
                <a:solidFill>
                  <a:schemeClr val="tx1"/>
                </a:solidFill>
              </a:rPr>
              <a:t>Procedure says: units ≥ 5,000 → tier 2</a:t>
            </a:r>
            <a:endParaRPr lang="en-US" sz="1100" dirty="0"/>
          </a:p>
        </p:txBody>
      </p:sp>
      <p:sp>
        <p:nvSpPr>
          <p:cNvPr id="77" name="Trace arrow 0"/>
          <p:cNvSpPr/>
          <p:nvPr/>
        </p:nvSpPr>
        <p:spPr>
          <a:xfrm>
            <a:off x="3276600" y="5038344"/>
            <a:ext cx="146304" cy="0"/>
          </a:xfrm>
          <a:prstGeom prst="line">
            <a:avLst/>
          </a:prstGeom>
          <a:noFill/>
          <a:ln w="15875">
            <a:solidFill>
              <a:schemeClr val="accent6"/>
            </a:solidFill>
            <a:prstDash val="solid"/>
            <a:tailEnd type="triangle"/>
          </a:ln>
        </p:spPr>
      </p:sp>
      <p:sp>
        <p:nvSpPr>
          <p:cNvPr id="78" name="Trace Connect"/>
          <p:cNvSpPr/>
          <p:nvPr/>
        </p:nvSpPr>
        <p:spPr>
          <a:xfrm>
            <a:off x="3441192" y="4590288"/>
            <a:ext cx="1520952" cy="896112"/>
          </a:xfrm>
          <a:prstGeom prst="roundRect">
            <a:avLst>
              <a:gd name="adj" fmla="val 6122"/>
            </a:avLst>
          </a:prstGeom>
          <a:solidFill>
            <a:schemeClr val="bg1"/>
          </a:solidFill>
          <a:ln w="12700">
            <a:solidFill>
              <a:srgbClr val="C9D5D3"/>
            </a:solidFill>
            <a:prstDash val="solid"/>
          </a:ln>
        </p:spPr>
      </p:sp>
      <p:sp>
        <p:nvSpPr>
          <p:cNvPr id="79" name="Trace text Connect"/>
          <p:cNvSpPr txBox="1"/>
          <p:nvPr/>
        </p:nvSpPr>
        <p:spPr>
          <a:xfrm>
            <a:off x="3441192" y="4590288"/>
            <a:ext cx="1520952" cy="896112"/>
          </a:xfrm>
          <a:prstGeom prst="rect">
            <a:avLst/>
          </a:prstGeom>
          <a:noFill/>
          <a:ln/>
        </p:spPr>
        <p:txBody>
          <a:bodyPr wrap="square" lIns="38100" tIns="63500" rIns="63500" bIns="25400" rtlCol="0" anchor="t"/>
          <a:lstStyle/>
          <a:p>
            <a:pPr algn="l" indent="0" marL="0">
              <a:buNone/>
            </a:pPr>
            <a:r>
              <a:rPr lang="en-US" sz="1050" b="1" dirty="0">
                <a:solidFill>
                  <a:schemeClr val="accent1"/>
                </a:solidFill>
              </a:rPr>
              <a:t>Connect</a:t>
            </a:r>
            <a:endParaRPr lang="en-US" sz="1100" dirty="0"/>
          </a:p>
          <a:p>
            <a:pPr algn="l" indent="0" marL="0">
              <a:buNone/>
            </a:pPr>
            <a:r>
              <a:rPr lang="en-US" sz="1000" dirty="0">
                <a:solidFill>
                  <a:schemeClr val="tx1"/>
                </a:solidFill>
              </a:rPr>
              <a:t>Uses the rate card, runs monthly, writes the rebate table</a:t>
            </a:r>
            <a:endParaRPr lang="en-US" sz="1100" dirty="0"/>
          </a:p>
        </p:txBody>
      </p:sp>
      <p:sp>
        <p:nvSpPr>
          <p:cNvPr id="80" name="Trace arrow 1"/>
          <p:cNvSpPr/>
          <p:nvPr/>
        </p:nvSpPr>
        <p:spPr>
          <a:xfrm>
            <a:off x="4980432" y="5038344"/>
            <a:ext cx="146304" cy="0"/>
          </a:xfrm>
          <a:prstGeom prst="line">
            <a:avLst/>
          </a:prstGeom>
          <a:noFill/>
          <a:ln w="15875">
            <a:solidFill>
              <a:schemeClr val="accent6"/>
            </a:solidFill>
            <a:prstDash val="solid"/>
            <a:tailEnd type="triangle"/>
          </a:ln>
        </p:spPr>
      </p:sp>
      <p:sp>
        <p:nvSpPr>
          <p:cNvPr id="81" name="Trace Interpret"/>
          <p:cNvSpPr/>
          <p:nvPr/>
        </p:nvSpPr>
        <p:spPr>
          <a:xfrm>
            <a:off x="5145024" y="4590288"/>
            <a:ext cx="1520952" cy="896112"/>
          </a:xfrm>
          <a:prstGeom prst="roundRect">
            <a:avLst>
              <a:gd name="adj" fmla="val 6122"/>
            </a:avLst>
          </a:prstGeom>
          <a:solidFill>
            <a:schemeClr val="bg1"/>
          </a:solidFill>
          <a:ln w="12700">
            <a:solidFill>
              <a:srgbClr val="C9D5D3"/>
            </a:solidFill>
            <a:prstDash val="solid"/>
          </a:ln>
        </p:spPr>
      </p:sp>
      <p:sp>
        <p:nvSpPr>
          <p:cNvPr id="82" name="Trace text Interpret"/>
          <p:cNvSpPr txBox="1"/>
          <p:nvPr/>
        </p:nvSpPr>
        <p:spPr>
          <a:xfrm>
            <a:off x="5145024" y="4590288"/>
            <a:ext cx="1520952" cy="621792"/>
          </a:xfrm>
          <a:prstGeom prst="rect">
            <a:avLst/>
          </a:prstGeom>
          <a:noFill/>
          <a:ln/>
        </p:spPr>
        <p:txBody>
          <a:bodyPr wrap="square" lIns="38100" tIns="63500" rIns="63500" bIns="25400" rtlCol="0" anchor="t"/>
          <a:lstStyle/>
          <a:p>
            <a:pPr algn="l" indent="0" marL="0">
              <a:buNone/>
            </a:pPr>
            <a:r>
              <a:rPr lang="en-US" sz="1050" b="1" dirty="0">
                <a:solidFill>
                  <a:schemeClr val="accent1"/>
                </a:solidFill>
              </a:rPr>
              <a:t>Interpret</a:t>
            </a:r>
            <a:endParaRPr lang="en-US" sz="1100" dirty="0"/>
          </a:p>
          <a:p>
            <a:pPr algn="l" indent="0" marL="0">
              <a:buNone/>
            </a:pPr>
            <a:r>
              <a:rPr lang="en-US" sz="1000" dirty="0">
                <a:solidFill>
                  <a:schemeClr val="tx1"/>
                </a:solidFill>
              </a:rPr>
              <a:t>Customers above 5,000 units earn the tier-2 rebate</a:t>
            </a:r>
            <a:endParaRPr lang="en-US" sz="1100" dirty="0"/>
          </a:p>
        </p:txBody>
      </p:sp>
      <p:sp>
        <p:nvSpPr>
          <p:cNvPr id="83" name="Trace pill Interpret"/>
          <p:cNvSpPr/>
          <p:nvPr/>
        </p:nvSpPr>
        <p:spPr>
          <a:xfrm>
            <a:off x="5218176" y="5212080"/>
            <a:ext cx="1005840" cy="210312"/>
          </a:xfrm>
          <a:prstGeom prst="roundRect">
            <a:avLst>
              <a:gd name="adj" fmla="val 47826"/>
            </a:avLst>
          </a:prstGeom>
          <a:solidFill>
            <a:schemeClr val="accent2">
              <a:alpha val="15000"/>
            </a:schemeClr>
          </a:solidFill>
          <a:ln w="12700">
            <a:solidFill>
              <a:schemeClr val="accent2"/>
            </a:solidFill>
            <a:prstDash val="solid"/>
          </a:ln>
        </p:spPr>
      </p:sp>
      <p:sp>
        <p:nvSpPr>
          <p:cNvPr id="84" name="Trace pill text Interpret"/>
          <p:cNvSpPr txBox="1"/>
          <p:nvPr/>
        </p:nvSpPr>
        <p:spPr>
          <a:xfrm>
            <a:off x="5218176" y="5212080"/>
            <a:ext cx="1005840" cy="210312"/>
          </a:xfrm>
          <a:prstGeom prst="rect">
            <a:avLst/>
          </a:prstGeom>
          <a:noFill/>
          <a:ln/>
        </p:spPr>
        <p:txBody>
          <a:bodyPr wrap="square" lIns="0" tIns="0" rIns="0" bIns="0" rtlCol="0" anchor="ctr"/>
          <a:lstStyle/>
          <a:p>
            <a:pPr algn="ctr" indent="0" marL="0">
              <a:buNone/>
            </a:pPr>
            <a:r>
              <a:rPr lang="en-US" sz="1000" b="1" dirty="0">
                <a:solidFill>
                  <a:schemeClr val="accent2"/>
                </a:solidFill>
              </a:rPr>
              <a:t>Inferred</a:t>
            </a:r>
            <a:endParaRPr lang="en-US" sz="1100" dirty="0"/>
          </a:p>
        </p:txBody>
      </p:sp>
      <p:sp>
        <p:nvSpPr>
          <p:cNvPr id="85" name="Trace arrow 2"/>
          <p:cNvSpPr/>
          <p:nvPr/>
        </p:nvSpPr>
        <p:spPr>
          <a:xfrm>
            <a:off x="6684264" y="5038344"/>
            <a:ext cx="146304" cy="0"/>
          </a:xfrm>
          <a:prstGeom prst="line">
            <a:avLst/>
          </a:prstGeom>
          <a:noFill/>
          <a:ln w="15875">
            <a:solidFill>
              <a:schemeClr val="accent6"/>
            </a:solidFill>
            <a:prstDash val="solid"/>
            <a:tailEnd type="triangle"/>
          </a:ln>
        </p:spPr>
      </p:sp>
      <p:sp>
        <p:nvSpPr>
          <p:cNvPr id="86" name="Trace Check"/>
          <p:cNvSpPr/>
          <p:nvPr/>
        </p:nvSpPr>
        <p:spPr>
          <a:xfrm>
            <a:off x="6848856" y="4590288"/>
            <a:ext cx="1520952" cy="896112"/>
          </a:xfrm>
          <a:prstGeom prst="roundRect">
            <a:avLst>
              <a:gd name="adj" fmla="val 6122"/>
            </a:avLst>
          </a:prstGeom>
          <a:solidFill>
            <a:schemeClr val="bg1"/>
          </a:solidFill>
          <a:ln w="12700">
            <a:solidFill>
              <a:srgbClr val="C9D5D3"/>
            </a:solidFill>
            <a:prstDash val="solid"/>
          </a:ln>
        </p:spPr>
      </p:sp>
      <p:sp>
        <p:nvSpPr>
          <p:cNvPr id="87" name="Trace text Check"/>
          <p:cNvSpPr txBox="1"/>
          <p:nvPr/>
        </p:nvSpPr>
        <p:spPr>
          <a:xfrm>
            <a:off x="6848856" y="4590288"/>
            <a:ext cx="1520952" cy="621792"/>
          </a:xfrm>
          <a:prstGeom prst="rect">
            <a:avLst/>
          </a:prstGeom>
          <a:noFill/>
          <a:ln/>
        </p:spPr>
        <p:txBody>
          <a:bodyPr wrap="square" lIns="38100" tIns="63500" rIns="63500" bIns="25400" rtlCol="0" anchor="t"/>
          <a:lstStyle/>
          <a:p>
            <a:pPr algn="l" indent="0" marL="0">
              <a:buNone/>
            </a:pPr>
            <a:r>
              <a:rPr lang="en-US" sz="1050" b="1" dirty="0">
                <a:solidFill>
                  <a:schemeClr val="accent1"/>
                </a:solidFill>
              </a:rPr>
              <a:t>Check</a:t>
            </a:r>
            <a:endParaRPr lang="en-US" sz="1100" dirty="0"/>
          </a:p>
          <a:p>
            <a:pPr algn="l" indent="0" marL="0">
              <a:buNone/>
            </a:pPr>
            <a:r>
              <a:rPr lang="en-US" sz="1000" dirty="0">
                <a:solidFill>
                  <a:schemeClr val="tx1"/>
                </a:solidFill>
              </a:rPr>
              <a:t>Data: 3% of customers reach tier 2 last month</a:t>
            </a:r>
            <a:endParaRPr lang="en-US" sz="1100" dirty="0"/>
          </a:p>
        </p:txBody>
      </p:sp>
      <p:sp>
        <p:nvSpPr>
          <p:cNvPr id="88" name="Trace pill Check"/>
          <p:cNvSpPr/>
          <p:nvPr/>
        </p:nvSpPr>
        <p:spPr>
          <a:xfrm>
            <a:off x="6922008" y="5212080"/>
            <a:ext cx="1005840" cy="210312"/>
          </a:xfrm>
          <a:prstGeom prst="roundRect">
            <a:avLst>
              <a:gd name="adj" fmla="val 47826"/>
            </a:avLst>
          </a:prstGeom>
          <a:solidFill>
            <a:schemeClr val="accent3">
              <a:alpha val="15000"/>
            </a:schemeClr>
          </a:solidFill>
          <a:ln w="12700">
            <a:solidFill>
              <a:schemeClr val="accent3"/>
            </a:solidFill>
            <a:prstDash val="solid"/>
          </a:ln>
        </p:spPr>
      </p:sp>
      <p:sp>
        <p:nvSpPr>
          <p:cNvPr id="89" name="Trace pill text Check"/>
          <p:cNvSpPr txBox="1"/>
          <p:nvPr/>
        </p:nvSpPr>
        <p:spPr>
          <a:xfrm>
            <a:off x="6922008" y="5212080"/>
            <a:ext cx="1005840" cy="210312"/>
          </a:xfrm>
          <a:prstGeom prst="rect">
            <a:avLst/>
          </a:prstGeom>
          <a:noFill/>
          <a:ln/>
        </p:spPr>
        <p:txBody>
          <a:bodyPr wrap="square" lIns="0" tIns="0" rIns="0" bIns="0" rtlCol="0" anchor="ctr"/>
          <a:lstStyle/>
          <a:p>
            <a:pPr algn="ctr" indent="0" marL="0">
              <a:buNone/>
            </a:pPr>
            <a:r>
              <a:rPr lang="en-US" sz="1000" b="1" dirty="0">
                <a:solidFill>
                  <a:schemeClr val="accent3"/>
                </a:solidFill>
              </a:rPr>
              <a:t>From evidence</a:t>
            </a:r>
            <a:endParaRPr lang="en-US" sz="1100" dirty="0"/>
          </a:p>
        </p:txBody>
      </p:sp>
      <p:sp>
        <p:nvSpPr>
          <p:cNvPr id="90" name="Trace arrow 3"/>
          <p:cNvSpPr/>
          <p:nvPr/>
        </p:nvSpPr>
        <p:spPr>
          <a:xfrm>
            <a:off x="8388096" y="5038344"/>
            <a:ext cx="146304" cy="0"/>
          </a:xfrm>
          <a:prstGeom prst="line">
            <a:avLst/>
          </a:prstGeom>
          <a:noFill/>
          <a:ln w="15875">
            <a:solidFill>
              <a:schemeClr val="accent6"/>
            </a:solidFill>
            <a:prstDash val="solid"/>
            <a:tailEnd type="triangle"/>
          </a:ln>
        </p:spPr>
      </p:sp>
      <p:sp>
        <p:nvSpPr>
          <p:cNvPr id="91" name="Trace Ask"/>
          <p:cNvSpPr/>
          <p:nvPr/>
        </p:nvSpPr>
        <p:spPr>
          <a:xfrm>
            <a:off x="8552688" y="4590288"/>
            <a:ext cx="1520952" cy="896112"/>
          </a:xfrm>
          <a:prstGeom prst="roundRect">
            <a:avLst>
              <a:gd name="adj" fmla="val 6122"/>
            </a:avLst>
          </a:prstGeom>
          <a:solidFill>
            <a:schemeClr val="bg1"/>
          </a:solidFill>
          <a:ln w="12700">
            <a:solidFill>
              <a:srgbClr val="C9D5D3"/>
            </a:solidFill>
            <a:prstDash val="solid"/>
          </a:ln>
        </p:spPr>
      </p:sp>
      <p:sp>
        <p:nvSpPr>
          <p:cNvPr id="92" name="Trace text Ask"/>
          <p:cNvSpPr txBox="1"/>
          <p:nvPr/>
        </p:nvSpPr>
        <p:spPr>
          <a:xfrm>
            <a:off x="8552688" y="4590288"/>
            <a:ext cx="1520952" cy="621792"/>
          </a:xfrm>
          <a:prstGeom prst="rect">
            <a:avLst/>
          </a:prstGeom>
          <a:noFill/>
          <a:ln/>
        </p:spPr>
        <p:txBody>
          <a:bodyPr wrap="square" lIns="38100" tIns="63500" rIns="63500" bIns="25400" rtlCol="0" anchor="t"/>
          <a:lstStyle/>
          <a:p>
            <a:pPr algn="l" indent="0" marL="0">
              <a:buNone/>
            </a:pPr>
            <a:r>
              <a:rPr lang="en-US" sz="1050" b="1" dirty="0">
                <a:solidFill>
                  <a:schemeClr val="accent1"/>
                </a:solidFill>
              </a:rPr>
              <a:t>Ask</a:t>
            </a:r>
            <a:endParaRPr lang="en-US" sz="1100" dirty="0"/>
          </a:p>
          <a:p>
            <a:pPr algn="l" indent="0" marL="0">
              <a:buNone/>
            </a:pPr>
            <a:r>
              <a:rPr lang="en-US" sz="1000" dirty="0">
                <a:solidFill>
                  <a:schemeClr val="tx1"/>
                </a:solidFill>
              </a:rPr>
              <a:t>Finance expert confirms the threshold is current</a:t>
            </a:r>
            <a:endParaRPr lang="en-US" sz="1100" dirty="0"/>
          </a:p>
        </p:txBody>
      </p:sp>
      <p:sp>
        <p:nvSpPr>
          <p:cNvPr id="93" name="Trace pill Ask"/>
          <p:cNvSpPr/>
          <p:nvPr/>
        </p:nvSpPr>
        <p:spPr>
          <a:xfrm>
            <a:off x="8625840" y="5212080"/>
            <a:ext cx="1005840" cy="210312"/>
          </a:xfrm>
          <a:prstGeom prst="roundRect">
            <a:avLst>
              <a:gd name="adj" fmla="val 47826"/>
            </a:avLst>
          </a:prstGeom>
          <a:solidFill>
            <a:schemeClr val="accent4">
              <a:alpha val="15000"/>
            </a:schemeClr>
          </a:solidFill>
          <a:ln w="12700">
            <a:solidFill>
              <a:schemeClr val="accent4"/>
            </a:solidFill>
            <a:prstDash val="solid"/>
          </a:ln>
        </p:spPr>
      </p:sp>
      <p:sp>
        <p:nvSpPr>
          <p:cNvPr id="94" name="Trace pill text Ask"/>
          <p:cNvSpPr txBox="1"/>
          <p:nvPr/>
        </p:nvSpPr>
        <p:spPr>
          <a:xfrm>
            <a:off x="8625840" y="5212080"/>
            <a:ext cx="1005840" cy="210312"/>
          </a:xfrm>
          <a:prstGeom prst="rect">
            <a:avLst/>
          </a:prstGeom>
          <a:noFill/>
          <a:ln/>
        </p:spPr>
        <p:txBody>
          <a:bodyPr wrap="square" lIns="0" tIns="0" rIns="0" bIns="0" rtlCol="0" anchor="ctr"/>
          <a:lstStyle/>
          <a:p>
            <a:pPr algn="ctr" indent="0" marL="0">
              <a:buNone/>
            </a:pPr>
            <a:r>
              <a:rPr lang="en-US" sz="1000" b="1" dirty="0">
                <a:solidFill>
                  <a:schemeClr val="accent4"/>
                </a:solidFill>
              </a:rPr>
              <a:t>Confirmed</a:t>
            </a:r>
            <a:endParaRPr lang="en-US" sz="1100" dirty="0"/>
          </a:p>
        </p:txBody>
      </p:sp>
      <p:sp>
        <p:nvSpPr>
          <p:cNvPr id="95" name="Trace arrow 4"/>
          <p:cNvSpPr/>
          <p:nvPr/>
        </p:nvSpPr>
        <p:spPr>
          <a:xfrm>
            <a:off x="10091928" y="5038344"/>
            <a:ext cx="146304" cy="0"/>
          </a:xfrm>
          <a:prstGeom prst="line">
            <a:avLst/>
          </a:prstGeom>
          <a:noFill/>
          <a:ln w="15875">
            <a:solidFill>
              <a:schemeClr val="accent6"/>
            </a:solidFill>
            <a:prstDash val="solid"/>
            <a:tailEnd type="triangle"/>
          </a:ln>
        </p:spPr>
      </p:sp>
      <p:sp>
        <p:nvSpPr>
          <p:cNvPr id="96" name="Trace Write"/>
          <p:cNvSpPr/>
          <p:nvPr/>
        </p:nvSpPr>
        <p:spPr>
          <a:xfrm>
            <a:off x="10256520" y="4590288"/>
            <a:ext cx="1520952" cy="896112"/>
          </a:xfrm>
          <a:prstGeom prst="roundRect">
            <a:avLst>
              <a:gd name="adj" fmla="val 6122"/>
            </a:avLst>
          </a:prstGeom>
          <a:solidFill>
            <a:schemeClr val="bg2"/>
          </a:solidFill>
          <a:ln w="12700">
            <a:solidFill>
              <a:srgbClr val="C9D5D3"/>
            </a:solidFill>
            <a:prstDash val="solid"/>
          </a:ln>
        </p:spPr>
      </p:sp>
      <p:sp>
        <p:nvSpPr>
          <p:cNvPr id="97" name="Trace text Write"/>
          <p:cNvSpPr txBox="1"/>
          <p:nvPr/>
        </p:nvSpPr>
        <p:spPr>
          <a:xfrm>
            <a:off x="10256520" y="4590288"/>
            <a:ext cx="1520952" cy="896112"/>
          </a:xfrm>
          <a:prstGeom prst="rect">
            <a:avLst/>
          </a:prstGeom>
          <a:noFill/>
          <a:ln/>
        </p:spPr>
        <p:txBody>
          <a:bodyPr wrap="square" lIns="38100" tIns="63500" rIns="63500" bIns="25400" rtlCol="0" anchor="t"/>
          <a:lstStyle/>
          <a:p>
            <a:pPr algn="l" indent="0" marL="0">
              <a:buNone/>
            </a:pPr>
            <a:r>
              <a:rPr lang="en-US" sz="1050" b="1" dirty="0">
                <a:solidFill>
                  <a:schemeClr val="accent1"/>
                </a:solidFill>
              </a:rPr>
              <a:t>Write</a:t>
            </a:r>
            <a:endParaRPr lang="en-US" sz="1100" dirty="0"/>
          </a:p>
          <a:p>
            <a:pPr algn="l" indent="0" marL="0">
              <a:buNone/>
            </a:pPr>
            <a:r>
              <a:rPr lang="en-US" sz="1000" dirty="0">
                <a:solidFill>
                  <a:schemeClr val="tx1"/>
                </a:solidFill>
              </a:rPr>
              <a:t>BR-21 in Functional 5.2 and Technical 5.1</a:t>
            </a:r>
            <a:endParaRPr lang="en-US" sz="1100" dirty="0"/>
          </a:p>
        </p:txBody>
      </p:sp>
      <p:sp>
        <p:nvSpPr>
          <p:cNvPr id="98" name="Ladder heading"/>
          <p:cNvSpPr txBox="1"/>
          <p:nvPr/>
        </p:nvSpPr>
        <p:spPr>
          <a:xfrm>
            <a:off x="411480" y="5687568"/>
            <a:ext cx="1280160" cy="457200"/>
          </a:xfrm>
          <a:prstGeom prst="rect">
            <a:avLst/>
          </a:prstGeom>
          <a:noFill/>
          <a:ln/>
        </p:spPr>
        <p:txBody>
          <a:bodyPr wrap="square" lIns="0" tIns="0" rIns="0" bIns="0" rtlCol="0" anchor="ctr"/>
          <a:lstStyle/>
          <a:p>
            <a:pPr algn="l" indent="0" marL="0">
              <a:buNone/>
            </a:pPr>
            <a:r>
              <a:rPr lang="en-US" sz="1200" b="1" dirty="0">
                <a:solidFill>
                  <a:schemeClr val="tx1"/>
                </a:solidFill>
              </a:rPr>
              <a:t>How sure is it?</a:t>
            </a:r>
            <a:endParaRPr lang="en-US" sz="1100" dirty="0"/>
          </a:p>
        </p:txBody>
      </p:sp>
      <p:sp>
        <p:nvSpPr>
          <p:cNvPr id="99" name="Ladder Inferred"/>
          <p:cNvSpPr/>
          <p:nvPr/>
        </p:nvSpPr>
        <p:spPr>
          <a:xfrm>
            <a:off x="1737360" y="5779008"/>
            <a:ext cx="1097280" cy="274320"/>
          </a:xfrm>
          <a:prstGeom prst="roundRect">
            <a:avLst>
              <a:gd name="adj" fmla="val 50000"/>
            </a:avLst>
          </a:prstGeom>
          <a:solidFill>
            <a:schemeClr val="accent2">
              <a:alpha val="15000"/>
            </a:schemeClr>
          </a:solidFill>
          <a:ln w="12700">
            <a:solidFill>
              <a:schemeClr val="accent2"/>
            </a:solidFill>
            <a:prstDash val="solid"/>
          </a:ln>
        </p:spPr>
      </p:sp>
      <p:sp>
        <p:nvSpPr>
          <p:cNvPr id="100" name="Ladder text Inferred"/>
          <p:cNvSpPr txBox="1"/>
          <p:nvPr/>
        </p:nvSpPr>
        <p:spPr>
          <a:xfrm>
            <a:off x="1737360" y="5779008"/>
            <a:ext cx="1097280" cy="274320"/>
          </a:xfrm>
          <a:prstGeom prst="rect">
            <a:avLst/>
          </a:prstGeom>
          <a:noFill/>
          <a:ln/>
        </p:spPr>
        <p:txBody>
          <a:bodyPr wrap="square" lIns="0" tIns="0" rIns="0" bIns="0" rtlCol="0" anchor="ctr"/>
          <a:lstStyle/>
          <a:p>
            <a:pPr algn="ctr" indent="0" marL="0">
              <a:buNone/>
            </a:pPr>
            <a:r>
              <a:rPr lang="en-US" sz="1000" b="1" dirty="0">
                <a:solidFill>
                  <a:schemeClr val="accent2"/>
                </a:solidFill>
              </a:rPr>
              <a:t>Inferred</a:t>
            </a:r>
            <a:endParaRPr lang="en-US" sz="1100" dirty="0"/>
          </a:p>
        </p:txBody>
      </p:sp>
      <p:sp>
        <p:nvSpPr>
          <p:cNvPr id="101" name="Ladder note Inferred"/>
          <p:cNvSpPr txBox="1"/>
          <p:nvPr/>
        </p:nvSpPr>
        <p:spPr>
          <a:xfrm>
            <a:off x="2880360" y="5733288"/>
            <a:ext cx="868680" cy="365760"/>
          </a:xfrm>
          <a:prstGeom prst="rect">
            <a:avLst/>
          </a:prstGeom>
          <a:noFill/>
          <a:ln/>
        </p:spPr>
        <p:txBody>
          <a:bodyPr wrap="square" lIns="0" tIns="0" rIns="0" bIns="0" rtlCol="0" anchor="ctr"/>
          <a:lstStyle/>
          <a:p>
            <a:pPr algn="l" indent="0" marL="0">
              <a:buNone/>
            </a:pPr>
            <a:r>
              <a:rPr lang="en-US" sz="1000" dirty="0">
                <a:solidFill>
                  <a:schemeClr val="accent6"/>
                </a:solidFill>
              </a:rPr>
              <a:t>the AI's reading</a:t>
            </a:r>
            <a:endParaRPr lang="en-US" sz="1100" dirty="0"/>
          </a:p>
        </p:txBody>
      </p:sp>
      <p:sp>
        <p:nvSpPr>
          <p:cNvPr id="102" name="Ladder arrow 0"/>
          <p:cNvSpPr/>
          <p:nvPr/>
        </p:nvSpPr>
        <p:spPr>
          <a:xfrm>
            <a:off x="3749040" y="5916168"/>
            <a:ext cx="182880" cy="0"/>
          </a:xfrm>
          <a:prstGeom prst="line">
            <a:avLst/>
          </a:prstGeom>
          <a:noFill/>
          <a:ln w="15875">
            <a:solidFill>
              <a:schemeClr val="accent6"/>
            </a:solidFill>
            <a:prstDash val="solid"/>
            <a:tailEnd type="triangle"/>
          </a:ln>
        </p:spPr>
      </p:sp>
      <p:sp>
        <p:nvSpPr>
          <p:cNvPr id="103" name="Ladder From evidence"/>
          <p:cNvSpPr/>
          <p:nvPr/>
        </p:nvSpPr>
        <p:spPr>
          <a:xfrm>
            <a:off x="4023360" y="5779008"/>
            <a:ext cx="1097280" cy="274320"/>
          </a:xfrm>
          <a:prstGeom prst="roundRect">
            <a:avLst>
              <a:gd name="adj" fmla="val 50000"/>
            </a:avLst>
          </a:prstGeom>
          <a:solidFill>
            <a:schemeClr val="accent3">
              <a:alpha val="15000"/>
            </a:schemeClr>
          </a:solidFill>
          <a:ln w="12700">
            <a:solidFill>
              <a:schemeClr val="accent3"/>
            </a:solidFill>
            <a:prstDash val="solid"/>
          </a:ln>
        </p:spPr>
      </p:sp>
      <p:sp>
        <p:nvSpPr>
          <p:cNvPr id="104" name="Ladder text From evidence"/>
          <p:cNvSpPr txBox="1"/>
          <p:nvPr/>
        </p:nvSpPr>
        <p:spPr>
          <a:xfrm>
            <a:off x="4023360" y="5779008"/>
            <a:ext cx="1097280" cy="274320"/>
          </a:xfrm>
          <a:prstGeom prst="rect">
            <a:avLst/>
          </a:prstGeom>
          <a:noFill/>
          <a:ln/>
        </p:spPr>
        <p:txBody>
          <a:bodyPr wrap="square" lIns="0" tIns="0" rIns="0" bIns="0" rtlCol="0" anchor="ctr"/>
          <a:lstStyle/>
          <a:p>
            <a:pPr algn="ctr" indent="0" marL="0">
              <a:buNone/>
            </a:pPr>
            <a:r>
              <a:rPr lang="en-US" sz="1000" b="1" dirty="0">
                <a:solidFill>
                  <a:schemeClr val="accent3"/>
                </a:solidFill>
              </a:rPr>
              <a:t>From evidence</a:t>
            </a:r>
            <a:endParaRPr lang="en-US" sz="1100" dirty="0"/>
          </a:p>
        </p:txBody>
      </p:sp>
      <p:sp>
        <p:nvSpPr>
          <p:cNvPr id="105" name="Ladder note From evidence"/>
          <p:cNvSpPr txBox="1"/>
          <p:nvPr/>
        </p:nvSpPr>
        <p:spPr>
          <a:xfrm>
            <a:off x="5166360" y="5733288"/>
            <a:ext cx="1417320" cy="365760"/>
          </a:xfrm>
          <a:prstGeom prst="rect">
            <a:avLst/>
          </a:prstGeom>
          <a:noFill/>
          <a:ln/>
        </p:spPr>
        <p:txBody>
          <a:bodyPr wrap="square" lIns="0" tIns="0" rIns="0" bIns="0" rtlCol="0" anchor="ctr"/>
          <a:lstStyle/>
          <a:p>
            <a:pPr algn="l" indent="0" marL="0">
              <a:buNone/>
            </a:pPr>
            <a:r>
              <a:rPr lang="en-US" sz="1000" dirty="0">
                <a:solidFill>
                  <a:schemeClr val="accent6"/>
                </a:solidFill>
              </a:rPr>
              <a:t>in a source or the data</a:t>
            </a:r>
            <a:endParaRPr lang="en-US" sz="1100" dirty="0"/>
          </a:p>
        </p:txBody>
      </p:sp>
      <p:sp>
        <p:nvSpPr>
          <p:cNvPr id="106" name="Ladder arrow 1"/>
          <p:cNvSpPr/>
          <p:nvPr/>
        </p:nvSpPr>
        <p:spPr>
          <a:xfrm>
            <a:off x="6583680" y="5916168"/>
            <a:ext cx="182880" cy="0"/>
          </a:xfrm>
          <a:prstGeom prst="line">
            <a:avLst/>
          </a:prstGeom>
          <a:noFill/>
          <a:ln w="15875">
            <a:solidFill>
              <a:schemeClr val="accent6"/>
            </a:solidFill>
            <a:prstDash val="solid"/>
            <a:tailEnd type="triangle"/>
          </a:ln>
        </p:spPr>
      </p:sp>
      <p:sp>
        <p:nvSpPr>
          <p:cNvPr id="107" name="Ladder Confirmed"/>
          <p:cNvSpPr/>
          <p:nvPr/>
        </p:nvSpPr>
        <p:spPr>
          <a:xfrm>
            <a:off x="6858000" y="5779008"/>
            <a:ext cx="1097280" cy="274320"/>
          </a:xfrm>
          <a:prstGeom prst="roundRect">
            <a:avLst>
              <a:gd name="adj" fmla="val 50000"/>
            </a:avLst>
          </a:prstGeom>
          <a:solidFill>
            <a:schemeClr val="accent4">
              <a:alpha val="15000"/>
            </a:schemeClr>
          </a:solidFill>
          <a:ln w="12700">
            <a:solidFill>
              <a:schemeClr val="accent4"/>
            </a:solidFill>
            <a:prstDash val="solid"/>
          </a:ln>
        </p:spPr>
      </p:sp>
      <p:sp>
        <p:nvSpPr>
          <p:cNvPr id="108" name="Ladder text Confirmed"/>
          <p:cNvSpPr txBox="1"/>
          <p:nvPr/>
        </p:nvSpPr>
        <p:spPr>
          <a:xfrm>
            <a:off x="6858000" y="5779008"/>
            <a:ext cx="1097280" cy="274320"/>
          </a:xfrm>
          <a:prstGeom prst="rect">
            <a:avLst/>
          </a:prstGeom>
          <a:noFill/>
          <a:ln/>
        </p:spPr>
        <p:txBody>
          <a:bodyPr wrap="square" lIns="0" tIns="0" rIns="0" bIns="0" rtlCol="0" anchor="ctr"/>
          <a:lstStyle/>
          <a:p>
            <a:pPr algn="ctr" indent="0" marL="0">
              <a:buNone/>
            </a:pPr>
            <a:r>
              <a:rPr lang="en-US" sz="1000" b="1" dirty="0">
                <a:solidFill>
                  <a:schemeClr val="accent4"/>
                </a:solidFill>
              </a:rPr>
              <a:t>Confirmed</a:t>
            </a:r>
            <a:endParaRPr lang="en-US" sz="1100" dirty="0"/>
          </a:p>
        </p:txBody>
      </p:sp>
      <p:sp>
        <p:nvSpPr>
          <p:cNvPr id="109" name="Ladder note Confirmed"/>
          <p:cNvSpPr txBox="1"/>
          <p:nvPr/>
        </p:nvSpPr>
        <p:spPr>
          <a:xfrm>
            <a:off x="8001000" y="5733288"/>
            <a:ext cx="1325880" cy="365760"/>
          </a:xfrm>
          <a:prstGeom prst="rect">
            <a:avLst/>
          </a:prstGeom>
          <a:noFill/>
          <a:ln/>
        </p:spPr>
        <p:txBody>
          <a:bodyPr wrap="square" lIns="0" tIns="0" rIns="0" bIns="0" rtlCol="0" anchor="ctr"/>
          <a:lstStyle/>
          <a:p>
            <a:pPr algn="l" indent="0" marL="0">
              <a:buNone/>
            </a:pPr>
            <a:r>
              <a:rPr lang="en-US" sz="1000" dirty="0">
                <a:solidFill>
                  <a:schemeClr val="accent6"/>
                </a:solidFill>
              </a:rPr>
              <a:t>a named person agreed</a:t>
            </a:r>
            <a:endParaRPr lang="en-US" sz="1100" dirty="0"/>
          </a:p>
        </p:txBody>
      </p:sp>
      <p:sp>
        <p:nvSpPr>
          <p:cNvPr id="110" name="Ladder Conflicting"/>
          <p:cNvSpPr/>
          <p:nvPr/>
        </p:nvSpPr>
        <p:spPr>
          <a:xfrm>
            <a:off x="9555480" y="5779008"/>
            <a:ext cx="1097280" cy="274320"/>
          </a:xfrm>
          <a:prstGeom prst="roundRect">
            <a:avLst>
              <a:gd name="adj" fmla="val 50000"/>
            </a:avLst>
          </a:prstGeom>
          <a:solidFill>
            <a:schemeClr val="accent5">
              <a:alpha val="15000"/>
            </a:schemeClr>
          </a:solidFill>
          <a:ln w="12700">
            <a:solidFill>
              <a:schemeClr val="accent5"/>
            </a:solidFill>
            <a:prstDash val="solid"/>
          </a:ln>
        </p:spPr>
      </p:sp>
      <p:sp>
        <p:nvSpPr>
          <p:cNvPr id="111" name="Ladder text Conflicting"/>
          <p:cNvSpPr txBox="1"/>
          <p:nvPr/>
        </p:nvSpPr>
        <p:spPr>
          <a:xfrm>
            <a:off x="9555480" y="5779008"/>
            <a:ext cx="1097280" cy="274320"/>
          </a:xfrm>
          <a:prstGeom prst="rect">
            <a:avLst/>
          </a:prstGeom>
          <a:noFill/>
          <a:ln/>
        </p:spPr>
        <p:txBody>
          <a:bodyPr wrap="square" lIns="0" tIns="0" rIns="0" bIns="0" rtlCol="0" anchor="ctr"/>
          <a:lstStyle/>
          <a:p>
            <a:pPr algn="ctr" indent="0" marL="0">
              <a:buNone/>
            </a:pPr>
            <a:r>
              <a:rPr lang="en-US" sz="1000" b="1" dirty="0">
                <a:solidFill>
                  <a:schemeClr val="accent5"/>
                </a:solidFill>
              </a:rPr>
              <a:t>Conflicting</a:t>
            </a:r>
            <a:endParaRPr lang="en-US" sz="1100" dirty="0"/>
          </a:p>
        </p:txBody>
      </p:sp>
      <p:sp>
        <p:nvSpPr>
          <p:cNvPr id="112" name="Ladder note Conflicting"/>
          <p:cNvSpPr txBox="1"/>
          <p:nvPr/>
        </p:nvSpPr>
        <p:spPr>
          <a:xfrm>
            <a:off x="10698480" y="5733288"/>
            <a:ext cx="1078992" cy="365760"/>
          </a:xfrm>
          <a:prstGeom prst="rect">
            <a:avLst/>
          </a:prstGeom>
          <a:noFill/>
          <a:ln/>
        </p:spPr>
        <p:txBody>
          <a:bodyPr wrap="square" lIns="0" tIns="0" rIns="0" bIns="0" rtlCol="0" anchor="ctr"/>
          <a:lstStyle/>
          <a:p>
            <a:pPr algn="l" indent="0" marL="0">
              <a:buNone/>
            </a:pPr>
            <a:r>
              <a:rPr lang="en-US" sz="1000" dirty="0">
                <a:solidFill>
                  <a:schemeClr val="accent6"/>
                </a:solidFill>
              </a:rPr>
              <a:t>sources disagree → a question</a:t>
            </a:r>
            <a:endParaRPr lang="en-US" sz="1100" dirty="0"/>
          </a:p>
        </p:txBody>
      </p:sp>
    </p:spTree>
  </p:cSld>
  <p:clrMapOvr>
    <a:masterClrMapping/>
  </p:clrMapOvr>
</p:sld>
</file>

<file path=ppt/theme/theme1.xml><?xml version="1.0" encoding="utf-8"?>
<a:theme xmlns:a="http://schemas.openxmlformats.org/drawingml/2006/main" name="BRD Reconstruction">
  <a:themeElements>
    <a:clrScheme name="BRD Reconstruction">
      <a:dk1>
        <a:srgbClr val="16232A"/>
      </a:dk1>
      <a:lt1>
        <a:srgbClr val="FFFFFF"/>
      </a:lt1>
      <a:dk2>
        <a:srgbClr val="0D6670"/>
      </a:dk2>
      <a:lt2>
        <a:srgbClr val="EEF4F3"/>
      </a:lt2>
      <a:accent1>
        <a:srgbClr val="0D6670"/>
      </a:accent1>
      <a:accent2>
        <a:srgbClr val="A4610F"/>
      </a:accent2>
      <a:accent3>
        <a:srgbClr val="2F5E9E"/>
      </a:accent3>
      <a:accent4>
        <a:srgbClr val="1F7350"/>
      </a:accent4>
      <a:accent5>
        <a:srgbClr val="B23A2B"/>
      </a:accent5>
      <a:accent6>
        <a:srgbClr val="5C6B72"/>
      </a:accent6>
      <a:hlink>
        <a:srgbClr val="2F5E9E"/>
      </a:hlink>
      <a:folHlink>
        <a:srgbClr val="5C6B72"/>
      </a:folHlink>
    </a:clrScheme>
    <a:fontScheme name="BRD Reconstruc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BRD Reconstruction: how the AI understands and builds</dc:title>
  <dc:subject>PptxGenJS Presentation</dc:subject>
  <dc:creator>PptxGenJS</dc:creator>
  <cp:lastModifiedBy>PptxGenJS</cp:lastModifiedBy>
  <cp:revision>1</cp:revision>
  <dcterms:created xsi:type="dcterms:W3CDTF">2026-10-24T13:33:37Z</dcterms:created>
  <dcterms:modified xsi:type="dcterms:W3CDTF">2026-10-24T13:33:37Z</dcterms:modified>
</cp:coreProperties>
</file>