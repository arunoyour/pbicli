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0d4be57d-9ae4-b5db-aef3-7f6f63374c05}">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slide showed the flow. This one shows how the agent is actually built. There is no server and no custom software: it is a set of plain files in a VS Code workspace, and GitHub Copilot does the work by reading them.
Read the rows top to bottom. You work in Copilot Chat and in browser review pages. Each slash command is a small prompt file that points the agent at one step file and checks that step's gate. There are two agents: the BRD Reconstruction agent does the work and the BRD Reviewer checks it and only reports findings. Both can read, search, edit files and ask questions; neither has a terminal.
The playbook folder is the brain: the master rules, one file per step, shared protocols for labels, versions, the review loop, Genie and DevOps, and the templates. Connectors to Genie and Azure DevOps are read-only, and tokens only ever go into VS Code's own password box. Everything the agent knows and produces lives in files: sources are never edited, PROJECT and STATUS hold settings and gates, the memory is versioned through its manifest, and every document and review round is kept.
On the right is one command end to end: load the rules, check the gate, read the evidence, write the output and the review page, then stop for a person. The discovery agents for SQL Server and Databricks plug in by dropping packages into the sources folder, and a separate consolidation agent raises the memory's master version.
The principles along the bottom are why this is safe and repeatable: everything is a file, one step per command, gates prevent anything running out of order, access is read-only by design, and the same mechanism is reused across all three playbooks.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lIns="0" tIns="0" rIns="0" bIns="0" rtlCol="0" anchor="ctr"/>
          <a:lstStyle/>
          <a:p>
            <a:pPr algn="l" indent="0" marL="0">
              <a:buNone/>
            </a:pPr>
            <a:r>
              <a:rPr lang="en-US" sz="3200" b="1" dirty="0">
                <a:solidFill>
                  <a:schemeClr val="tx1"/>
                </a:solidFill>
              </a:rPr>
              <a:t>How the BRD Reconstruction agent is built</a:t>
            </a: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lIns="0" tIns="0" rIns="0" bIns="0" rtlCol="0" anchor="ctr"/>
          <a:lstStyle/>
          <a:p>
            <a:pPr indent="0" marL="0">
              <a:buNone/>
            </a:pPr>
            <a:r>
              <a:rPr lang="en-US" sz="1500" dirty="0">
                <a:solidFill>
                  <a:schemeClr val="accent6"/>
                </a:solidFill>
              </a:rPr>
              <a:t>Plain files in a VS Code workspace: Copilot reads the rules, uses read-only tools, and writes every result back as a versioned file.</a:t>
            </a:r>
            <a:endParaRPr lang="en-US" sz="1500" dirty="0"/>
          </a:p>
        </p:txBody>
      </p:sp>
      <p:sp>
        <p:nvSpPr>
          <p:cNvPr id="4" name="Layer label You"/>
          <p:cNvSpPr/>
          <p:nvPr/>
        </p:nvSpPr>
        <p:spPr>
          <a:xfrm>
            <a:off x="411480" y="1371600"/>
            <a:ext cx="1783080" cy="603504"/>
          </a:xfrm>
          <a:prstGeom prst="roundRect">
            <a:avLst>
              <a:gd name="adj" fmla="val 9091"/>
            </a:avLst>
          </a:prstGeom>
          <a:solidFill>
            <a:schemeClr val="accent2"/>
          </a:solidFill>
          <a:ln/>
        </p:spPr>
      </p:sp>
      <p:sp>
        <p:nvSpPr>
          <p:cNvPr id="5" name="Layer icon circle You"/>
          <p:cNvSpPr/>
          <p:nvPr/>
        </p:nvSpPr>
        <p:spPr>
          <a:xfrm>
            <a:off x="521208" y="1490472"/>
            <a:ext cx="365760" cy="365760"/>
          </a:xfrm>
          <a:prstGeom prst="ellipse">
            <a:avLst/>
          </a:prstGeom>
          <a:solidFill>
            <a:schemeClr val="bg1">
              <a:alpha val="20000"/>
            </a:schemeClr>
          </a:solidFill>
          <a:ln/>
        </p:spPr>
      </p:sp>
      <p:pic>
        <p:nvPicPr>
          <p:cNvPr id="6" name="Image 0" descr="You icon">    </p:cNvPr>
          <p:cNvPicPr>
            <a:picLocks noChangeAspect="1"/>
          </p:cNvPicPr>
          <p:nvPr/>
        </p:nvPicPr>
        <p:blipFill>
          <a:blip r:embed="rId1"/>
          <a:stretch>
            <a:fillRect/>
          </a:stretch>
        </p:blipFill>
        <p:spPr>
          <a:xfrm>
            <a:off x="612648" y="1581912"/>
            <a:ext cx="182880" cy="182880"/>
          </a:xfrm>
          <a:prstGeom prst="rect">
            <a:avLst/>
          </a:prstGeom>
        </p:spPr>
      </p:pic>
      <p:sp>
        <p:nvSpPr>
          <p:cNvPr id="7" name="Layer label text You"/>
          <p:cNvSpPr txBox="1"/>
          <p:nvPr/>
        </p:nvSpPr>
        <p:spPr>
          <a:xfrm>
            <a:off x="923544" y="1371600"/>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You</a:t>
            </a:r>
            <a:endParaRPr lang="en-US" sz="1100" dirty="0"/>
          </a:p>
          <a:p>
            <a:pPr algn="l" indent="0" marL="0">
              <a:buNone/>
            </a:pPr>
            <a:r>
              <a:rPr lang="en-US" sz="1000" dirty="0">
                <a:solidFill>
                  <a:schemeClr val="bg1"/>
                </a:solidFill>
              </a:rPr>
              <a:t>Copilot Chat + browser</a:t>
            </a:r>
            <a:endParaRPr lang="en-US" sz="1100" dirty="0"/>
          </a:p>
        </p:txBody>
      </p:sp>
      <p:sp>
        <p:nvSpPr>
          <p:cNvPr id="8" name="Layer You chip Slash commands"/>
          <p:cNvSpPr/>
          <p:nvPr/>
        </p:nvSpPr>
        <p:spPr>
          <a:xfrm>
            <a:off x="2304288" y="1371600"/>
            <a:ext cx="1868424" cy="603504"/>
          </a:xfrm>
          <a:prstGeom prst="roundRect">
            <a:avLst>
              <a:gd name="adj" fmla="val 9091"/>
            </a:avLst>
          </a:prstGeom>
          <a:solidFill>
            <a:schemeClr val="bg1"/>
          </a:solidFill>
          <a:ln w="12700">
            <a:solidFill>
              <a:schemeClr val="accent2"/>
            </a:solidFill>
            <a:prstDash val="solid"/>
          </a:ln>
        </p:spPr>
      </p:sp>
      <p:sp>
        <p:nvSpPr>
          <p:cNvPr id="9" name="Layer You chip text Slash commands"/>
          <p:cNvSpPr txBox="1"/>
          <p:nvPr/>
        </p:nvSpPr>
        <p:spPr>
          <a:xfrm>
            <a:off x="2304288" y="1371600"/>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Slash commands</a:t>
            </a:r>
            <a:endParaRPr lang="en-US" sz="1100" dirty="0"/>
          </a:p>
          <a:p>
            <a:pPr algn="l" indent="0" marL="0">
              <a:buNone/>
            </a:pPr>
            <a:r>
              <a:rPr lang="en-US" sz="1000" dirty="0">
                <a:solidFill>
                  <a:schemeClr val="accent6"/>
                </a:solidFill>
              </a:rPr>
              <a:t>/brd-setup … /brd-p8c-summary</a:t>
            </a:r>
            <a:endParaRPr lang="en-US" sz="1100" dirty="0"/>
          </a:p>
        </p:txBody>
      </p:sp>
      <p:sp>
        <p:nvSpPr>
          <p:cNvPr id="10" name="Layer You chip Your reply closes a step"/>
          <p:cNvSpPr/>
          <p:nvPr/>
        </p:nvSpPr>
        <p:spPr>
          <a:xfrm>
            <a:off x="4264152" y="1371600"/>
            <a:ext cx="1868424" cy="603504"/>
          </a:xfrm>
          <a:prstGeom prst="roundRect">
            <a:avLst>
              <a:gd name="adj" fmla="val 9091"/>
            </a:avLst>
          </a:prstGeom>
          <a:solidFill>
            <a:schemeClr val="bg1"/>
          </a:solidFill>
          <a:ln w="12700">
            <a:solidFill>
              <a:schemeClr val="accent2"/>
            </a:solidFill>
            <a:prstDash val="solid"/>
          </a:ln>
        </p:spPr>
      </p:sp>
      <p:sp>
        <p:nvSpPr>
          <p:cNvPr id="11" name="Layer You chip text Your reply closes a step"/>
          <p:cNvSpPr txBox="1"/>
          <p:nvPr/>
        </p:nvSpPr>
        <p:spPr>
          <a:xfrm>
            <a:off x="4264152" y="1371600"/>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Your reply closes a step</a:t>
            </a:r>
            <a:endParaRPr lang="en-US" sz="1100" dirty="0"/>
          </a:p>
          <a:p>
            <a:pPr algn="l" indent="0" marL="0">
              <a:buNone/>
            </a:pPr>
            <a:r>
              <a:rPr lang="en-US" sz="1000" dirty="0">
                <a:solidFill>
                  <a:schemeClr val="accent6"/>
                </a:solidFill>
              </a:rPr>
              <a:t>FEEDBACK · PROCEED · APPROVED</a:t>
            </a:r>
            <a:endParaRPr lang="en-US" sz="1100" dirty="0"/>
          </a:p>
        </p:txBody>
      </p:sp>
      <p:sp>
        <p:nvSpPr>
          <p:cNvPr id="12" name="Layer You chip Review pages (HTML)"/>
          <p:cNvSpPr/>
          <p:nvPr/>
        </p:nvSpPr>
        <p:spPr>
          <a:xfrm>
            <a:off x="6224016" y="1371600"/>
            <a:ext cx="1868424" cy="603504"/>
          </a:xfrm>
          <a:prstGeom prst="roundRect">
            <a:avLst>
              <a:gd name="adj" fmla="val 9091"/>
            </a:avLst>
          </a:prstGeom>
          <a:solidFill>
            <a:schemeClr val="bg1"/>
          </a:solidFill>
          <a:ln w="12700">
            <a:solidFill>
              <a:schemeClr val="accent2"/>
            </a:solidFill>
            <a:prstDash val="solid"/>
          </a:ln>
        </p:spPr>
      </p:sp>
      <p:sp>
        <p:nvSpPr>
          <p:cNvPr id="13" name="Layer You chip text Review pages (HTML)"/>
          <p:cNvSpPr txBox="1"/>
          <p:nvPr/>
        </p:nvSpPr>
        <p:spPr>
          <a:xfrm>
            <a:off x="6224016" y="1371600"/>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Review pages (HTML)</a:t>
            </a:r>
            <a:endParaRPr lang="en-US" sz="1100" dirty="0"/>
          </a:p>
          <a:p>
            <a:pPr algn="l" indent="0" marL="0">
              <a:buNone/>
            </a:pPr>
            <a:r>
              <a:rPr lang="en-US" sz="1000" dirty="0">
                <a:solidFill>
                  <a:schemeClr val="accent6"/>
                </a:solidFill>
              </a:rPr>
              <a:t>answer boxes + feedback file</a:t>
            </a:r>
            <a:endParaRPr lang="en-US" sz="1100" dirty="0"/>
          </a:p>
        </p:txBody>
      </p:sp>
      <p:sp>
        <p:nvSpPr>
          <p:cNvPr id="14" name="Layer label Commands"/>
          <p:cNvSpPr/>
          <p:nvPr/>
        </p:nvSpPr>
        <p:spPr>
          <a:xfrm>
            <a:off x="411480" y="2066544"/>
            <a:ext cx="1783080" cy="603504"/>
          </a:xfrm>
          <a:prstGeom prst="roundRect">
            <a:avLst>
              <a:gd name="adj" fmla="val 9091"/>
            </a:avLst>
          </a:prstGeom>
          <a:solidFill>
            <a:schemeClr val="accent1"/>
          </a:solidFill>
          <a:ln/>
        </p:spPr>
      </p:sp>
      <p:sp>
        <p:nvSpPr>
          <p:cNvPr id="15" name="Layer icon circle Commands"/>
          <p:cNvSpPr/>
          <p:nvPr/>
        </p:nvSpPr>
        <p:spPr>
          <a:xfrm>
            <a:off x="521208" y="2185416"/>
            <a:ext cx="365760" cy="365760"/>
          </a:xfrm>
          <a:prstGeom prst="ellipse">
            <a:avLst/>
          </a:prstGeom>
          <a:solidFill>
            <a:schemeClr val="bg1">
              <a:alpha val="20000"/>
            </a:schemeClr>
          </a:solidFill>
          <a:ln/>
        </p:spPr>
      </p:sp>
      <p:pic>
        <p:nvPicPr>
          <p:cNvPr id="16" name="Image 1" descr="Commands icon">    </p:cNvPr>
          <p:cNvPicPr>
            <a:picLocks noChangeAspect="1"/>
          </p:cNvPicPr>
          <p:nvPr/>
        </p:nvPicPr>
        <p:blipFill>
          <a:blip r:embed="rId2"/>
          <a:stretch>
            <a:fillRect/>
          </a:stretch>
        </p:blipFill>
        <p:spPr>
          <a:xfrm>
            <a:off x="612648" y="2276856"/>
            <a:ext cx="182880" cy="182880"/>
          </a:xfrm>
          <a:prstGeom prst="rect">
            <a:avLst/>
          </a:prstGeom>
        </p:spPr>
      </p:pic>
      <p:sp>
        <p:nvSpPr>
          <p:cNvPr id="17" name="Layer label text Commands"/>
          <p:cNvSpPr txBox="1"/>
          <p:nvPr/>
        </p:nvSpPr>
        <p:spPr>
          <a:xfrm>
            <a:off x="923544" y="2066544"/>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Commands</a:t>
            </a:r>
            <a:endParaRPr lang="en-US" sz="1100" dirty="0"/>
          </a:p>
          <a:p>
            <a:pPr algn="l" indent="0" marL="0">
              <a:buNone/>
            </a:pPr>
            <a:r>
              <a:rPr lang="en-US" sz="1000" dirty="0">
                <a:solidFill>
                  <a:schemeClr val="bg1"/>
                </a:solidFill>
              </a:rPr>
              <a:t>.github/prompts/</a:t>
            </a:r>
            <a:endParaRPr lang="en-US" sz="1100" dirty="0"/>
          </a:p>
        </p:txBody>
      </p:sp>
      <p:sp>
        <p:nvSpPr>
          <p:cNvPr id="18" name="Layer Commands chip 25 prompt files"/>
          <p:cNvSpPr/>
          <p:nvPr/>
        </p:nvSpPr>
        <p:spPr>
          <a:xfrm>
            <a:off x="2304288" y="2066544"/>
            <a:ext cx="1868424" cy="603504"/>
          </a:xfrm>
          <a:prstGeom prst="roundRect">
            <a:avLst>
              <a:gd name="adj" fmla="val 9091"/>
            </a:avLst>
          </a:prstGeom>
          <a:solidFill>
            <a:schemeClr val="bg2"/>
          </a:solidFill>
          <a:ln w="12700">
            <a:solidFill>
              <a:srgbClr val="C9D5D3"/>
            </a:solidFill>
            <a:prstDash val="solid"/>
          </a:ln>
        </p:spPr>
      </p:sp>
      <p:sp>
        <p:nvSpPr>
          <p:cNvPr id="19" name="Layer Commands chip text 25 prompt files"/>
          <p:cNvSpPr txBox="1"/>
          <p:nvPr/>
        </p:nvSpPr>
        <p:spPr>
          <a:xfrm>
            <a:off x="2304288" y="2066544"/>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25 prompt files</a:t>
            </a:r>
            <a:endParaRPr lang="en-US" sz="1100" dirty="0"/>
          </a:p>
          <a:p>
            <a:pPr algn="l" indent="0" marL="0">
              <a:buNone/>
            </a:pPr>
            <a:r>
              <a:rPr lang="en-US" sz="1000" dirty="0">
                <a:solidFill>
                  <a:schemeClr val="accent6"/>
                </a:solidFill>
              </a:rPr>
              <a:t>one per step, run by name</a:t>
            </a:r>
            <a:endParaRPr lang="en-US" sz="1100" dirty="0"/>
          </a:p>
        </p:txBody>
      </p:sp>
      <p:sp>
        <p:nvSpPr>
          <p:cNvPr id="20" name="Layer Commands chip Each points to its step file"/>
          <p:cNvSpPr/>
          <p:nvPr/>
        </p:nvSpPr>
        <p:spPr>
          <a:xfrm>
            <a:off x="4264152" y="2066544"/>
            <a:ext cx="1868424" cy="603504"/>
          </a:xfrm>
          <a:prstGeom prst="roundRect">
            <a:avLst>
              <a:gd name="adj" fmla="val 9091"/>
            </a:avLst>
          </a:prstGeom>
          <a:solidFill>
            <a:schemeClr val="bg2"/>
          </a:solidFill>
          <a:ln w="12700">
            <a:solidFill>
              <a:srgbClr val="C9D5D3"/>
            </a:solidFill>
            <a:prstDash val="solid"/>
          </a:ln>
        </p:spPr>
      </p:sp>
      <p:sp>
        <p:nvSpPr>
          <p:cNvPr id="21" name="Layer Commands chip text Each points to its step file"/>
          <p:cNvSpPr txBox="1"/>
          <p:nvPr/>
        </p:nvSpPr>
        <p:spPr>
          <a:xfrm>
            <a:off x="4264152" y="2066544"/>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Each points to its step file</a:t>
            </a:r>
            <a:endParaRPr lang="en-US" sz="1100" dirty="0"/>
          </a:p>
          <a:p>
            <a:pPr algn="l" indent="0" marL="0">
              <a:buNone/>
            </a:pPr>
            <a:r>
              <a:rPr lang="en-US" sz="1000" dirty="0">
                <a:solidFill>
                  <a:schemeClr val="accent6"/>
                </a:solidFill>
              </a:rPr>
              <a:t>and checks the step's gate</a:t>
            </a:r>
            <a:endParaRPr lang="en-US" sz="1100" dirty="0"/>
          </a:p>
        </p:txBody>
      </p:sp>
      <p:sp>
        <p:nvSpPr>
          <p:cNvPr id="22" name="Layer Commands chip Never starts the next step"/>
          <p:cNvSpPr/>
          <p:nvPr/>
        </p:nvSpPr>
        <p:spPr>
          <a:xfrm>
            <a:off x="6224016" y="2066544"/>
            <a:ext cx="1868424" cy="603504"/>
          </a:xfrm>
          <a:prstGeom prst="roundRect">
            <a:avLst>
              <a:gd name="adj" fmla="val 9091"/>
            </a:avLst>
          </a:prstGeom>
          <a:solidFill>
            <a:schemeClr val="bg2"/>
          </a:solidFill>
          <a:ln w="12700">
            <a:solidFill>
              <a:srgbClr val="C9D5D3"/>
            </a:solidFill>
            <a:prstDash val="solid"/>
          </a:ln>
        </p:spPr>
      </p:sp>
      <p:sp>
        <p:nvSpPr>
          <p:cNvPr id="23" name="Layer Commands chip text Never starts the next step"/>
          <p:cNvSpPr txBox="1"/>
          <p:nvPr/>
        </p:nvSpPr>
        <p:spPr>
          <a:xfrm>
            <a:off x="6224016" y="2066544"/>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Never starts the next step</a:t>
            </a:r>
            <a:endParaRPr lang="en-US" sz="1100" dirty="0"/>
          </a:p>
          <a:p>
            <a:pPr algn="l" indent="0" marL="0">
              <a:buNone/>
            </a:pPr>
            <a:r>
              <a:rPr lang="en-US" sz="1000" dirty="0">
                <a:solidFill>
                  <a:schemeClr val="accent6"/>
                </a:solidFill>
              </a:rPr>
              <a:t>you start every step</a:t>
            </a:r>
            <a:endParaRPr lang="en-US" sz="1100" dirty="0"/>
          </a:p>
        </p:txBody>
      </p:sp>
      <p:sp>
        <p:nvSpPr>
          <p:cNvPr id="24" name="Layer label Agents"/>
          <p:cNvSpPr/>
          <p:nvPr/>
        </p:nvSpPr>
        <p:spPr>
          <a:xfrm>
            <a:off x="411480" y="2761488"/>
            <a:ext cx="1783080" cy="603504"/>
          </a:xfrm>
          <a:prstGeom prst="roundRect">
            <a:avLst>
              <a:gd name="adj" fmla="val 9091"/>
            </a:avLst>
          </a:prstGeom>
          <a:solidFill>
            <a:schemeClr val="accent1"/>
          </a:solidFill>
          <a:ln/>
        </p:spPr>
      </p:sp>
      <p:sp>
        <p:nvSpPr>
          <p:cNvPr id="25" name="Layer icon circle Agents"/>
          <p:cNvSpPr/>
          <p:nvPr/>
        </p:nvSpPr>
        <p:spPr>
          <a:xfrm>
            <a:off x="521208" y="2880360"/>
            <a:ext cx="365760" cy="365760"/>
          </a:xfrm>
          <a:prstGeom prst="ellipse">
            <a:avLst/>
          </a:prstGeom>
          <a:solidFill>
            <a:schemeClr val="bg1">
              <a:alpha val="20000"/>
            </a:schemeClr>
          </a:solidFill>
          <a:ln/>
        </p:spPr>
      </p:sp>
      <p:pic>
        <p:nvPicPr>
          <p:cNvPr id="26" name="Image 2" descr="Agents icon">    </p:cNvPr>
          <p:cNvPicPr>
            <a:picLocks noChangeAspect="1"/>
          </p:cNvPicPr>
          <p:nvPr/>
        </p:nvPicPr>
        <p:blipFill>
          <a:blip r:embed="rId3"/>
          <a:stretch>
            <a:fillRect/>
          </a:stretch>
        </p:blipFill>
        <p:spPr>
          <a:xfrm>
            <a:off x="612648" y="2971800"/>
            <a:ext cx="182880" cy="182880"/>
          </a:xfrm>
          <a:prstGeom prst="rect">
            <a:avLst/>
          </a:prstGeom>
        </p:spPr>
      </p:pic>
      <p:sp>
        <p:nvSpPr>
          <p:cNvPr id="27" name="Layer label text Agents"/>
          <p:cNvSpPr txBox="1"/>
          <p:nvPr/>
        </p:nvSpPr>
        <p:spPr>
          <a:xfrm>
            <a:off x="923544" y="2761488"/>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Agents</a:t>
            </a:r>
            <a:endParaRPr lang="en-US" sz="1100" dirty="0"/>
          </a:p>
          <a:p>
            <a:pPr algn="l" indent="0" marL="0">
              <a:buNone/>
            </a:pPr>
            <a:r>
              <a:rPr lang="en-US" sz="1000" dirty="0">
                <a:solidFill>
                  <a:schemeClr val="bg1"/>
                </a:solidFill>
              </a:rPr>
              <a:t>.github/agents/</a:t>
            </a:r>
            <a:endParaRPr lang="en-US" sz="1100" dirty="0"/>
          </a:p>
        </p:txBody>
      </p:sp>
      <p:sp>
        <p:nvSpPr>
          <p:cNvPr id="28" name="Layer Agents chip BRD Reconstruction"/>
          <p:cNvSpPr/>
          <p:nvPr/>
        </p:nvSpPr>
        <p:spPr>
          <a:xfrm>
            <a:off x="2304288" y="2761488"/>
            <a:ext cx="1378458" cy="603504"/>
          </a:xfrm>
          <a:prstGeom prst="roundRect">
            <a:avLst>
              <a:gd name="adj" fmla="val 9091"/>
            </a:avLst>
          </a:prstGeom>
          <a:solidFill>
            <a:schemeClr val="bg2"/>
          </a:solidFill>
          <a:ln w="12700">
            <a:solidFill>
              <a:srgbClr val="C9D5D3"/>
            </a:solidFill>
            <a:prstDash val="solid"/>
          </a:ln>
        </p:spPr>
      </p:sp>
      <p:sp>
        <p:nvSpPr>
          <p:cNvPr id="29" name="Layer Agents chip text BRD Reconstruction"/>
          <p:cNvSpPr txBox="1"/>
          <p:nvPr/>
        </p:nvSpPr>
        <p:spPr>
          <a:xfrm>
            <a:off x="2304288" y="2761488"/>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BRD Reconstruction</a:t>
            </a:r>
            <a:endParaRPr lang="en-US" sz="1100" dirty="0"/>
          </a:p>
          <a:p>
            <a:pPr algn="l" indent="0" marL="0">
              <a:buNone/>
            </a:pPr>
            <a:r>
              <a:rPr lang="en-US" sz="1000" dirty="0">
                <a:solidFill>
                  <a:schemeClr val="accent6"/>
                </a:solidFill>
              </a:rPr>
              <a:t>does the work</a:t>
            </a:r>
            <a:endParaRPr lang="en-US" sz="1100" dirty="0"/>
          </a:p>
        </p:txBody>
      </p:sp>
      <p:sp>
        <p:nvSpPr>
          <p:cNvPr id="30" name="Layer Agents chip BRD Reviewer"/>
          <p:cNvSpPr/>
          <p:nvPr/>
        </p:nvSpPr>
        <p:spPr>
          <a:xfrm>
            <a:off x="3774186" y="2761488"/>
            <a:ext cx="1378458" cy="603504"/>
          </a:xfrm>
          <a:prstGeom prst="roundRect">
            <a:avLst>
              <a:gd name="adj" fmla="val 9091"/>
            </a:avLst>
          </a:prstGeom>
          <a:solidFill>
            <a:schemeClr val="bg2"/>
          </a:solidFill>
          <a:ln w="12700">
            <a:solidFill>
              <a:srgbClr val="C9D5D3"/>
            </a:solidFill>
            <a:prstDash val="dash"/>
          </a:ln>
        </p:spPr>
      </p:sp>
      <p:sp>
        <p:nvSpPr>
          <p:cNvPr id="31" name="Layer Agents chip text BRD Reviewer"/>
          <p:cNvSpPr txBox="1"/>
          <p:nvPr/>
        </p:nvSpPr>
        <p:spPr>
          <a:xfrm>
            <a:off x="3774186" y="2761488"/>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BRD Reviewer</a:t>
            </a:r>
            <a:endParaRPr lang="en-US" sz="1100" dirty="0"/>
          </a:p>
          <a:p>
            <a:pPr algn="l" indent="0" marL="0">
              <a:buNone/>
            </a:pPr>
            <a:r>
              <a:rPr lang="en-US" sz="1000" dirty="0">
                <a:solidFill>
                  <a:schemeClr val="accent6"/>
                </a:solidFill>
              </a:rPr>
              <a:t>checks it: findings only</a:t>
            </a:r>
            <a:endParaRPr lang="en-US" sz="1100" dirty="0"/>
          </a:p>
        </p:txBody>
      </p:sp>
      <p:sp>
        <p:nvSpPr>
          <p:cNvPr id="32" name="Layer Agents chip Always-on rules"/>
          <p:cNvSpPr/>
          <p:nvPr/>
        </p:nvSpPr>
        <p:spPr>
          <a:xfrm>
            <a:off x="5244084" y="2761488"/>
            <a:ext cx="1378458" cy="603504"/>
          </a:xfrm>
          <a:prstGeom prst="roundRect">
            <a:avLst>
              <a:gd name="adj" fmla="val 9091"/>
            </a:avLst>
          </a:prstGeom>
          <a:solidFill>
            <a:schemeClr val="bg2"/>
          </a:solidFill>
          <a:ln w="12700">
            <a:solidFill>
              <a:srgbClr val="C9D5D3"/>
            </a:solidFill>
            <a:prstDash val="solid"/>
          </a:ln>
        </p:spPr>
      </p:sp>
      <p:sp>
        <p:nvSpPr>
          <p:cNvPr id="33" name="Layer Agents chip text Always-on rules"/>
          <p:cNvSpPr txBox="1"/>
          <p:nvPr/>
        </p:nvSpPr>
        <p:spPr>
          <a:xfrm>
            <a:off x="5244084" y="2761488"/>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Always-on rules</a:t>
            </a:r>
            <a:endParaRPr lang="en-US" sz="1100" dirty="0"/>
          </a:p>
          <a:p>
            <a:pPr algn="l" indent="0" marL="0">
              <a:buNone/>
            </a:pPr>
            <a:r>
              <a:rPr lang="en-US" sz="1000" dirty="0">
                <a:solidFill>
                  <a:schemeClr val="accent6"/>
                </a:solidFill>
              </a:rPr>
              <a:t>copilot-instructions.md</a:t>
            </a:r>
            <a:endParaRPr lang="en-US" sz="1100" dirty="0"/>
          </a:p>
        </p:txBody>
      </p:sp>
      <p:sp>
        <p:nvSpPr>
          <p:cNvPr id="34" name="Layer Agents chip Tool allow-list"/>
          <p:cNvSpPr/>
          <p:nvPr/>
        </p:nvSpPr>
        <p:spPr>
          <a:xfrm>
            <a:off x="6713982" y="2761488"/>
            <a:ext cx="1378458" cy="603504"/>
          </a:xfrm>
          <a:prstGeom prst="roundRect">
            <a:avLst>
              <a:gd name="adj" fmla="val 9091"/>
            </a:avLst>
          </a:prstGeom>
          <a:solidFill>
            <a:schemeClr val="bg2"/>
          </a:solidFill>
          <a:ln w="12700">
            <a:solidFill>
              <a:srgbClr val="C9D5D3"/>
            </a:solidFill>
            <a:prstDash val="solid"/>
          </a:ln>
        </p:spPr>
      </p:sp>
      <p:sp>
        <p:nvSpPr>
          <p:cNvPr id="35" name="Layer Agents chip text Tool allow-list"/>
          <p:cNvSpPr txBox="1"/>
          <p:nvPr/>
        </p:nvSpPr>
        <p:spPr>
          <a:xfrm>
            <a:off x="6713982" y="2761488"/>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Tool allow-list</a:t>
            </a:r>
            <a:endParaRPr lang="en-US" sz="1100" dirty="0"/>
          </a:p>
          <a:p>
            <a:pPr algn="l" indent="0" marL="0">
              <a:buNone/>
            </a:pPr>
            <a:r>
              <a:rPr lang="en-US" sz="1000" dirty="0">
                <a:solidFill>
                  <a:schemeClr val="accent6"/>
                </a:solidFill>
              </a:rPr>
              <a:t>read, search, edit, ask · no terminal</a:t>
            </a:r>
            <a:endParaRPr lang="en-US" sz="1100" dirty="0"/>
          </a:p>
        </p:txBody>
      </p:sp>
      <p:sp>
        <p:nvSpPr>
          <p:cNvPr id="36" name="Layer label Playbook"/>
          <p:cNvSpPr/>
          <p:nvPr/>
        </p:nvSpPr>
        <p:spPr>
          <a:xfrm>
            <a:off x="411480" y="3456432"/>
            <a:ext cx="1783080" cy="603504"/>
          </a:xfrm>
          <a:prstGeom prst="roundRect">
            <a:avLst>
              <a:gd name="adj" fmla="val 9091"/>
            </a:avLst>
          </a:prstGeom>
          <a:solidFill>
            <a:schemeClr val="accent1"/>
          </a:solidFill>
          <a:ln/>
        </p:spPr>
      </p:sp>
      <p:sp>
        <p:nvSpPr>
          <p:cNvPr id="37" name="Layer icon circle Playbook"/>
          <p:cNvSpPr/>
          <p:nvPr/>
        </p:nvSpPr>
        <p:spPr>
          <a:xfrm>
            <a:off x="521208" y="3575304"/>
            <a:ext cx="365760" cy="365760"/>
          </a:xfrm>
          <a:prstGeom prst="ellipse">
            <a:avLst/>
          </a:prstGeom>
          <a:solidFill>
            <a:schemeClr val="bg1">
              <a:alpha val="20000"/>
            </a:schemeClr>
          </a:solidFill>
          <a:ln/>
        </p:spPr>
      </p:sp>
      <p:pic>
        <p:nvPicPr>
          <p:cNvPr id="38" name="Image 3" descr="Playbook icon">    </p:cNvPr>
          <p:cNvPicPr>
            <a:picLocks noChangeAspect="1"/>
          </p:cNvPicPr>
          <p:nvPr/>
        </p:nvPicPr>
        <p:blipFill>
          <a:blip r:embed="rId4"/>
          <a:stretch>
            <a:fillRect/>
          </a:stretch>
        </p:blipFill>
        <p:spPr>
          <a:xfrm>
            <a:off x="612648" y="3666744"/>
            <a:ext cx="182880" cy="182880"/>
          </a:xfrm>
          <a:prstGeom prst="rect">
            <a:avLst/>
          </a:prstGeom>
        </p:spPr>
      </p:pic>
      <p:sp>
        <p:nvSpPr>
          <p:cNvPr id="39" name="Layer label text Playbook"/>
          <p:cNvSpPr txBox="1"/>
          <p:nvPr/>
        </p:nvSpPr>
        <p:spPr>
          <a:xfrm>
            <a:off x="923544" y="3456432"/>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Playbook</a:t>
            </a:r>
            <a:endParaRPr lang="en-US" sz="1100" dirty="0"/>
          </a:p>
          <a:p>
            <a:pPr algn="l" indent="0" marL="0">
              <a:buNone/>
            </a:pPr>
            <a:r>
              <a:rPr lang="en-US" sz="1000" dirty="0">
                <a:solidFill>
                  <a:schemeClr val="bg1"/>
                </a:solidFill>
              </a:rPr>
              <a:t>playbook/</a:t>
            </a:r>
            <a:endParaRPr lang="en-US" sz="1100" dirty="0"/>
          </a:p>
        </p:txBody>
      </p:sp>
      <p:sp>
        <p:nvSpPr>
          <p:cNvPr id="40" name="Layer Playbook chip MASTER"/>
          <p:cNvSpPr/>
          <p:nvPr/>
        </p:nvSpPr>
        <p:spPr>
          <a:xfrm>
            <a:off x="2304288" y="3456432"/>
            <a:ext cx="1378458" cy="603504"/>
          </a:xfrm>
          <a:prstGeom prst="roundRect">
            <a:avLst>
              <a:gd name="adj" fmla="val 9091"/>
            </a:avLst>
          </a:prstGeom>
          <a:solidFill>
            <a:schemeClr val="bg2"/>
          </a:solidFill>
          <a:ln w="12700">
            <a:solidFill>
              <a:srgbClr val="C9D5D3"/>
            </a:solidFill>
            <a:prstDash val="solid"/>
          </a:ln>
        </p:spPr>
      </p:sp>
      <p:sp>
        <p:nvSpPr>
          <p:cNvPr id="41" name="Layer Playbook chip text MASTER"/>
          <p:cNvSpPr txBox="1"/>
          <p:nvPr/>
        </p:nvSpPr>
        <p:spPr>
          <a:xfrm>
            <a:off x="2304288" y="3456432"/>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MASTER</a:t>
            </a:r>
            <a:endParaRPr lang="en-US" sz="1100" dirty="0"/>
          </a:p>
          <a:p>
            <a:pPr algn="l" indent="0" marL="0">
              <a:buNone/>
            </a:pPr>
            <a:r>
              <a:rPr lang="en-US" sz="1000" dirty="0">
                <a:solidFill>
                  <a:schemeClr val="accent6"/>
                </a:solidFill>
              </a:rPr>
              <a:t>flow and hard rules</a:t>
            </a:r>
            <a:endParaRPr lang="en-US" sz="1100" dirty="0"/>
          </a:p>
        </p:txBody>
      </p:sp>
      <p:sp>
        <p:nvSpPr>
          <p:cNvPr id="42" name="Layer Playbook chip Step files"/>
          <p:cNvSpPr/>
          <p:nvPr/>
        </p:nvSpPr>
        <p:spPr>
          <a:xfrm>
            <a:off x="3774186" y="3456432"/>
            <a:ext cx="1378458" cy="603504"/>
          </a:xfrm>
          <a:prstGeom prst="roundRect">
            <a:avLst>
              <a:gd name="adj" fmla="val 9091"/>
            </a:avLst>
          </a:prstGeom>
          <a:solidFill>
            <a:schemeClr val="bg2"/>
          </a:solidFill>
          <a:ln w="12700">
            <a:solidFill>
              <a:srgbClr val="C9D5D3"/>
            </a:solidFill>
            <a:prstDash val="solid"/>
          </a:ln>
        </p:spPr>
      </p:sp>
      <p:sp>
        <p:nvSpPr>
          <p:cNvPr id="43" name="Layer Playbook chip text Step files"/>
          <p:cNvSpPr txBox="1"/>
          <p:nvPr/>
        </p:nvSpPr>
        <p:spPr>
          <a:xfrm>
            <a:off x="3774186" y="3456432"/>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Step files</a:t>
            </a:r>
            <a:endParaRPr lang="en-US" sz="1100" dirty="0"/>
          </a:p>
          <a:p>
            <a:pPr algn="l" indent="0" marL="0">
              <a:buNone/>
            </a:pPr>
            <a:r>
              <a:rPr lang="en-US" sz="1000" dirty="0">
                <a:solidFill>
                  <a:schemeClr val="accent6"/>
                </a:solidFill>
              </a:rPr>
              <a:t>setup, M1–M4, choose, map, P1–P8C</a:t>
            </a:r>
            <a:endParaRPr lang="en-US" sz="1100" dirty="0"/>
          </a:p>
        </p:txBody>
      </p:sp>
      <p:sp>
        <p:nvSpPr>
          <p:cNvPr id="44" name="Layer Playbook chip Shared protocols"/>
          <p:cNvSpPr/>
          <p:nvPr/>
        </p:nvSpPr>
        <p:spPr>
          <a:xfrm>
            <a:off x="5244084" y="3456432"/>
            <a:ext cx="1378458" cy="603504"/>
          </a:xfrm>
          <a:prstGeom prst="roundRect">
            <a:avLst>
              <a:gd name="adj" fmla="val 9091"/>
            </a:avLst>
          </a:prstGeom>
          <a:solidFill>
            <a:schemeClr val="bg2"/>
          </a:solidFill>
          <a:ln w="12700">
            <a:solidFill>
              <a:srgbClr val="C9D5D3"/>
            </a:solidFill>
            <a:prstDash val="solid"/>
          </a:ln>
        </p:spPr>
      </p:sp>
      <p:sp>
        <p:nvSpPr>
          <p:cNvPr id="45" name="Layer Playbook chip text Shared protocols"/>
          <p:cNvSpPr txBox="1"/>
          <p:nvPr/>
        </p:nvSpPr>
        <p:spPr>
          <a:xfrm>
            <a:off x="5244084" y="3456432"/>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Shared protocols</a:t>
            </a:r>
            <a:endParaRPr lang="en-US" sz="1100" dirty="0"/>
          </a:p>
          <a:p>
            <a:pPr algn="l" indent="0" marL="0">
              <a:buNone/>
            </a:pPr>
            <a:r>
              <a:rPr lang="en-US" sz="1000" dirty="0">
                <a:solidFill>
                  <a:schemeClr val="accent6"/>
                </a:solidFill>
              </a:rPr>
              <a:t>labels, versions, review, Genie, DevOps</a:t>
            </a:r>
            <a:endParaRPr lang="en-US" sz="1100" dirty="0"/>
          </a:p>
        </p:txBody>
      </p:sp>
      <p:sp>
        <p:nvSpPr>
          <p:cNvPr id="46" name="Layer Playbook chip Templates"/>
          <p:cNvSpPr/>
          <p:nvPr/>
        </p:nvSpPr>
        <p:spPr>
          <a:xfrm>
            <a:off x="6713982" y="3456432"/>
            <a:ext cx="1378458" cy="603504"/>
          </a:xfrm>
          <a:prstGeom prst="roundRect">
            <a:avLst>
              <a:gd name="adj" fmla="val 9091"/>
            </a:avLst>
          </a:prstGeom>
          <a:solidFill>
            <a:schemeClr val="bg2"/>
          </a:solidFill>
          <a:ln w="12700">
            <a:solidFill>
              <a:srgbClr val="C9D5D3"/>
            </a:solidFill>
            <a:prstDash val="solid"/>
          </a:ln>
        </p:spPr>
      </p:sp>
      <p:sp>
        <p:nvSpPr>
          <p:cNvPr id="47" name="Layer Playbook chip text Templates"/>
          <p:cNvSpPr txBox="1"/>
          <p:nvPr/>
        </p:nvSpPr>
        <p:spPr>
          <a:xfrm>
            <a:off x="6713982" y="3456432"/>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Templates</a:t>
            </a:r>
            <a:endParaRPr lang="en-US" sz="1100" dirty="0"/>
          </a:p>
          <a:p>
            <a:pPr algn="l" indent="0" marL="0">
              <a:buNone/>
            </a:pPr>
            <a:r>
              <a:rPr lang="en-US" sz="1000" dirty="0">
                <a:solidFill>
                  <a:schemeClr val="accent6"/>
                </a:solidFill>
              </a:rPr>
              <a:t>status, manifest, BRD defaults, viewer</a:t>
            </a:r>
            <a:endParaRPr lang="en-US" sz="1100" dirty="0"/>
          </a:p>
        </p:txBody>
      </p:sp>
      <p:sp>
        <p:nvSpPr>
          <p:cNvPr id="48" name="Layer label Connectors"/>
          <p:cNvSpPr/>
          <p:nvPr/>
        </p:nvSpPr>
        <p:spPr>
          <a:xfrm>
            <a:off x="411480" y="4151376"/>
            <a:ext cx="1783080" cy="603504"/>
          </a:xfrm>
          <a:prstGeom prst="roundRect">
            <a:avLst>
              <a:gd name="adj" fmla="val 9091"/>
            </a:avLst>
          </a:prstGeom>
          <a:solidFill>
            <a:schemeClr val="accent1"/>
          </a:solidFill>
          <a:ln/>
        </p:spPr>
      </p:sp>
      <p:sp>
        <p:nvSpPr>
          <p:cNvPr id="49" name="Layer icon circle Connectors"/>
          <p:cNvSpPr/>
          <p:nvPr/>
        </p:nvSpPr>
        <p:spPr>
          <a:xfrm>
            <a:off x="521208" y="4270248"/>
            <a:ext cx="365760" cy="365760"/>
          </a:xfrm>
          <a:prstGeom prst="ellipse">
            <a:avLst/>
          </a:prstGeom>
          <a:solidFill>
            <a:schemeClr val="bg1">
              <a:alpha val="20000"/>
            </a:schemeClr>
          </a:solidFill>
          <a:ln/>
        </p:spPr>
      </p:sp>
      <p:pic>
        <p:nvPicPr>
          <p:cNvPr id="50" name="Image 4" descr="Connectors icon">    </p:cNvPr>
          <p:cNvPicPr>
            <a:picLocks noChangeAspect="1"/>
          </p:cNvPicPr>
          <p:nvPr/>
        </p:nvPicPr>
        <p:blipFill>
          <a:blip r:embed="rId5"/>
          <a:stretch>
            <a:fillRect/>
          </a:stretch>
        </p:blipFill>
        <p:spPr>
          <a:xfrm>
            <a:off x="612648" y="4361688"/>
            <a:ext cx="182880" cy="182880"/>
          </a:xfrm>
          <a:prstGeom prst="rect">
            <a:avLst/>
          </a:prstGeom>
        </p:spPr>
      </p:pic>
      <p:sp>
        <p:nvSpPr>
          <p:cNvPr id="51" name="Layer label text Connectors"/>
          <p:cNvSpPr txBox="1"/>
          <p:nvPr/>
        </p:nvSpPr>
        <p:spPr>
          <a:xfrm>
            <a:off x="923544" y="4151376"/>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Connectors</a:t>
            </a:r>
            <a:endParaRPr lang="en-US" sz="1100" dirty="0"/>
          </a:p>
          <a:p>
            <a:pPr algn="l" indent="0" marL="0">
              <a:buNone/>
            </a:pPr>
            <a:r>
              <a:rPr lang="en-US" sz="1000" dirty="0">
                <a:solidFill>
                  <a:schemeClr val="bg1"/>
                </a:solidFill>
              </a:rPr>
              <a:t>.vscode/mcp.json</a:t>
            </a:r>
            <a:endParaRPr lang="en-US" sz="1100" dirty="0"/>
          </a:p>
        </p:txBody>
      </p:sp>
      <p:sp>
        <p:nvSpPr>
          <p:cNvPr id="52" name="Layer Connectors chip Genie MCP"/>
          <p:cNvSpPr/>
          <p:nvPr/>
        </p:nvSpPr>
        <p:spPr>
          <a:xfrm>
            <a:off x="2304288" y="4151376"/>
            <a:ext cx="1868424" cy="603504"/>
          </a:xfrm>
          <a:prstGeom prst="roundRect">
            <a:avLst>
              <a:gd name="adj" fmla="val 9091"/>
            </a:avLst>
          </a:prstGeom>
          <a:solidFill>
            <a:schemeClr val="bg2"/>
          </a:solidFill>
          <a:ln w="12700">
            <a:solidFill>
              <a:srgbClr val="C9D5D3"/>
            </a:solidFill>
            <a:prstDash val="solid"/>
          </a:ln>
        </p:spPr>
      </p:sp>
      <p:sp>
        <p:nvSpPr>
          <p:cNvPr id="53" name="Layer Connectors chip text Genie MCP"/>
          <p:cNvSpPr txBox="1"/>
          <p:nvPr/>
        </p:nvSpPr>
        <p:spPr>
          <a:xfrm>
            <a:off x="2304288" y="4151376"/>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Genie MCP</a:t>
            </a:r>
            <a:endParaRPr lang="en-US" sz="1100" dirty="0"/>
          </a:p>
          <a:p>
            <a:pPr algn="l" indent="0" marL="0">
              <a:buNone/>
            </a:pPr>
            <a:r>
              <a:rPr lang="en-US" sz="1000" dirty="0">
                <a:solidFill>
                  <a:schemeClr val="accent6"/>
                </a:solidFill>
              </a:rPr>
              <a:t>read-only questions, SQL checked</a:t>
            </a:r>
            <a:endParaRPr lang="en-US" sz="1100" dirty="0"/>
          </a:p>
        </p:txBody>
      </p:sp>
      <p:sp>
        <p:nvSpPr>
          <p:cNvPr id="54" name="Layer Connectors chip Azure DevOps MCP"/>
          <p:cNvSpPr/>
          <p:nvPr/>
        </p:nvSpPr>
        <p:spPr>
          <a:xfrm>
            <a:off x="4264152" y="4151376"/>
            <a:ext cx="1868424" cy="603504"/>
          </a:xfrm>
          <a:prstGeom prst="roundRect">
            <a:avLst>
              <a:gd name="adj" fmla="val 9091"/>
            </a:avLst>
          </a:prstGeom>
          <a:solidFill>
            <a:schemeClr val="bg2"/>
          </a:solidFill>
          <a:ln w="12700">
            <a:solidFill>
              <a:srgbClr val="C9D5D3"/>
            </a:solidFill>
            <a:prstDash val="solid"/>
          </a:ln>
        </p:spPr>
      </p:sp>
      <p:sp>
        <p:nvSpPr>
          <p:cNvPr id="55" name="Layer Connectors chip text Azure DevOps MCP"/>
          <p:cNvSpPr txBox="1"/>
          <p:nvPr/>
        </p:nvSpPr>
        <p:spPr>
          <a:xfrm>
            <a:off x="4264152" y="4151376"/>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Azure DevOps MCP</a:t>
            </a:r>
            <a:endParaRPr lang="en-US" sz="1100" dirty="0"/>
          </a:p>
          <a:p>
            <a:pPr algn="l" indent="0" marL="0">
              <a:buNone/>
            </a:pPr>
            <a:r>
              <a:rPr lang="en-US" sz="1000" dirty="0">
                <a:solidFill>
                  <a:schemeClr val="accent6"/>
                </a:solidFill>
              </a:rPr>
              <a:t>Work Items Read only</a:t>
            </a:r>
            <a:endParaRPr lang="en-US" sz="1100" dirty="0"/>
          </a:p>
        </p:txBody>
      </p:sp>
      <p:sp>
        <p:nvSpPr>
          <p:cNvPr id="56" name="Layer Connectors chip Tokens"/>
          <p:cNvSpPr/>
          <p:nvPr/>
        </p:nvSpPr>
        <p:spPr>
          <a:xfrm>
            <a:off x="6224016" y="4151376"/>
            <a:ext cx="1868424" cy="603504"/>
          </a:xfrm>
          <a:prstGeom prst="roundRect">
            <a:avLst>
              <a:gd name="adj" fmla="val 9091"/>
            </a:avLst>
          </a:prstGeom>
          <a:solidFill>
            <a:schemeClr val="bg2"/>
          </a:solidFill>
          <a:ln w="12700">
            <a:solidFill>
              <a:srgbClr val="C9D5D3"/>
            </a:solidFill>
            <a:prstDash val="solid"/>
          </a:ln>
        </p:spPr>
      </p:sp>
      <p:sp>
        <p:nvSpPr>
          <p:cNvPr id="57" name="Layer Connectors chip text Tokens"/>
          <p:cNvSpPr txBox="1"/>
          <p:nvPr/>
        </p:nvSpPr>
        <p:spPr>
          <a:xfrm>
            <a:off x="6224016" y="4151376"/>
            <a:ext cx="1868424"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Tokens</a:t>
            </a:r>
            <a:endParaRPr lang="en-US" sz="1100" dirty="0"/>
          </a:p>
          <a:p>
            <a:pPr algn="l" indent="0" marL="0">
              <a:buNone/>
            </a:pPr>
            <a:r>
              <a:rPr lang="en-US" sz="1000" dirty="0">
                <a:solidFill>
                  <a:schemeClr val="accent6"/>
                </a:solidFill>
              </a:rPr>
              <a:t>VS Code password box only</a:t>
            </a:r>
            <a:endParaRPr lang="en-US" sz="1100" dirty="0"/>
          </a:p>
        </p:txBody>
      </p:sp>
      <p:sp>
        <p:nvSpPr>
          <p:cNvPr id="58" name="Layer label Files (state)"/>
          <p:cNvSpPr/>
          <p:nvPr/>
        </p:nvSpPr>
        <p:spPr>
          <a:xfrm>
            <a:off x="411480" y="4846320"/>
            <a:ext cx="1783080" cy="603504"/>
          </a:xfrm>
          <a:prstGeom prst="roundRect">
            <a:avLst>
              <a:gd name="adj" fmla="val 9091"/>
            </a:avLst>
          </a:prstGeom>
          <a:solidFill>
            <a:schemeClr val="accent1"/>
          </a:solidFill>
          <a:ln/>
        </p:spPr>
      </p:sp>
      <p:sp>
        <p:nvSpPr>
          <p:cNvPr id="59" name="Layer icon circle Files (state)"/>
          <p:cNvSpPr/>
          <p:nvPr/>
        </p:nvSpPr>
        <p:spPr>
          <a:xfrm>
            <a:off x="521208" y="4965192"/>
            <a:ext cx="365760" cy="365760"/>
          </a:xfrm>
          <a:prstGeom prst="ellipse">
            <a:avLst/>
          </a:prstGeom>
          <a:solidFill>
            <a:schemeClr val="bg1">
              <a:alpha val="20000"/>
            </a:schemeClr>
          </a:solidFill>
          <a:ln/>
        </p:spPr>
      </p:sp>
      <p:pic>
        <p:nvPicPr>
          <p:cNvPr id="60" name="Image 5" descr="Files (state) icon">    </p:cNvPr>
          <p:cNvPicPr>
            <a:picLocks noChangeAspect="1"/>
          </p:cNvPicPr>
          <p:nvPr/>
        </p:nvPicPr>
        <p:blipFill>
          <a:blip r:embed="rId6"/>
          <a:stretch>
            <a:fillRect/>
          </a:stretch>
        </p:blipFill>
        <p:spPr>
          <a:xfrm>
            <a:off x="612648" y="5056632"/>
            <a:ext cx="182880" cy="182880"/>
          </a:xfrm>
          <a:prstGeom prst="rect">
            <a:avLst/>
          </a:prstGeom>
        </p:spPr>
      </p:pic>
      <p:sp>
        <p:nvSpPr>
          <p:cNvPr id="61" name="Layer label text Files (state)"/>
          <p:cNvSpPr txBox="1"/>
          <p:nvPr/>
        </p:nvSpPr>
        <p:spPr>
          <a:xfrm>
            <a:off x="923544" y="4846320"/>
            <a:ext cx="1252728" cy="603504"/>
          </a:xfrm>
          <a:prstGeom prst="rect">
            <a:avLst/>
          </a:prstGeom>
          <a:noFill/>
          <a:ln/>
        </p:spPr>
        <p:txBody>
          <a:bodyPr wrap="square" lIns="25400" tIns="25400" rIns="25400" bIns="25400" rtlCol="0" anchor="ctr"/>
          <a:lstStyle/>
          <a:p>
            <a:pPr algn="l" indent="0" marL="0">
              <a:buNone/>
            </a:pPr>
            <a:r>
              <a:rPr lang="en-US" sz="1200" b="1" dirty="0">
                <a:solidFill>
                  <a:schemeClr val="bg1"/>
                </a:solidFill>
              </a:rPr>
              <a:t>Files (state)</a:t>
            </a:r>
            <a:endParaRPr lang="en-US" sz="1100" dirty="0"/>
          </a:p>
          <a:p>
            <a:pPr algn="l" indent="0" marL="0">
              <a:buNone/>
            </a:pPr>
            <a:r>
              <a:rPr lang="en-US" sz="1000" dirty="0">
                <a:solidFill>
                  <a:schemeClr val="bg1"/>
                </a:solidFill>
              </a:rPr>
              <a:t>the workspace</a:t>
            </a:r>
            <a:endParaRPr lang="en-US" sz="1100" dirty="0"/>
          </a:p>
        </p:txBody>
      </p:sp>
      <p:sp>
        <p:nvSpPr>
          <p:cNvPr id="62" name="Layer Files (state) chip sources/"/>
          <p:cNvSpPr/>
          <p:nvPr/>
        </p:nvSpPr>
        <p:spPr>
          <a:xfrm>
            <a:off x="2304288" y="4846320"/>
            <a:ext cx="1378458" cy="603504"/>
          </a:xfrm>
          <a:prstGeom prst="roundRect">
            <a:avLst>
              <a:gd name="adj" fmla="val 9091"/>
            </a:avLst>
          </a:prstGeom>
          <a:solidFill>
            <a:schemeClr val="bg2"/>
          </a:solidFill>
          <a:ln w="12700">
            <a:solidFill>
              <a:srgbClr val="C9D5D3"/>
            </a:solidFill>
            <a:prstDash val="solid"/>
          </a:ln>
        </p:spPr>
      </p:sp>
      <p:sp>
        <p:nvSpPr>
          <p:cNvPr id="63" name="Layer Files (state) chip text sources/"/>
          <p:cNvSpPr txBox="1"/>
          <p:nvPr/>
        </p:nvSpPr>
        <p:spPr>
          <a:xfrm>
            <a:off x="2304288" y="4846320"/>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sources/</a:t>
            </a:r>
            <a:endParaRPr lang="en-US" sz="1100" dirty="0"/>
          </a:p>
          <a:p>
            <a:pPr algn="l" indent="0" marL="0">
              <a:buNone/>
            </a:pPr>
            <a:r>
              <a:rPr lang="en-US" sz="1000" dirty="0">
                <a:solidFill>
                  <a:schemeClr val="accent6"/>
                </a:solidFill>
              </a:rPr>
              <a:t>inputs, never edited</a:t>
            </a:r>
            <a:endParaRPr lang="en-US" sz="1100" dirty="0"/>
          </a:p>
        </p:txBody>
      </p:sp>
      <p:sp>
        <p:nvSpPr>
          <p:cNvPr id="64" name="Layer Files (state) chip PROJECT · STATUS"/>
          <p:cNvSpPr/>
          <p:nvPr/>
        </p:nvSpPr>
        <p:spPr>
          <a:xfrm>
            <a:off x="3774186" y="4846320"/>
            <a:ext cx="1378458" cy="603504"/>
          </a:xfrm>
          <a:prstGeom prst="roundRect">
            <a:avLst>
              <a:gd name="adj" fmla="val 9091"/>
            </a:avLst>
          </a:prstGeom>
          <a:solidFill>
            <a:schemeClr val="bg2"/>
          </a:solidFill>
          <a:ln w="12700">
            <a:solidFill>
              <a:srgbClr val="C9D5D3"/>
            </a:solidFill>
            <a:prstDash val="solid"/>
          </a:ln>
        </p:spPr>
      </p:sp>
      <p:sp>
        <p:nvSpPr>
          <p:cNvPr id="65" name="Layer Files (state) chip text PROJECT · STATUS"/>
          <p:cNvSpPr txBox="1"/>
          <p:nvPr/>
        </p:nvSpPr>
        <p:spPr>
          <a:xfrm>
            <a:off x="3774186" y="4846320"/>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PROJECT · STATUS</a:t>
            </a:r>
            <a:endParaRPr lang="en-US" sz="1100" dirty="0"/>
          </a:p>
          <a:p>
            <a:pPr algn="l" indent="0" marL="0">
              <a:buNone/>
            </a:pPr>
            <a:r>
              <a:rPr lang="en-US" sz="1000" dirty="0">
                <a:solidFill>
                  <a:schemeClr val="accent6"/>
                </a:solidFill>
              </a:rPr>
              <a:t>settings and gates</a:t>
            </a:r>
            <a:endParaRPr lang="en-US" sz="1100" dirty="0"/>
          </a:p>
        </p:txBody>
      </p:sp>
      <p:sp>
        <p:nvSpPr>
          <p:cNvPr id="66" name="Layer Files (state) chip memory/"/>
          <p:cNvSpPr/>
          <p:nvPr/>
        </p:nvSpPr>
        <p:spPr>
          <a:xfrm>
            <a:off x="5244084" y="4846320"/>
            <a:ext cx="1378458" cy="603504"/>
          </a:xfrm>
          <a:prstGeom prst="roundRect">
            <a:avLst>
              <a:gd name="adj" fmla="val 9091"/>
            </a:avLst>
          </a:prstGeom>
          <a:solidFill>
            <a:schemeClr val="bg2"/>
          </a:solidFill>
          <a:ln w="12700">
            <a:solidFill>
              <a:srgbClr val="C9D5D3"/>
            </a:solidFill>
            <a:prstDash val="solid"/>
          </a:ln>
        </p:spPr>
      </p:sp>
      <p:sp>
        <p:nvSpPr>
          <p:cNvPr id="67" name="Layer Files (state) chip text memory/"/>
          <p:cNvSpPr txBox="1"/>
          <p:nvPr/>
        </p:nvSpPr>
        <p:spPr>
          <a:xfrm>
            <a:off x="5244084" y="4846320"/>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memory/</a:t>
            </a:r>
            <a:endParaRPr lang="en-US" sz="1100" dirty="0"/>
          </a:p>
          <a:p>
            <a:pPr algn="l" indent="0" marL="0">
              <a:buNone/>
            </a:pPr>
            <a:r>
              <a:rPr lang="en-US" sz="1000" dirty="0">
                <a:solidFill>
                  <a:schemeClr val="accent6"/>
                </a:solidFill>
              </a:rPr>
              <a:t>versioned by MANIFEST (v1.3)</a:t>
            </a:r>
            <a:endParaRPr lang="en-US" sz="1100" dirty="0"/>
          </a:p>
        </p:txBody>
      </p:sp>
      <p:sp>
        <p:nvSpPr>
          <p:cNvPr id="68" name="Layer Files (state) chip brd/ + reviews/"/>
          <p:cNvSpPr/>
          <p:nvPr/>
        </p:nvSpPr>
        <p:spPr>
          <a:xfrm>
            <a:off x="6713982" y="4846320"/>
            <a:ext cx="1378458" cy="603504"/>
          </a:xfrm>
          <a:prstGeom prst="roundRect">
            <a:avLst>
              <a:gd name="adj" fmla="val 9091"/>
            </a:avLst>
          </a:prstGeom>
          <a:solidFill>
            <a:schemeClr val="bg2"/>
          </a:solidFill>
          <a:ln w="12700">
            <a:solidFill>
              <a:srgbClr val="C9D5D3"/>
            </a:solidFill>
            <a:prstDash val="solid"/>
          </a:ln>
        </p:spPr>
      </p:sp>
      <p:sp>
        <p:nvSpPr>
          <p:cNvPr id="69" name="Layer Files (state) chip text brd/ + reviews/"/>
          <p:cNvSpPr txBox="1"/>
          <p:nvPr/>
        </p:nvSpPr>
        <p:spPr>
          <a:xfrm>
            <a:off x="6713982" y="4846320"/>
            <a:ext cx="1378458" cy="603504"/>
          </a:xfrm>
          <a:prstGeom prst="rect">
            <a:avLst/>
          </a:prstGeom>
          <a:noFill/>
          <a:ln/>
        </p:spPr>
        <p:txBody>
          <a:bodyPr wrap="square" lIns="25400" tIns="76200" rIns="76200" bIns="25400" rtlCol="0" anchor="ctr"/>
          <a:lstStyle/>
          <a:p>
            <a:pPr algn="l" indent="0" marL="0">
              <a:buNone/>
            </a:pPr>
            <a:r>
              <a:rPr lang="en-US" sz="1100" b="1" dirty="0">
                <a:solidFill>
                  <a:schemeClr val="tx1"/>
                </a:solidFill>
              </a:rPr>
              <a:t>brd/ + reviews/</a:t>
            </a:r>
            <a:endParaRPr lang="en-US" sz="1100" dirty="0"/>
          </a:p>
          <a:p>
            <a:pPr algn="l" indent="0" marL="0">
              <a:buNone/>
            </a:pPr>
            <a:r>
              <a:rPr lang="en-US" sz="1000" dirty="0">
                <a:solidFill>
                  <a:schemeClr val="accent6"/>
                </a:solidFill>
              </a:rPr>
              <a:t>F · T · S documents, every round</a:t>
            </a:r>
            <a:endParaRPr lang="en-US" sz="1100" dirty="0"/>
          </a:p>
        </p:txBody>
      </p:sp>
      <p:sp>
        <p:nvSpPr>
          <p:cNvPr id="70" name="Sequence panel"/>
          <p:cNvSpPr/>
          <p:nvPr/>
        </p:nvSpPr>
        <p:spPr>
          <a:xfrm>
            <a:off x="8275320" y="1371600"/>
            <a:ext cx="3502152" cy="3017520"/>
          </a:xfrm>
          <a:prstGeom prst="roundRect">
            <a:avLst>
              <a:gd name="adj" fmla="val 2424"/>
            </a:avLst>
          </a:prstGeom>
          <a:solidFill>
            <a:schemeClr val="bg2"/>
          </a:solidFill>
          <a:ln w="12700">
            <a:solidFill>
              <a:srgbClr val="C9D5D3"/>
            </a:solidFill>
            <a:prstDash val="solid"/>
          </a:ln>
        </p:spPr>
      </p:sp>
      <p:sp>
        <p:nvSpPr>
          <p:cNvPr id="71" name="Sequence heading"/>
          <p:cNvSpPr txBox="1"/>
          <p:nvPr/>
        </p:nvSpPr>
        <p:spPr>
          <a:xfrm>
            <a:off x="8412480" y="1444752"/>
            <a:ext cx="3227832" cy="457200"/>
          </a:xfrm>
          <a:prstGeom prst="rect">
            <a:avLst/>
          </a:prstGeom>
          <a:noFill/>
          <a:ln/>
        </p:spPr>
        <p:txBody>
          <a:bodyPr wrap="square" lIns="0" tIns="0" rIns="0" bIns="0" rtlCol="0" anchor="ctr"/>
          <a:lstStyle/>
          <a:p>
            <a:pPr algn="l" indent="0" marL="0">
              <a:buNone/>
            </a:pPr>
            <a:r>
              <a:rPr lang="en-US" sz="1300" b="1" dirty="0">
                <a:solidFill>
                  <a:schemeClr val="tx1"/>
                </a:solidFill>
              </a:rPr>
              <a:t>One command, end to end</a:t>
            </a:r>
            <a:endParaRPr lang="en-US" sz="1100" dirty="0"/>
          </a:p>
          <a:p>
            <a:pPr algn="l" indent="0" marL="0">
              <a:buNone/>
            </a:pPr>
            <a:r>
              <a:rPr lang="en-US" sz="1000" dirty="0">
                <a:solidFill>
                  <a:schemeClr val="accent6"/>
                </a:solidFill>
              </a:rPr>
              <a:t>for example /brd-p4-rules</a:t>
            </a:r>
            <a:endParaRPr lang="en-US" sz="1100" dirty="0"/>
          </a:p>
        </p:txBody>
      </p:sp>
      <p:sp>
        <p:nvSpPr>
          <p:cNvPr id="72" name="Sequence number 1"/>
          <p:cNvSpPr/>
          <p:nvPr/>
        </p:nvSpPr>
        <p:spPr>
          <a:xfrm>
            <a:off x="8412480" y="2011680"/>
            <a:ext cx="310896" cy="310896"/>
          </a:xfrm>
          <a:prstGeom prst="ellipse">
            <a:avLst/>
          </a:prstGeom>
          <a:solidFill>
            <a:schemeClr val="accent1"/>
          </a:solidFill>
          <a:ln/>
        </p:spPr>
      </p:sp>
      <p:sp>
        <p:nvSpPr>
          <p:cNvPr id="73" name="Sequence number text 1"/>
          <p:cNvSpPr txBox="1"/>
          <p:nvPr/>
        </p:nvSpPr>
        <p:spPr>
          <a:xfrm>
            <a:off x="8412480" y="20116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4" name="Sequence step 1"/>
          <p:cNvSpPr txBox="1"/>
          <p:nvPr/>
        </p:nvSpPr>
        <p:spPr>
          <a:xfrm>
            <a:off x="8787384" y="1938528"/>
            <a:ext cx="2880360" cy="457200"/>
          </a:xfrm>
          <a:prstGeom prst="rect">
            <a:avLst/>
          </a:prstGeom>
          <a:noFill/>
          <a:ln/>
        </p:spPr>
        <p:txBody>
          <a:bodyPr wrap="square" lIns="12700" tIns="25400" rIns="25400" bIns="12700" rtlCol="0" anchor="ctr"/>
          <a:lstStyle/>
          <a:p>
            <a:pPr algn="l" indent="0" marL="0">
              <a:buNone/>
            </a:pPr>
            <a:r>
              <a:rPr lang="en-US" sz="1100" b="1" dirty="0">
                <a:solidFill>
                  <a:schemeClr val="tx1"/>
                </a:solidFill>
              </a:rPr>
              <a:t>Command loads the rules</a:t>
            </a:r>
            <a:endParaRPr lang="en-US" sz="1100" dirty="0"/>
          </a:p>
          <a:p>
            <a:pPr algn="l" indent="0" marL="0">
              <a:buNone/>
            </a:pPr>
            <a:r>
              <a:rPr lang="en-US" sz="1000" dirty="0">
                <a:solidFill>
                  <a:schemeClr val="accent6"/>
                </a:solidFill>
              </a:rPr>
              <a:t>its step file plus the shared protocols</a:t>
            </a:r>
            <a:endParaRPr lang="en-US" sz="1100" dirty="0"/>
          </a:p>
        </p:txBody>
      </p:sp>
      <p:sp>
        <p:nvSpPr>
          <p:cNvPr id="75" name="Sequence number 2"/>
          <p:cNvSpPr/>
          <p:nvPr/>
        </p:nvSpPr>
        <p:spPr>
          <a:xfrm>
            <a:off x="8412480" y="2487168"/>
            <a:ext cx="310896" cy="310896"/>
          </a:xfrm>
          <a:prstGeom prst="ellipse">
            <a:avLst/>
          </a:prstGeom>
          <a:solidFill>
            <a:schemeClr val="accent1"/>
          </a:solidFill>
          <a:ln/>
        </p:spPr>
      </p:sp>
      <p:sp>
        <p:nvSpPr>
          <p:cNvPr id="76" name="Sequence number text 2"/>
          <p:cNvSpPr txBox="1"/>
          <p:nvPr/>
        </p:nvSpPr>
        <p:spPr>
          <a:xfrm>
            <a:off x="8412480" y="24871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77" name="Sequence step 2"/>
          <p:cNvSpPr txBox="1"/>
          <p:nvPr/>
        </p:nvSpPr>
        <p:spPr>
          <a:xfrm>
            <a:off x="8787384" y="2414016"/>
            <a:ext cx="2880360" cy="457200"/>
          </a:xfrm>
          <a:prstGeom prst="rect">
            <a:avLst/>
          </a:prstGeom>
          <a:noFill/>
          <a:ln/>
        </p:spPr>
        <p:txBody>
          <a:bodyPr wrap="square" lIns="12700" tIns="25400" rIns="25400" bIns="12700" rtlCol="0" anchor="ctr"/>
          <a:lstStyle/>
          <a:p>
            <a:pPr algn="l" indent="0" marL="0">
              <a:buNone/>
            </a:pPr>
            <a:r>
              <a:rPr lang="en-US" sz="1100" b="1" dirty="0">
                <a:solidFill>
                  <a:schemeClr val="tx1"/>
                </a:solidFill>
              </a:rPr>
              <a:t>Agent checks the gate</a:t>
            </a:r>
            <a:endParaRPr lang="en-US" sz="1100" dirty="0"/>
          </a:p>
          <a:p>
            <a:pPr algn="l" indent="0" marL="0">
              <a:buNone/>
            </a:pPr>
            <a:r>
              <a:rPr lang="en-US" sz="1000" dirty="0">
                <a:solidFill>
                  <a:schemeClr val="accent6"/>
                </a:solidFill>
              </a:rPr>
              <a:t>PROJECT, STATUS, MANIFEST: is P3 approved?</a:t>
            </a:r>
            <a:endParaRPr lang="en-US" sz="1100" dirty="0"/>
          </a:p>
        </p:txBody>
      </p:sp>
      <p:sp>
        <p:nvSpPr>
          <p:cNvPr id="78" name="Sequence number 3"/>
          <p:cNvSpPr/>
          <p:nvPr/>
        </p:nvSpPr>
        <p:spPr>
          <a:xfrm>
            <a:off x="8412480" y="2962656"/>
            <a:ext cx="310896" cy="310896"/>
          </a:xfrm>
          <a:prstGeom prst="ellipse">
            <a:avLst/>
          </a:prstGeom>
          <a:solidFill>
            <a:schemeClr val="accent1"/>
          </a:solidFill>
          <a:ln/>
        </p:spPr>
      </p:sp>
      <p:sp>
        <p:nvSpPr>
          <p:cNvPr id="79" name="Sequence number text 3"/>
          <p:cNvSpPr txBox="1"/>
          <p:nvPr/>
        </p:nvSpPr>
        <p:spPr>
          <a:xfrm>
            <a:off x="8412480" y="296265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80" name="Sequence step 3"/>
          <p:cNvSpPr txBox="1"/>
          <p:nvPr/>
        </p:nvSpPr>
        <p:spPr>
          <a:xfrm>
            <a:off x="8787384" y="2889504"/>
            <a:ext cx="2880360" cy="457200"/>
          </a:xfrm>
          <a:prstGeom prst="rect">
            <a:avLst/>
          </a:prstGeom>
          <a:noFill/>
          <a:ln/>
        </p:spPr>
        <p:txBody>
          <a:bodyPr wrap="square" lIns="12700" tIns="25400" rIns="25400" bIns="12700" rtlCol="0" anchor="ctr"/>
          <a:lstStyle/>
          <a:p>
            <a:pPr algn="l" indent="0" marL="0">
              <a:buNone/>
            </a:pPr>
            <a:r>
              <a:rPr lang="en-US" sz="1100" b="1" dirty="0">
                <a:solidFill>
                  <a:schemeClr val="tx1"/>
                </a:solidFill>
              </a:rPr>
              <a:t>Reads evidence</a:t>
            </a:r>
            <a:endParaRPr lang="en-US" sz="1100" dirty="0"/>
          </a:p>
          <a:p>
            <a:pPr algn="l" indent="0" marL="0">
              <a:buNone/>
            </a:pPr>
            <a:r>
              <a:rPr lang="en-US" sz="1000" dirty="0">
                <a:solidFill>
                  <a:schemeClr val="accent6"/>
                </a:solidFill>
              </a:rPr>
              <a:t>memory and sources; Genie or DevOps if in use</a:t>
            </a:r>
            <a:endParaRPr lang="en-US" sz="1100" dirty="0"/>
          </a:p>
        </p:txBody>
      </p:sp>
      <p:sp>
        <p:nvSpPr>
          <p:cNvPr id="81" name="Sequence number 4"/>
          <p:cNvSpPr/>
          <p:nvPr/>
        </p:nvSpPr>
        <p:spPr>
          <a:xfrm>
            <a:off x="8412480" y="3438144"/>
            <a:ext cx="310896" cy="310896"/>
          </a:xfrm>
          <a:prstGeom prst="ellipse">
            <a:avLst/>
          </a:prstGeom>
          <a:solidFill>
            <a:schemeClr val="accent1"/>
          </a:solidFill>
          <a:ln/>
        </p:spPr>
      </p:sp>
      <p:sp>
        <p:nvSpPr>
          <p:cNvPr id="82" name="Sequence number text 4"/>
          <p:cNvSpPr txBox="1"/>
          <p:nvPr/>
        </p:nvSpPr>
        <p:spPr>
          <a:xfrm>
            <a:off x="8412480" y="343814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83" name="Sequence step 4"/>
          <p:cNvSpPr txBox="1"/>
          <p:nvPr/>
        </p:nvSpPr>
        <p:spPr>
          <a:xfrm>
            <a:off x="8787384" y="3364992"/>
            <a:ext cx="2880360" cy="457200"/>
          </a:xfrm>
          <a:prstGeom prst="rect">
            <a:avLst/>
          </a:prstGeom>
          <a:noFill/>
          <a:ln/>
        </p:spPr>
        <p:txBody>
          <a:bodyPr wrap="square" lIns="12700" tIns="25400" rIns="25400" bIns="12700" rtlCol="0" anchor="ctr"/>
          <a:lstStyle/>
          <a:p>
            <a:pPr algn="l" indent="0" marL="0">
              <a:buNone/>
            </a:pPr>
            <a:r>
              <a:rPr lang="en-US" sz="1100" b="1" dirty="0">
                <a:solidFill>
                  <a:schemeClr val="tx1"/>
                </a:solidFill>
              </a:rPr>
              <a:t>Writes output + review page</a:t>
            </a:r>
            <a:endParaRPr lang="en-US" sz="1100" dirty="0"/>
          </a:p>
          <a:p>
            <a:pPr algn="l" indent="0" marL="0">
              <a:buNone/>
            </a:pPr>
            <a:r>
              <a:rPr lang="en-US" sz="1000" dirty="0">
                <a:solidFill>
                  <a:schemeClr val="accent6"/>
                </a:solidFill>
              </a:rPr>
              <a:t>labelled statements, .md and .html, round N</a:t>
            </a:r>
            <a:endParaRPr lang="en-US" sz="1100" dirty="0"/>
          </a:p>
        </p:txBody>
      </p:sp>
      <p:sp>
        <p:nvSpPr>
          <p:cNvPr id="84" name="Sequence number 5"/>
          <p:cNvSpPr/>
          <p:nvPr/>
        </p:nvSpPr>
        <p:spPr>
          <a:xfrm>
            <a:off x="8412480" y="3913632"/>
            <a:ext cx="310896" cy="310896"/>
          </a:xfrm>
          <a:prstGeom prst="ellipse">
            <a:avLst/>
          </a:prstGeom>
          <a:solidFill>
            <a:schemeClr val="accent2"/>
          </a:solidFill>
          <a:ln/>
        </p:spPr>
      </p:sp>
      <p:sp>
        <p:nvSpPr>
          <p:cNvPr id="85" name="Sequence number text 5"/>
          <p:cNvSpPr txBox="1"/>
          <p:nvPr/>
        </p:nvSpPr>
        <p:spPr>
          <a:xfrm>
            <a:off x="8412480" y="391363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86" name="Sequence step 5"/>
          <p:cNvSpPr txBox="1"/>
          <p:nvPr/>
        </p:nvSpPr>
        <p:spPr>
          <a:xfrm>
            <a:off x="8787384" y="3840480"/>
            <a:ext cx="2880360" cy="457200"/>
          </a:xfrm>
          <a:prstGeom prst="rect">
            <a:avLst/>
          </a:prstGeom>
          <a:noFill/>
          <a:ln/>
        </p:spPr>
        <p:txBody>
          <a:bodyPr wrap="square" lIns="12700" tIns="25400" rIns="25400" bIns="12700" rtlCol="0" anchor="ctr"/>
          <a:lstStyle/>
          <a:p>
            <a:pPr algn="l" indent="0" marL="0">
              <a:buNone/>
            </a:pPr>
            <a:r>
              <a:rPr lang="en-US" sz="1100" b="1" dirty="0">
                <a:solidFill>
                  <a:schemeClr val="tx1"/>
                </a:solidFill>
              </a:rPr>
              <a:t>Stops for you</a:t>
            </a:r>
            <a:endParaRPr lang="en-US" sz="1100" dirty="0"/>
          </a:p>
          <a:p>
            <a:pPr algn="l" indent="0" marL="0">
              <a:buNone/>
            </a:pPr>
            <a:r>
              <a:rPr lang="en-US" sz="1000" dirty="0">
                <a:solidFill>
                  <a:schemeClr val="accent6"/>
                </a:solidFill>
              </a:rPr>
              <a:t>FEEDBACK → round N+1 · APPROVED → STATUS</a:t>
            </a:r>
            <a:endParaRPr lang="en-US" sz="1100" dirty="0"/>
          </a:p>
        </p:txBody>
      </p:sp>
      <p:sp>
        <p:nvSpPr>
          <p:cNvPr id="87" name="Feeds panel"/>
          <p:cNvSpPr/>
          <p:nvPr/>
        </p:nvSpPr>
        <p:spPr>
          <a:xfrm>
            <a:off x="8275320" y="4498848"/>
            <a:ext cx="3502152" cy="950976"/>
          </a:xfrm>
          <a:prstGeom prst="roundRect">
            <a:avLst>
              <a:gd name="adj" fmla="val 7692"/>
            </a:avLst>
          </a:prstGeom>
          <a:solidFill>
            <a:schemeClr val="bg1"/>
          </a:solidFill>
          <a:ln w="12700">
            <a:solidFill>
              <a:schemeClr val="accent1"/>
            </a:solidFill>
            <a:prstDash val="dash"/>
          </a:ln>
        </p:spPr>
      </p:sp>
      <p:sp>
        <p:nvSpPr>
          <p:cNvPr id="88" name="Feeds text"/>
          <p:cNvSpPr txBox="1"/>
          <p:nvPr/>
        </p:nvSpPr>
        <p:spPr>
          <a:xfrm>
            <a:off x="8385048" y="4535424"/>
            <a:ext cx="3282696" cy="877824"/>
          </a:xfrm>
          <a:prstGeom prst="rect">
            <a:avLst/>
          </a:prstGeom>
          <a:noFill/>
          <a:ln/>
        </p:spPr>
        <p:txBody>
          <a:bodyPr wrap="square" lIns="25400" tIns="50800" rIns="50800" bIns="25400" rtlCol="0" anchor="t"/>
          <a:lstStyle/>
          <a:p>
            <a:pPr algn="l" indent="0" marL="0">
              <a:buNone/>
            </a:pPr>
            <a:r>
              <a:rPr lang="en-US" sz="1200" b="1" dirty="0">
                <a:solidFill>
                  <a:schemeClr val="tx1"/>
                </a:solidFill>
              </a:rPr>
              <a:t>Plugs in from outside</a:t>
            </a:r>
            <a:endParaRPr lang="en-US" sz="1100" dirty="0"/>
          </a:p>
          <a:p>
            <a:pPr algn="l" indent="0" marL="0">
              <a:buNone/>
            </a:pPr>
            <a:r>
              <a:rPr lang="en-US" sz="1000" dirty="0">
                <a:solidFill>
                  <a:schemeClr val="accent6"/>
                </a:solidFill>
              </a:rPr>
              <a:t>Discovery agents (SQL, Databricks) → packages in sources/agent-memory/, labels kept</a:t>
            </a:r>
            <a:endParaRPr lang="en-US" sz="1100" dirty="0"/>
          </a:p>
          <a:p>
            <a:pPr algn="l" indent="0" marL="0">
              <a:buNone/>
            </a:pPr>
            <a:r>
              <a:rPr lang="en-US" sz="1000" dirty="0">
                <a:solidFill>
                  <a:schemeClr val="accent6"/>
                </a:solidFill>
              </a:rPr>
              <a:t>Consolidation agent → next memory master version, via MANIFEST.md</a:t>
            </a:r>
            <a:endParaRPr lang="en-US" sz="1100" dirty="0"/>
          </a:p>
        </p:txBody>
      </p:sp>
      <p:sp>
        <p:nvSpPr>
          <p:cNvPr id="89" name="Principles heading"/>
          <p:cNvSpPr txBox="1"/>
          <p:nvPr/>
        </p:nvSpPr>
        <p:spPr>
          <a:xfrm>
            <a:off x="411480" y="5870448"/>
            <a:ext cx="1371600" cy="548640"/>
          </a:xfrm>
          <a:prstGeom prst="rect">
            <a:avLst/>
          </a:prstGeom>
          <a:noFill/>
          <a:ln/>
        </p:spPr>
        <p:txBody>
          <a:bodyPr wrap="square" lIns="0" tIns="0" rIns="0" bIns="0" rtlCol="0" anchor="ctr"/>
          <a:lstStyle/>
          <a:p>
            <a:pPr algn="l" indent="0" marL="0">
              <a:buNone/>
            </a:pPr>
            <a:r>
              <a:rPr lang="en-US" sz="1200" b="1" dirty="0">
                <a:solidFill>
                  <a:schemeClr val="tx1"/>
                </a:solidFill>
              </a:rPr>
              <a:t>Design principles</a:t>
            </a:r>
            <a:endParaRPr lang="en-US" sz="1100" dirty="0"/>
          </a:p>
        </p:txBody>
      </p:sp>
      <p:sp>
        <p:nvSpPr>
          <p:cNvPr id="90" name="Principle circle Everything is a file"/>
          <p:cNvSpPr/>
          <p:nvPr/>
        </p:nvSpPr>
        <p:spPr>
          <a:xfrm>
            <a:off x="1828800" y="5943600"/>
            <a:ext cx="402336" cy="402336"/>
          </a:xfrm>
          <a:prstGeom prst="ellipse">
            <a:avLst/>
          </a:prstGeom>
          <a:solidFill>
            <a:schemeClr val="bg2"/>
          </a:solidFill>
          <a:ln/>
        </p:spPr>
      </p:sp>
      <p:pic>
        <p:nvPicPr>
          <p:cNvPr id="91" name="Image 6" descr="Everything is a file">    </p:cNvPr>
          <p:cNvPicPr>
            <a:picLocks noChangeAspect="1"/>
          </p:cNvPicPr>
          <p:nvPr/>
        </p:nvPicPr>
        <p:blipFill>
          <a:blip r:embed="rId7"/>
          <a:stretch>
            <a:fillRect/>
          </a:stretch>
        </p:blipFill>
        <p:spPr>
          <a:xfrm>
            <a:off x="1929384" y="6044184"/>
            <a:ext cx="201168" cy="201168"/>
          </a:xfrm>
          <a:prstGeom prst="rect">
            <a:avLst/>
          </a:prstGeom>
        </p:spPr>
      </p:pic>
      <p:sp>
        <p:nvSpPr>
          <p:cNvPr id="92" name="Principle text Everything is a file"/>
          <p:cNvSpPr txBox="1"/>
          <p:nvPr/>
        </p:nvSpPr>
        <p:spPr>
          <a:xfrm>
            <a:off x="2286000"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Everything is a file</a:t>
            </a:r>
            <a:endParaRPr lang="en-US" sz="1100" dirty="0"/>
          </a:p>
          <a:p>
            <a:pPr algn="l" indent="0" marL="0">
              <a:buNone/>
            </a:pPr>
            <a:r>
              <a:rPr lang="en-US" sz="1000" dirty="0">
                <a:solidFill>
                  <a:schemeClr val="accent6"/>
                </a:solidFill>
              </a:rPr>
              <a:t>Markdown, readable, kept</a:t>
            </a:r>
            <a:endParaRPr lang="en-US" sz="1100" dirty="0"/>
          </a:p>
        </p:txBody>
      </p:sp>
      <p:sp>
        <p:nvSpPr>
          <p:cNvPr id="93" name="Principle circle One step per command"/>
          <p:cNvSpPr/>
          <p:nvPr/>
        </p:nvSpPr>
        <p:spPr>
          <a:xfrm>
            <a:off x="3822192" y="5943600"/>
            <a:ext cx="402336" cy="402336"/>
          </a:xfrm>
          <a:prstGeom prst="ellipse">
            <a:avLst/>
          </a:prstGeom>
          <a:solidFill>
            <a:schemeClr val="bg2"/>
          </a:solidFill>
          <a:ln/>
        </p:spPr>
      </p:sp>
      <p:pic>
        <p:nvPicPr>
          <p:cNvPr id="94" name="Image 7" descr="One step per command">    </p:cNvPr>
          <p:cNvPicPr>
            <a:picLocks noChangeAspect="1"/>
          </p:cNvPicPr>
          <p:nvPr/>
        </p:nvPicPr>
        <p:blipFill>
          <a:blip r:embed="rId8"/>
          <a:stretch>
            <a:fillRect/>
          </a:stretch>
        </p:blipFill>
        <p:spPr>
          <a:xfrm>
            <a:off x="3922776" y="6044184"/>
            <a:ext cx="201168" cy="201168"/>
          </a:xfrm>
          <a:prstGeom prst="rect">
            <a:avLst/>
          </a:prstGeom>
        </p:spPr>
      </p:pic>
      <p:sp>
        <p:nvSpPr>
          <p:cNvPr id="95" name="Principle text One step per command"/>
          <p:cNvSpPr txBox="1"/>
          <p:nvPr/>
        </p:nvSpPr>
        <p:spPr>
          <a:xfrm>
            <a:off x="4279392"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One step per command</a:t>
            </a:r>
            <a:endParaRPr lang="en-US" sz="1100" dirty="0"/>
          </a:p>
          <a:p>
            <a:pPr algn="l" indent="0" marL="0">
              <a:buNone/>
            </a:pPr>
            <a:r>
              <a:rPr lang="en-US" sz="1000" dirty="0">
                <a:solidFill>
                  <a:schemeClr val="accent6"/>
                </a:solidFill>
              </a:rPr>
              <a:t>small, resumable steps</a:t>
            </a:r>
            <a:endParaRPr lang="en-US" sz="1100" dirty="0"/>
          </a:p>
        </p:txBody>
      </p:sp>
      <p:sp>
        <p:nvSpPr>
          <p:cNvPr id="96" name="Principle circle Gates in STATUS.md"/>
          <p:cNvSpPr/>
          <p:nvPr/>
        </p:nvSpPr>
        <p:spPr>
          <a:xfrm>
            <a:off x="5815584" y="5943600"/>
            <a:ext cx="402336" cy="402336"/>
          </a:xfrm>
          <a:prstGeom prst="ellipse">
            <a:avLst/>
          </a:prstGeom>
          <a:solidFill>
            <a:schemeClr val="bg2"/>
          </a:solidFill>
          <a:ln/>
        </p:spPr>
      </p:sp>
      <p:pic>
        <p:nvPicPr>
          <p:cNvPr id="97" name="Image 8" descr="Gates in STATUS.md">    </p:cNvPr>
          <p:cNvPicPr>
            <a:picLocks noChangeAspect="1"/>
          </p:cNvPicPr>
          <p:nvPr/>
        </p:nvPicPr>
        <p:blipFill>
          <a:blip r:embed="rId9"/>
          <a:stretch>
            <a:fillRect/>
          </a:stretch>
        </p:blipFill>
        <p:spPr>
          <a:xfrm>
            <a:off x="5916168" y="6044184"/>
            <a:ext cx="201168" cy="201168"/>
          </a:xfrm>
          <a:prstGeom prst="rect">
            <a:avLst/>
          </a:prstGeom>
        </p:spPr>
      </p:pic>
      <p:sp>
        <p:nvSpPr>
          <p:cNvPr id="98" name="Principle text Gates in STATUS.md"/>
          <p:cNvSpPr txBox="1"/>
          <p:nvPr/>
        </p:nvSpPr>
        <p:spPr>
          <a:xfrm>
            <a:off x="6272784"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Gates in STATUS.md</a:t>
            </a:r>
            <a:endParaRPr lang="en-US" sz="1100" dirty="0"/>
          </a:p>
          <a:p>
            <a:pPr algn="l" indent="0" marL="0">
              <a:buNone/>
            </a:pPr>
            <a:r>
              <a:rPr lang="en-US" sz="1000" dirty="0">
                <a:solidFill>
                  <a:schemeClr val="accent6"/>
                </a:solidFill>
              </a:rPr>
              <a:t>nothing runs out of order</a:t>
            </a:r>
            <a:endParaRPr lang="en-US" sz="1100" dirty="0"/>
          </a:p>
        </p:txBody>
      </p:sp>
      <p:sp>
        <p:nvSpPr>
          <p:cNvPr id="99" name="Principle circle Read-only by design"/>
          <p:cNvSpPr/>
          <p:nvPr/>
        </p:nvSpPr>
        <p:spPr>
          <a:xfrm>
            <a:off x="7808976" y="5943600"/>
            <a:ext cx="402336" cy="402336"/>
          </a:xfrm>
          <a:prstGeom prst="ellipse">
            <a:avLst/>
          </a:prstGeom>
          <a:solidFill>
            <a:schemeClr val="bg2"/>
          </a:solidFill>
          <a:ln/>
        </p:spPr>
      </p:sp>
      <p:pic>
        <p:nvPicPr>
          <p:cNvPr id="100" name="Image 9" descr="Read-only by design">    </p:cNvPr>
          <p:cNvPicPr>
            <a:picLocks noChangeAspect="1"/>
          </p:cNvPicPr>
          <p:nvPr/>
        </p:nvPicPr>
        <p:blipFill>
          <a:blip r:embed="rId10"/>
          <a:stretch>
            <a:fillRect/>
          </a:stretch>
        </p:blipFill>
        <p:spPr>
          <a:xfrm>
            <a:off x="7909560" y="6044184"/>
            <a:ext cx="201168" cy="201168"/>
          </a:xfrm>
          <a:prstGeom prst="rect">
            <a:avLst/>
          </a:prstGeom>
        </p:spPr>
      </p:pic>
      <p:sp>
        <p:nvSpPr>
          <p:cNvPr id="101" name="Principle text Read-only by design"/>
          <p:cNvSpPr txBox="1"/>
          <p:nvPr/>
        </p:nvSpPr>
        <p:spPr>
          <a:xfrm>
            <a:off x="8266176"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Read-only by design</a:t>
            </a:r>
            <a:endParaRPr lang="en-US" sz="1100" dirty="0"/>
          </a:p>
          <a:p>
            <a:pPr algn="l" indent="0" marL="0">
              <a:buNone/>
            </a:pPr>
            <a:r>
              <a:rPr lang="en-US" sz="1000" dirty="0">
                <a:solidFill>
                  <a:schemeClr val="accent6"/>
                </a:solidFill>
              </a:rPr>
              <a:t>no terminal, no writes</a:t>
            </a:r>
            <a:endParaRPr lang="en-US" sz="1100" dirty="0"/>
          </a:p>
        </p:txBody>
      </p:sp>
      <p:sp>
        <p:nvSpPr>
          <p:cNvPr id="102" name="Principle circle One mechanism, reused"/>
          <p:cNvSpPr/>
          <p:nvPr/>
        </p:nvSpPr>
        <p:spPr>
          <a:xfrm>
            <a:off x="9802368" y="5943600"/>
            <a:ext cx="402336" cy="402336"/>
          </a:xfrm>
          <a:prstGeom prst="ellipse">
            <a:avLst/>
          </a:prstGeom>
          <a:solidFill>
            <a:schemeClr val="bg2"/>
          </a:solidFill>
          <a:ln/>
        </p:spPr>
      </p:sp>
      <p:pic>
        <p:nvPicPr>
          <p:cNvPr id="103" name="Image 10" descr="One mechanism, reused">    </p:cNvPr>
          <p:cNvPicPr>
            <a:picLocks noChangeAspect="1"/>
          </p:cNvPicPr>
          <p:nvPr/>
        </p:nvPicPr>
        <p:blipFill>
          <a:blip r:embed="rId11"/>
          <a:stretch>
            <a:fillRect/>
          </a:stretch>
        </p:blipFill>
        <p:spPr>
          <a:xfrm>
            <a:off x="9902952" y="6044184"/>
            <a:ext cx="201168" cy="201168"/>
          </a:xfrm>
          <a:prstGeom prst="rect">
            <a:avLst/>
          </a:prstGeom>
        </p:spPr>
      </p:pic>
      <p:sp>
        <p:nvSpPr>
          <p:cNvPr id="104" name="Principle text One mechanism, reused"/>
          <p:cNvSpPr txBox="1"/>
          <p:nvPr/>
        </p:nvSpPr>
        <p:spPr>
          <a:xfrm>
            <a:off x="10259568"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One mechanism, reused</a:t>
            </a:r>
            <a:endParaRPr lang="en-US" sz="1100" dirty="0"/>
          </a:p>
          <a:p>
            <a:pPr algn="l" indent="0" marL="0">
              <a:buNone/>
            </a:pPr>
            <a:r>
              <a:rPr lang="en-US" sz="1000" dirty="0">
                <a:solidFill>
                  <a:schemeClr val="accent6"/>
                </a:solidFill>
              </a:rPr>
              <a:t>SQL, Databricks, BRD</a:t>
            </a:r>
            <a:endParaRPr lang="en-US" sz="1100" dirty="0"/>
          </a:p>
        </p:txBody>
      </p:sp>
    </p:spTree>
  </p:cSld>
  <p:clrMapOvr>
    <a:masterClrMapping/>
  </p:clrMapOvr>
</p:sld>
</file>

<file path=ppt/theme/theme1.xml><?xml version="1.0" encoding="utf-8"?>
<a:theme xmlns:a="http://schemas.openxmlformats.org/drawingml/2006/main" name="BRD Reconstruction">
  <a:themeElements>
    <a:clrScheme name="BRD Reconstruction">
      <a:dk1>
        <a:srgbClr val="16232A"/>
      </a:dk1>
      <a:lt1>
        <a:srgbClr val="FFFFFF"/>
      </a:lt1>
      <a:dk2>
        <a:srgbClr val="0D6670"/>
      </a:dk2>
      <a:lt2>
        <a:srgbClr val="EEF4F3"/>
      </a:lt2>
      <a:accent1>
        <a:srgbClr val="0D6670"/>
      </a:accent1>
      <a:accent2>
        <a:srgbClr val="A4610F"/>
      </a:accent2>
      <a:accent3>
        <a:srgbClr val="2F5E9E"/>
      </a:accent3>
      <a:accent4>
        <a:srgbClr val="1F7350"/>
      </a:accent4>
      <a:accent5>
        <a:srgbClr val="B23A2B"/>
      </a:accent5>
      <a:accent6>
        <a:srgbClr val="5C6B72"/>
      </a:accent6>
      <a:hlink>
        <a:srgbClr val="2F5E9E"/>
      </a:hlink>
      <a:folHlink>
        <a:srgbClr val="5C6B72"/>
      </a:folHlink>
    </a:clrScheme>
    <a:fontScheme name="BRD Reconstru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BRD Reconstruction Playbook: how it is built</dc:title>
  <dc:subject>PptxGenJS Presentation</dc:subject>
  <dc:creator>PptxGenJS</dc:creator>
  <cp:lastModifiedBy>PptxGenJS</cp:lastModifiedBy>
  <cp:revision>1</cp:revision>
  <dcterms:created xsi:type="dcterms:W3CDTF">2026-10-24T12:39:37Z</dcterms:created>
  <dcterms:modified xsi:type="dcterms:W3CDTF">2026-10-24T12:39:37Z</dcterms:modified>
</cp:coreProperties>
</file>