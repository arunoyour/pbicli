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Current: SQL → ADF → Blob → Azure Automation triggers Azure Function → Salesforce Bulk API. Proposed: Databricks notebook writes output file to ADLS, then calls Salesforce Bulk API 2.0 via REST from Databricks – removes ADF, Automation and Function App. Alternative: direct Salesforce–Databricks connection (query on demand).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 criteria values to match team findings from the POC.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POC &amp; approach (DBX to Salesforce)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SDF 2.0 Modernization – moving the Salesforce outbound feed from SQL/ADF to Databricks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74552" cy="1600200"/>
          </a:xfrm>
          <a:prstGeom prst="roundRect">
            <a:avLst>
              <a:gd name="adj" fmla="val 4571"/>
            </a:avLst>
          </a:prstGeom>
          <a:solidFill>
            <a:srgbClr val="F3F6FA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60320"/>
            <a:ext cx="1463040" cy="256032"/>
          </a:xfrm>
          <a:prstGeom prst="rect">
            <a:avLst/>
          </a:prstGeom>
          <a:solidFill>
            <a:srgbClr val="7F8C9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</a:t>
            </a:r>
            <a:endParaRPr lang="en-US" sz="900" dirty="0"/>
          </a:p>
        </p:txBody>
      </p:sp>
      <p:pic>
        <p:nvPicPr>
          <p:cNvPr id="7" name="Image 0" descr="Azure SQL 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1755648"/>
            <a:ext cx="640080" cy="6400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377440" y="24414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pic>
        <p:nvPicPr>
          <p:cNvPr id="9" name="Image 1" descr="Azure Data Fact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755648"/>
            <a:ext cx="640080" cy="6400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114800" y="24414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</a:t>
            </a:r>
            <a:endParaRPr lang="en-US" sz="1100" dirty="0"/>
          </a:p>
        </p:txBody>
      </p:sp>
      <p:pic>
        <p:nvPicPr>
          <p:cNvPr id="11" name="Image 2" descr="Blob stor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755648"/>
            <a:ext cx="640080" cy="6400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897880" y="24414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Blob storage</a:t>
            </a:r>
            <a:endParaRPr lang="en-US" sz="1100" dirty="0"/>
          </a:p>
        </p:txBody>
      </p:sp>
      <p:pic>
        <p:nvPicPr>
          <p:cNvPr id="13" name="Image 3" descr="Azure Func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755648"/>
            <a:ext cx="640080" cy="6400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818120" y="24414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Function</a:t>
            </a:r>
            <a:endParaRPr lang="en-US" sz="1100" dirty="0"/>
          </a:p>
        </p:txBody>
      </p:sp>
      <p:pic>
        <p:nvPicPr>
          <p:cNvPr id="15" name="Image 4" descr="Salesfor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1896" y="1771650"/>
            <a:ext cx="864608" cy="608076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9875520" y="242544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3703320" y="2075688"/>
            <a:ext cx="822960" cy="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18" name="Text 11"/>
          <p:cNvSpPr txBox="1"/>
          <p:nvPr/>
        </p:nvSpPr>
        <p:spPr>
          <a:xfrm>
            <a:off x="3611880" y="16184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data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5440680" y="2075688"/>
            <a:ext cx="868680" cy="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20" name="Text 13"/>
          <p:cNvSpPr txBox="1"/>
          <p:nvPr/>
        </p:nvSpPr>
        <p:spPr>
          <a:xfrm>
            <a:off x="5349240" y="161848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data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7223760" y="2075688"/>
            <a:ext cx="960120" cy="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tailEnd type="triangle"/>
          </a:ln>
        </p:spPr>
      </p:sp>
      <p:pic>
        <p:nvPicPr>
          <p:cNvPr id="22" name="Image 5" descr="Azure Automati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1232" y="1600200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995160" y="21305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Automation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9144000" y="2075688"/>
            <a:ext cx="1051560" cy="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25" name="Text 17"/>
          <p:cNvSpPr txBox="1"/>
          <p:nvPr/>
        </p:nvSpPr>
        <p:spPr>
          <a:xfrm>
            <a:off x="9052560" y="161848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API calls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457200" y="3154680"/>
            <a:ext cx="11274552" cy="1600200"/>
          </a:xfrm>
          <a:prstGeom prst="roundRect">
            <a:avLst>
              <a:gd name="adj" fmla="val 4571"/>
            </a:avLst>
          </a:prstGeom>
          <a:solidFill>
            <a:srgbClr val="F3F6FA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685800" y="333756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future state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685800" y="4297680"/>
            <a:ext cx="1463040" cy="256032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· POC</a:t>
            </a:r>
            <a:endParaRPr lang="en-US" sz="900" dirty="0"/>
          </a:p>
        </p:txBody>
      </p:sp>
      <p:pic>
        <p:nvPicPr>
          <p:cNvPr id="29" name="Image 6" descr="Databricks (Delta tables)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8899" y="3525012"/>
            <a:ext cx="534442" cy="576072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2377440" y="41468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(Delta tables)</a:t>
            </a:r>
            <a:endParaRPr lang="en-US" sz="1100" dirty="0"/>
          </a:p>
        </p:txBody>
      </p:sp>
      <p:pic>
        <p:nvPicPr>
          <p:cNvPr id="31" name="Image 7" descr="Databricks Notebook (Job / Workflow)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3419" y="3525012"/>
            <a:ext cx="534442" cy="57607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4251960" y="41468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Notebook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(Job / Workflow)</a:t>
            </a:r>
            <a:endParaRPr lang="en-US" sz="1100" dirty="0"/>
          </a:p>
        </p:txBody>
      </p:sp>
      <p:pic>
        <p:nvPicPr>
          <p:cNvPr id="33" name="Image 8" descr="ADLS Gen2 (output file)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0" y="3493008"/>
            <a:ext cx="640080" cy="64008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6217920" y="41788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ADLS Gen2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(output file)</a:t>
            </a:r>
            <a:endParaRPr lang="en-US" sz="1100" dirty="0"/>
          </a:p>
        </p:txBody>
      </p:sp>
      <p:pic>
        <p:nvPicPr>
          <p:cNvPr id="35" name="Image 9" descr="DBX REST API call (Bulk API 2.0 job)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48179" y="3525012"/>
            <a:ext cx="534442" cy="576072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8046720" y="41468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DBX REST API call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(Bulk API 2.0 job)</a:t>
            </a:r>
            <a:endParaRPr lang="en-US" sz="1100" dirty="0"/>
          </a:p>
        </p:txBody>
      </p:sp>
      <p:pic>
        <p:nvPicPr>
          <p:cNvPr id="37" name="Image 10" descr="Salesforce (records updated)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11896" y="3509010"/>
            <a:ext cx="864608" cy="608076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9875520" y="416280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(records updated)</a:t>
            </a:r>
            <a:endParaRPr lang="en-US" sz="1100" dirty="0"/>
          </a:p>
        </p:txBody>
      </p:sp>
      <p:sp>
        <p:nvSpPr>
          <p:cNvPr id="39" name="Shape 26"/>
          <p:cNvSpPr/>
          <p:nvPr/>
        </p:nvSpPr>
        <p:spPr>
          <a:xfrm>
            <a:off x="3703320" y="3813048"/>
            <a:ext cx="960120" cy="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40" name="Text 27"/>
          <p:cNvSpPr txBox="1"/>
          <p:nvPr/>
        </p:nvSpPr>
        <p:spPr>
          <a:xfrm>
            <a:off x="3611880" y="33558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1000" dirty="0"/>
          </a:p>
        </p:txBody>
      </p:sp>
      <p:sp>
        <p:nvSpPr>
          <p:cNvPr id="41" name="Shape 28"/>
          <p:cNvSpPr/>
          <p:nvPr/>
        </p:nvSpPr>
        <p:spPr>
          <a:xfrm>
            <a:off x="5577840" y="3813048"/>
            <a:ext cx="1051560" cy="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42" name="Text 29"/>
          <p:cNvSpPr txBox="1"/>
          <p:nvPr/>
        </p:nvSpPr>
        <p:spPr>
          <a:xfrm>
            <a:off x="5486400" y="33558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file</a:t>
            </a:r>
            <a:endParaRPr lang="en-US" sz="1000" dirty="0"/>
          </a:p>
        </p:txBody>
      </p:sp>
      <p:sp>
        <p:nvSpPr>
          <p:cNvPr id="43" name="Shape 30"/>
          <p:cNvSpPr/>
          <p:nvPr/>
        </p:nvSpPr>
        <p:spPr>
          <a:xfrm>
            <a:off x="7543800" y="3813048"/>
            <a:ext cx="914400" cy="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44" name="Text 31"/>
          <p:cNvSpPr txBox="1"/>
          <p:nvPr/>
        </p:nvSpPr>
        <p:spPr>
          <a:xfrm>
            <a:off x="7452360" y="33558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file</a:t>
            </a:r>
            <a:endParaRPr lang="en-US" sz="1000" dirty="0"/>
          </a:p>
        </p:txBody>
      </p:sp>
      <p:sp>
        <p:nvSpPr>
          <p:cNvPr id="45" name="Shape 32"/>
          <p:cNvSpPr/>
          <p:nvPr/>
        </p:nvSpPr>
        <p:spPr>
          <a:xfrm>
            <a:off x="9372600" y="3813048"/>
            <a:ext cx="822960" cy="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46" name="Text 33"/>
          <p:cNvSpPr txBox="1"/>
          <p:nvPr/>
        </p:nvSpPr>
        <p:spPr>
          <a:xfrm>
            <a:off x="9281160" y="33558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CSV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upsert</a:t>
            </a:r>
            <a:endParaRPr lang="en-US" sz="1000" dirty="0"/>
          </a:p>
        </p:txBody>
      </p:sp>
      <p:sp>
        <p:nvSpPr>
          <p:cNvPr id="47" name="Shape 34"/>
          <p:cNvSpPr/>
          <p:nvPr/>
        </p:nvSpPr>
        <p:spPr>
          <a:xfrm>
            <a:off x="457200" y="4892040"/>
            <a:ext cx="11274552" cy="1600200"/>
          </a:xfrm>
          <a:prstGeom prst="roundRect">
            <a:avLst>
              <a:gd name="adj" fmla="val 4571"/>
            </a:avLst>
          </a:prstGeom>
          <a:solidFill>
            <a:srgbClr val="F3F6FA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48" name="Text 35"/>
          <p:cNvSpPr txBox="1"/>
          <p:nvPr/>
        </p:nvSpPr>
        <p:spPr>
          <a:xfrm>
            <a:off x="685800" y="507492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option available</a:t>
            </a:r>
            <a:endParaRPr lang="en-US" sz="1600" dirty="0"/>
          </a:p>
        </p:txBody>
      </p:sp>
      <p:sp>
        <p:nvSpPr>
          <p:cNvPr id="49" name="Text 36"/>
          <p:cNvSpPr txBox="1"/>
          <p:nvPr/>
        </p:nvSpPr>
        <p:spPr>
          <a:xfrm>
            <a:off x="685800" y="6035040"/>
            <a:ext cx="1463040" cy="256032"/>
          </a:xfrm>
          <a:prstGeom prst="rect">
            <a:avLst/>
          </a:prstGeom>
          <a:solidFill>
            <a:srgbClr val="107C1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</a:t>
            </a:r>
            <a:endParaRPr lang="en-US" sz="900" dirty="0"/>
          </a:p>
        </p:txBody>
      </p:sp>
      <p:pic>
        <p:nvPicPr>
          <p:cNvPr id="50" name="Image 11" descr="Salesforc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91056" y="5246370"/>
            <a:ext cx="864608" cy="608076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3154680" y="590016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endParaRPr lang="en-US" sz="1100" dirty="0"/>
          </a:p>
        </p:txBody>
      </p:sp>
      <p:sp>
        <p:nvSpPr>
          <p:cNvPr id="52" name="Shape 38"/>
          <p:cNvSpPr/>
          <p:nvPr/>
        </p:nvSpPr>
        <p:spPr>
          <a:xfrm>
            <a:off x="4663440" y="5550408"/>
            <a:ext cx="2011680" cy="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headEnd type="triangle"/>
            <a:tailEnd type="triangle"/>
          </a:ln>
        </p:spPr>
      </p:sp>
      <p:sp>
        <p:nvSpPr>
          <p:cNvPr id="53" name="Text 39"/>
          <p:cNvSpPr txBox="1"/>
          <p:nvPr/>
        </p:nvSpPr>
        <p:spPr>
          <a:xfrm>
            <a:off x="4572000" y="50932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connection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(query &amp; update on demand)</a:t>
            </a:r>
            <a:endParaRPr lang="en-US" sz="1000" dirty="0"/>
          </a:p>
        </p:txBody>
      </p:sp>
      <p:pic>
        <p:nvPicPr>
          <p:cNvPr id="54" name="Image 12" descr="Databricks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7979" y="5262372"/>
            <a:ext cx="534442" cy="576072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6446520" y="58841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</a:t>
            </a:r>
            <a:endParaRPr lang="en-US" sz="1100" dirty="0"/>
          </a:p>
        </p:txBody>
      </p:sp>
      <p:sp>
        <p:nvSpPr>
          <p:cNvPr id="56" name="Text 41"/>
          <p:cNvSpPr txBox="1"/>
          <p:nvPr/>
        </p:nvSpPr>
        <p:spPr>
          <a:xfrm>
            <a:off x="8229600" y="509320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a direct Salesforce ↔ Databricks connection;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queries Databricks directly and tables are updated on demand – no intermediate files.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comparison &amp; POC 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three approaches stack up for the Salesforce feed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75895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011680"/>
                <a:gridCol w="2011680"/>
                <a:gridCol w="20116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state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(SQL → ADF → Function)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 future state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(DBX → ADLS → Bulk API)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option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(Direct SF ↔ DBX)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Components to run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 DB, ADF, Blob, Automation, Function App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Databricks + ADLS only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Databricks + Salesforce connector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Orchestration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ADF + Azure Automation schedule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Databricks Workflow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demand, driven from Salesforce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freshness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 (schedule set in Workflow)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 real-time / on query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 handling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Bulk API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Bulk API 2.0 (large batches)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 query/lookup; large writes need review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&amp; skills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 + ADF + Function code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PySpark / Python in one notebook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Connector config; Salesforce-side setup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risks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Many moving parts; hard to debug end to end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limits, auth (OAuth / Key Vault), retry logic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Licensing / connector availability, security review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417320"/>
            <a:ext cx="3410712" cy="3511296"/>
          </a:xfrm>
          <a:prstGeom prst="roundRect">
            <a:avLst>
              <a:gd name="adj" fmla="val 2145"/>
            </a:avLst>
          </a:prstGeom>
          <a:solidFill>
            <a:srgbClr val="F3F6FA"/>
          </a:solidFill>
          <a:ln w="9525">
            <a:solidFill>
              <a:srgbClr val="DDE3EA"/>
            </a:solidFill>
            <a:prstDash val="solid"/>
          </a:ln>
        </p:spPr>
      </p:sp>
      <p:pic>
        <p:nvPicPr>
          <p:cNvPr id="6" name="Image 0" descr="Databric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600200"/>
            <a:ext cx="384048" cy="413963"/>
          </a:xfrm>
          <a:prstGeom prst="rect">
            <a:avLst/>
          </a:prstGeom>
        </p:spPr>
      </p:pic>
      <p:pic>
        <p:nvPicPr>
          <p:cNvPr id="7" name="Image 1" descr="Salesfor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1581912"/>
            <a:ext cx="566928" cy="398719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738360" y="1600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next steps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8503920" y="2148840"/>
            <a:ext cx="3108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Salesforce Connected App (OAuth) and store secrets in Key Vault-backed secret scope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notebook: Delta → output file in ADLS Gen2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Bulk API 2.0 from Databricks (create job, upload CSV, close, poll status)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success / failed records back to a Delta table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as Databricks Workflow; compare run time &amp; cost vs current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direct-connection option in parallel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457200" y="525780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EAF3FB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11" name="Image 2" descr="Databrick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532120"/>
            <a:ext cx="411480" cy="44353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71600" y="534924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proceed with the proposed future state for the POC – it replaces ADF, Azure Automation and the Function App with one Databricks Workflow while keeping the proven Bulk API pattern. Assess the direct-connection option as a follow-up.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SDF 2.0 Modernization Check-in – Salesforce POC</dc:title>
  <dc:subject>PptxGenJS Presentation</dc:subject>
  <dc:creator>PptxGenJS</dc:creator>
  <cp:lastModifiedBy>PptxGenJS</cp:lastModifiedBy>
  <cp:revision>1</cp:revision>
  <dcterms:created xsi:type="dcterms:W3CDTF">2026-09-24T09:31:07Z</dcterms:created>
  <dcterms:modified xsi:type="dcterms:W3CDTF">2026-09-24T09:31:07Z</dcterms:modified>
</cp:coreProperties>
</file>