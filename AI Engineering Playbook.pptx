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audience. This deck covers what the AI Engineering Playbook is, how it works, and why it matters for engineering quality and consistency.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issue: AI tools are powerful but context-free. They don't know your team's standards, your naming conventions, your security requirements. Every prompt is a fresh 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of it as a permanent, reusable context layer. Instead of repeating rules in every prompt, you define them once and the agent picks them up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flow is simple: load standards first, ask questions second, generate third. The Rule Zero callout is the most important addition in v2 — the agent never silently fills in blanks.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playbook covers all five layers of a modern data and application stack. Each domain has its own CORE.md plus domain-specific modules. Patterns are copy-paste starting points for the most common tasks.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MASTER.md is the entry point. It tells the agent which layer files to load, in what order, and how the layers talk to each other. workspace.config.md is the environment configuration that prevents the agent from inventing names.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Rule Zero is the biggest change from v1. The agent is explicitly instructed to stop and ask whenever information is missing. If it must proceed with an assumption, it must label it clearly with a warning flag.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efficiency story is simple: standards enforced at generation time cost nothing to apply and save hours in review. The security and PII compliance rules alone justify the investment.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answers 'what exactly does the playbook enforce?' These are things that currently require a human reviewer to catch. With the playbook, they are correct on the first generation.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immediate action is filling in workspace.config.md — that's what makes the playbook operational rather than aspirational. Everything else is already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F3D"/>
        </a:solidFill>
      </p:bgPr>
    </p:bg>
    <p:spTree>
      <p:nvGrpSpPr>
        <p:cNvPr id="1" name=""/>
        <p:cNvGrpSpPr/>
        <p:nvPr/>
      </p:nvGrpSpPr>
      <p:grpSpPr>
        <a:xfrm>
          <a:off x="0" y="0"/>
          <a:ext cx="0" cy="0"/>
          <a:chOff x="0" y="0"/>
          <a:chExt cx="0" cy="0"/>
        </a:xfrm>
      </p:grpSpPr>
      <p:sp>
        <p:nvSpPr>
          <p:cNvPr id="2" name="Shape 0"/>
          <p:cNvSpPr/>
          <p:nvPr/>
        </p:nvSpPr>
        <p:spPr>
          <a:xfrm>
            <a:off x="6583680" y="0"/>
            <a:ext cx="2560320" cy="5143500"/>
          </a:xfrm>
          <a:prstGeom prst="rect">
            <a:avLst/>
          </a:prstGeom>
          <a:solidFill>
            <a:srgbClr val="028090">
              <a:alpha val="12000"/>
            </a:srgbClr>
          </a:solidFill>
          <a:ln w="12700">
            <a:solidFill>
              <a:srgbClr val="028090">
                <a:alpha val="12000"/>
              </a:srgbClr>
            </a:solidFill>
            <a:prstDash val="solid"/>
          </a:ln>
        </p:spPr>
      </p:sp>
      <p:sp>
        <p:nvSpPr>
          <p:cNvPr id="3" name="Shape 1"/>
          <p:cNvSpPr/>
          <p:nvPr/>
        </p:nvSpPr>
        <p:spPr>
          <a:xfrm>
            <a:off x="7863840" y="0"/>
            <a:ext cx="1280160" cy="5143500"/>
          </a:xfrm>
          <a:prstGeom prst="rect">
            <a:avLst/>
          </a:prstGeom>
          <a:solidFill>
            <a:srgbClr val="02C39A">
              <a:alpha val="18000"/>
            </a:srgbClr>
          </a:solidFill>
          <a:ln w="12700">
            <a:solidFill>
              <a:srgbClr val="02C39A">
                <a:alpha val="18000"/>
              </a:srgbClr>
            </a:solidFill>
            <a:prstDash val="solid"/>
          </a:ln>
        </p:spPr>
      </p:sp>
      <p:sp>
        <p:nvSpPr>
          <p:cNvPr id="4" name="Shape 2"/>
          <p:cNvSpPr/>
          <p:nvPr/>
        </p:nvSpPr>
        <p:spPr>
          <a:xfrm>
            <a:off x="0" y="4663440"/>
            <a:ext cx="9144000" cy="480060"/>
          </a:xfrm>
          <a:prstGeom prst="rect">
            <a:avLst/>
          </a:prstGeom>
          <a:solidFill>
            <a:srgbClr val="02C39A">
              <a:alpha val="25000"/>
            </a:srgbClr>
          </a:solidFill>
          <a:ln w="12700">
            <a:solidFill>
              <a:srgbClr val="02C39A">
                <a:alpha val="25000"/>
              </a:srgbClr>
            </a:solidFill>
            <a:prstDash val="solid"/>
          </a:ln>
        </p:spPr>
      </p:sp>
      <p:sp>
        <p:nvSpPr>
          <p:cNvPr id="5" name="Shape 3"/>
          <p:cNvSpPr/>
          <p:nvPr/>
        </p:nvSpPr>
        <p:spPr>
          <a:xfrm>
            <a:off x="502920" y="502920"/>
            <a:ext cx="2103120" cy="384048"/>
          </a:xfrm>
          <a:prstGeom prst="roundRect">
            <a:avLst>
              <a:gd name="adj" fmla="val 14286"/>
            </a:avLst>
          </a:prstGeom>
          <a:solidFill>
            <a:srgbClr val="02C39A"/>
          </a:solidFill>
          <a:ln w="12700">
            <a:solidFill>
              <a:srgbClr val="02C39A"/>
            </a:solidFill>
            <a:prstDash val="solid"/>
          </a:ln>
        </p:spPr>
      </p:sp>
      <p:sp>
        <p:nvSpPr>
          <p:cNvPr id="6" name="Text 4"/>
          <p:cNvSpPr/>
          <p:nvPr/>
        </p:nvSpPr>
        <p:spPr>
          <a:xfrm>
            <a:off x="502920" y="502920"/>
            <a:ext cx="2103120" cy="384048"/>
          </a:xfrm>
          <a:prstGeom prst="rect">
            <a:avLst/>
          </a:prstGeom>
          <a:noFill/>
          <a:ln/>
        </p:spPr>
        <p:txBody>
          <a:bodyPr wrap="square" lIns="0" tIns="0" rIns="0" bIns="0" rtlCol="0" anchor="ctr"/>
          <a:lstStyle/>
          <a:p>
            <a:pPr algn="ctr" indent="0" marL="0">
              <a:buNone/>
            </a:pPr>
            <a:r>
              <a:rPr lang="en-US" sz="850" b="1" dirty="0">
                <a:solidFill>
                  <a:srgbClr val="0F1F3D"/>
                </a:solidFill>
              </a:rPr>
              <a:t>DATA TEAM INITIATIVE</a:t>
            </a:r>
            <a:endParaRPr lang="en-US" sz="850" dirty="0"/>
          </a:p>
        </p:txBody>
      </p:sp>
      <p:sp>
        <p:nvSpPr>
          <p:cNvPr id="7" name="Text 5"/>
          <p:cNvSpPr/>
          <p:nvPr/>
        </p:nvSpPr>
        <p:spPr>
          <a:xfrm>
            <a:off x="502920" y="1188720"/>
            <a:ext cx="5943600" cy="2194560"/>
          </a:xfrm>
          <a:prstGeom prst="rect">
            <a:avLst/>
          </a:prstGeom>
          <a:noFill/>
          <a:ln/>
        </p:spPr>
        <p:txBody>
          <a:bodyPr wrap="square" lIns="0" tIns="0" rIns="0" bIns="0" rtlCol="0" anchor="ctr"/>
          <a:lstStyle/>
          <a:p>
            <a:pPr indent="0" marL="0">
              <a:lnSpc>
                <a:spcPct val="110000"/>
              </a:lnSpc>
              <a:buNone/>
            </a:pPr>
            <a:r>
              <a:rPr lang="en-US" sz="5000" b="1" dirty="0">
                <a:solidFill>
                  <a:srgbClr val="FFFFFF"/>
                </a:solidFill>
                <a:latin typeface="Cambria" pitchFamily="34" charset="0"/>
                <a:ea typeface="Cambria" pitchFamily="34" charset="-122"/>
                <a:cs typeface="Cambria" pitchFamily="34" charset="-120"/>
              </a:rPr>
              <a:t>AI Engineering</a:t>
            </a:r>
            <a:endParaRPr lang="en-US" sz="5000" dirty="0"/>
          </a:p>
          <a:p>
            <a:pPr indent="0" marL="0">
              <a:lnSpc>
                <a:spcPct val="110000"/>
              </a:lnSpc>
              <a:buNone/>
            </a:pPr>
            <a:r>
              <a:rPr lang="en-US" sz="5000" b="1" dirty="0">
                <a:solidFill>
                  <a:srgbClr val="FFFFFF"/>
                </a:solidFill>
                <a:latin typeface="Cambria" pitchFamily="34" charset="0"/>
                <a:ea typeface="Cambria" pitchFamily="34" charset="-122"/>
                <a:cs typeface="Cambria" pitchFamily="34" charset="-120"/>
              </a:rPr>
              <a:t>Playbook</a:t>
            </a:r>
            <a:endParaRPr lang="en-US" sz="5000" dirty="0"/>
          </a:p>
        </p:txBody>
      </p:sp>
      <p:sp>
        <p:nvSpPr>
          <p:cNvPr id="8" name="Text 6"/>
          <p:cNvSpPr/>
          <p:nvPr/>
        </p:nvSpPr>
        <p:spPr>
          <a:xfrm>
            <a:off x="502920" y="3429000"/>
            <a:ext cx="5943600" cy="822960"/>
          </a:xfrm>
          <a:prstGeom prst="rect">
            <a:avLst/>
          </a:prstGeom>
          <a:noFill/>
          <a:ln/>
        </p:spPr>
        <p:txBody>
          <a:bodyPr wrap="square" lIns="0" tIns="0" rIns="0" bIns="0" rtlCol="0" anchor="ctr"/>
          <a:lstStyle/>
          <a:p>
            <a:pPr indent="0" marL="0">
              <a:lnSpc>
                <a:spcPct val="140000"/>
              </a:lnSpc>
              <a:buNone/>
            </a:pPr>
            <a:r>
              <a:rPr lang="en-US" sz="1400" dirty="0">
                <a:solidFill>
                  <a:srgbClr val="E8F1F5"/>
                </a:solidFill>
                <a:latin typeface="Calibri" pitchFamily="34" charset="0"/>
                <a:ea typeface="Calibri" pitchFamily="34" charset="-122"/>
                <a:cs typeface="Calibri" pitchFamily="34" charset="-120"/>
              </a:rPr>
              <a:t>Standardised guidance for AI-assisted development</a:t>
            </a:r>
            <a:endParaRPr lang="en-US" sz="1400" dirty="0"/>
          </a:p>
          <a:p>
            <a:pPr indent="0" marL="0">
              <a:lnSpc>
                <a:spcPct val="140000"/>
              </a:lnSpc>
              <a:buNone/>
            </a:pPr>
            <a:r>
              <a:rPr lang="en-US" sz="1400" dirty="0">
                <a:solidFill>
                  <a:srgbClr val="E8F1F5"/>
                </a:solidFill>
                <a:latin typeface="Calibri" pitchFamily="34" charset="0"/>
                <a:ea typeface="Calibri" pitchFamily="34" charset="-122"/>
                <a:cs typeface="Calibri" pitchFamily="34" charset="-120"/>
              </a:rPr>
              <a:t>across Data · API · UI · Fabric · Databricks</a:t>
            </a:r>
            <a:endParaRPr lang="en-US" sz="1400" dirty="0"/>
          </a:p>
        </p:txBody>
      </p:sp>
      <p:sp>
        <p:nvSpPr>
          <p:cNvPr id="9" name="Text 7"/>
          <p:cNvSpPr/>
          <p:nvPr/>
        </p:nvSpPr>
        <p:spPr>
          <a:xfrm>
            <a:off x="502920" y="4617720"/>
            <a:ext cx="1371600" cy="347472"/>
          </a:xfrm>
          <a:prstGeom prst="rect">
            <a:avLst/>
          </a:prstGeom>
          <a:noFill/>
          <a:ln/>
        </p:spPr>
        <p:txBody>
          <a:bodyPr wrap="square" lIns="0" tIns="0" rIns="0" bIns="0" rtlCol="0" anchor="ctr"/>
          <a:lstStyle/>
          <a:p>
            <a:pPr indent="0" marL="0">
              <a:buNone/>
            </a:pPr>
            <a:r>
              <a:rPr lang="en-US" sz="1000" dirty="0">
                <a:solidFill>
                  <a:srgbClr val="8FB3CC"/>
                </a:solidFill>
                <a:latin typeface="Calibri" pitchFamily="34" charset="0"/>
                <a:ea typeface="Calibri" pitchFamily="34" charset="-122"/>
                <a:cs typeface="Calibri" pitchFamily="34" charset="-120"/>
              </a:rPr>
              <a:t>Version 2.0</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F3D"/>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1100" b="1" spc="300" kern="0" dirty="0">
                <a:solidFill>
                  <a:srgbClr val="02C39A"/>
                </a:solidFill>
                <a:latin typeface="Calibri" pitchFamily="34" charset="0"/>
                <a:ea typeface="Calibri" pitchFamily="34" charset="-122"/>
                <a:cs typeface="Calibri" pitchFamily="34" charset="-120"/>
              </a:rPr>
              <a:t>The Problem</a:t>
            </a:r>
            <a:endParaRPr lang="en-US" sz="1100" dirty="0"/>
          </a:p>
        </p:txBody>
      </p:sp>
      <p:sp>
        <p:nvSpPr>
          <p:cNvPr id="3" name="Text 1"/>
          <p:cNvSpPr/>
          <p:nvPr/>
        </p:nvSpPr>
        <p:spPr>
          <a:xfrm>
            <a:off x="457200" y="731520"/>
            <a:ext cx="5486400" cy="1463040"/>
          </a:xfrm>
          <a:prstGeom prst="rect">
            <a:avLst/>
          </a:prstGeom>
          <a:noFill/>
          <a:ln/>
        </p:spPr>
        <p:txBody>
          <a:bodyPr wrap="square" lIns="0" tIns="0" rIns="0" bIns="0" rtlCol="0" anchor="ctr"/>
          <a:lstStyle/>
          <a:p>
            <a:pPr indent="0" marL="0">
              <a:lnSpc>
                <a:spcPct val="115000"/>
              </a:lnSpc>
              <a:buNone/>
            </a:pPr>
            <a:r>
              <a:rPr lang="en-US" sz="3800" b="1" dirty="0">
                <a:solidFill>
                  <a:srgbClr val="FFFFFF"/>
                </a:solidFill>
                <a:latin typeface="Cambria" pitchFamily="34" charset="0"/>
                <a:ea typeface="Cambria" pitchFamily="34" charset="-122"/>
                <a:cs typeface="Cambria" pitchFamily="34" charset="-120"/>
              </a:rPr>
              <a:t>AI Generates.</a:t>
            </a:r>
            <a:endParaRPr lang="en-US" sz="3800" dirty="0"/>
          </a:p>
          <a:p>
            <a:pPr indent="0" marL="0">
              <a:lnSpc>
                <a:spcPct val="115000"/>
              </a:lnSpc>
              <a:buNone/>
            </a:pPr>
            <a:r>
              <a:rPr lang="en-US" sz="3800" b="1" dirty="0">
                <a:solidFill>
                  <a:srgbClr val="FFFFFF"/>
                </a:solidFill>
                <a:latin typeface="Cambria" pitchFamily="34" charset="0"/>
                <a:ea typeface="Cambria" pitchFamily="34" charset="-122"/>
                <a:cs typeface="Cambria" pitchFamily="34" charset="-120"/>
              </a:rPr>
              <a:t>Quality Varies.</a:t>
            </a:r>
            <a:endParaRPr lang="en-US" sz="3800" dirty="0"/>
          </a:p>
        </p:txBody>
      </p:sp>
      <p:sp>
        <p:nvSpPr>
          <p:cNvPr id="4" name="Shape 2"/>
          <p:cNvSpPr/>
          <p:nvPr/>
        </p:nvSpPr>
        <p:spPr>
          <a:xfrm>
            <a:off x="457200" y="2423160"/>
            <a:ext cx="2651760" cy="2286000"/>
          </a:xfrm>
          <a:prstGeom prst="roundRect">
            <a:avLst>
              <a:gd name="adj" fmla="val 4000"/>
            </a:avLst>
          </a:prstGeom>
          <a:solidFill>
            <a:srgbClr val="0D3060"/>
          </a:solidFill>
          <a:ln w="12700">
            <a:solidFill>
              <a:srgbClr val="028090">
                <a:alpha val="40000"/>
              </a:srgbClr>
            </a:solidFill>
            <a:prstDash val="solid"/>
          </a:ln>
          <a:effectLst>
            <a:outerShdw sx="100000" sy="100000" kx="0" ky="0" algn="bl" rotWithShape="0" blurRad="101600" dist="38100" dir="2700000">
              <a:srgbClr val="000000">
                <a:alpha val="18000"/>
              </a:srgbClr>
            </a:outerShdw>
          </a:effectLst>
        </p:spPr>
      </p:sp>
      <p:pic>
        <p:nvPicPr>
          <p:cNvPr id="5" name="Image 0" descr="preencoded.png">    </p:cNvPr>
          <p:cNvPicPr>
            <a:picLocks noChangeAspect="1"/>
          </p:cNvPicPr>
          <p:nvPr/>
        </p:nvPicPr>
        <p:blipFill>
          <a:blip r:embed="rId1"/>
          <a:stretch>
            <a:fillRect/>
          </a:stretch>
        </p:blipFill>
        <p:spPr>
          <a:xfrm>
            <a:off x="640080" y="2606040"/>
            <a:ext cx="347472" cy="347472"/>
          </a:xfrm>
          <a:prstGeom prst="rect">
            <a:avLst/>
          </a:prstGeom>
        </p:spPr>
      </p:pic>
      <p:sp>
        <p:nvSpPr>
          <p:cNvPr id="6" name="Text 3"/>
          <p:cNvSpPr/>
          <p:nvPr/>
        </p:nvSpPr>
        <p:spPr>
          <a:xfrm>
            <a:off x="594360" y="2999232"/>
            <a:ext cx="2377440" cy="38404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Inconsistent Output</a:t>
            </a:r>
            <a:endParaRPr lang="en-US" sz="1250" dirty="0"/>
          </a:p>
        </p:txBody>
      </p:sp>
      <p:sp>
        <p:nvSpPr>
          <p:cNvPr id="7" name="Text 4"/>
          <p:cNvSpPr/>
          <p:nvPr/>
        </p:nvSpPr>
        <p:spPr>
          <a:xfrm>
            <a:off x="594360" y="3401568"/>
            <a:ext cx="2377440" cy="1143000"/>
          </a:xfrm>
          <a:prstGeom prst="rect">
            <a:avLst/>
          </a:prstGeom>
          <a:noFill/>
          <a:ln/>
        </p:spPr>
        <p:txBody>
          <a:bodyPr wrap="square" lIns="0" tIns="0" rIns="0" bIns="0" rtlCol="0" anchor="ctr"/>
          <a:lstStyle/>
          <a:p>
            <a:pPr indent="0" marL="0">
              <a:lnSpc>
                <a:spcPct val="130000"/>
              </a:lnSpc>
              <a:buNone/>
            </a:pPr>
            <a:r>
              <a:rPr lang="en-US" sz="1050" dirty="0">
                <a:solidFill>
                  <a:srgbClr val="E8F1F5"/>
                </a:solidFill>
                <a:latin typeface="Calibri" pitchFamily="34" charset="0"/>
                <a:ea typeface="Calibri" pitchFamily="34" charset="-122"/>
                <a:cs typeface="Calibri" pitchFamily="34" charset="-120"/>
              </a:rPr>
              <a:t>Every developer, every prompt, every AI tool produces a different structure, naming style, and architecture.</a:t>
            </a:r>
            <a:endParaRPr lang="en-US" sz="1050" dirty="0"/>
          </a:p>
        </p:txBody>
      </p:sp>
      <p:sp>
        <p:nvSpPr>
          <p:cNvPr id="8" name="Shape 5"/>
          <p:cNvSpPr/>
          <p:nvPr/>
        </p:nvSpPr>
        <p:spPr>
          <a:xfrm>
            <a:off x="3355848" y="2423160"/>
            <a:ext cx="2651760" cy="2286000"/>
          </a:xfrm>
          <a:prstGeom prst="roundRect">
            <a:avLst>
              <a:gd name="adj" fmla="val 4000"/>
            </a:avLst>
          </a:prstGeom>
          <a:solidFill>
            <a:srgbClr val="0D3060"/>
          </a:solidFill>
          <a:ln w="12700">
            <a:solidFill>
              <a:srgbClr val="028090">
                <a:alpha val="40000"/>
              </a:srgbClr>
            </a:solidFill>
            <a:prstDash val="solid"/>
          </a:ln>
          <a:effectLst>
            <a:outerShdw sx="100000" sy="100000" kx="0" ky="0" algn="bl" rotWithShape="0" blurRad="101600" dist="38100" dir="2700000">
              <a:srgbClr val="000000">
                <a:alpha val="18000"/>
              </a:srgbClr>
            </a:outerShdw>
          </a:effectLst>
        </p:spPr>
      </p:sp>
      <p:pic>
        <p:nvPicPr>
          <p:cNvPr id="9" name="Image 1" descr="preencoded.png">    </p:cNvPr>
          <p:cNvPicPr>
            <a:picLocks noChangeAspect="1"/>
          </p:cNvPicPr>
          <p:nvPr/>
        </p:nvPicPr>
        <p:blipFill>
          <a:blip r:embed="rId2"/>
          <a:stretch>
            <a:fillRect/>
          </a:stretch>
        </p:blipFill>
        <p:spPr>
          <a:xfrm>
            <a:off x="3538728" y="2606040"/>
            <a:ext cx="347472" cy="347472"/>
          </a:xfrm>
          <a:prstGeom prst="rect">
            <a:avLst/>
          </a:prstGeom>
        </p:spPr>
      </p:pic>
      <p:sp>
        <p:nvSpPr>
          <p:cNvPr id="10" name="Text 6"/>
          <p:cNvSpPr/>
          <p:nvPr/>
        </p:nvSpPr>
        <p:spPr>
          <a:xfrm>
            <a:off x="3493008" y="2999232"/>
            <a:ext cx="2377440" cy="38404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No Team Standards</a:t>
            </a:r>
            <a:endParaRPr lang="en-US" sz="1250" dirty="0"/>
          </a:p>
        </p:txBody>
      </p:sp>
      <p:sp>
        <p:nvSpPr>
          <p:cNvPr id="11" name="Text 7"/>
          <p:cNvSpPr/>
          <p:nvPr/>
        </p:nvSpPr>
        <p:spPr>
          <a:xfrm>
            <a:off x="3493008" y="3401568"/>
            <a:ext cx="2377440" cy="1143000"/>
          </a:xfrm>
          <a:prstGeom prst="rect">
            <a:avLst/>
          </a:prstGeom>
          <a:noFill/>
          <a:ln/>
        </p:spPr>
        <p:txBody>
          <a:bodyPr wrap="square" lIns="0" tIns="0" rIns="0" bIns="0" rtlCol="0" anchor="ctr"/>
          <a:lstStyle/>
          <a:p>
            <a:pPr indent="0" marL="0">
              <a:lnSpc>
                <a:spcPct val="130000"/>
              </a:lnSpc>
              <a:buNone/>
            </a:pPr>
            <a:r>
              <a:rPr lang="en-US" sz="1050" dirty="0">
                <a:solidFill>
                  <a:srgbClr val="E8F1F5"/>
                </a:solidFill>
                <a:latin typeface="Calibri" pitchFamily="34" charset="0"/>
                <a:ea typeface="Calibri" pitchFamily="34" charset="-122"/>
                <a:cs typeface="Calibri" pitchFamily="34" charset="-120"/>
              </a:rPr>
              <a:t>AI has no idea your team uses snake_case, soft deletes, Pydantic v2, or that PII must never land in Gold tables.</a:t>
            </a:r>
            <a:endParaRPr lang="en-US" sz="1050" dirty="0"/>
          </a:p>
        </p:txBody>
      </p:sp>
      <p:sp>
        <p:nvSpPr>
          <p:cNvPr id="12" name="Shape 8"/>
          <p:cNvSpPr/>
          <p:nvPr/>
        </p:nvSpPr>
        <p:spPr>
          <a:xfrm>
            <a:off x="6254496" y="2423160"/>
            <a:ext cx="2651760" cy="2286000"/>
          </a:xfrm>
          <a:prstGeom prst="roundRect">
            <a:avLst>
              <a:gd name="adj" fmla="val 4000"/>
            </a:avLst>
          </a:prstGeom>
          <a:solidFill>
            <a:srgbClr val="0D3060"/>
          </a:solidFill>
          <a:ln w="12700">
            <a:solidFill>
              <a:srgbClr val="028090">
                <a:alpha val="40000"/>
              </a:srgbClr>
            </a:solidFill>
            <a:prstDash val="solid"/>
          </a:ln>
          <a:effectLst>
            <a:outerShdw sx="100000" sy="100000" kx="0" ky="0" algn="bl" rotWithShape="0" blurRad="101600" dist="38100" dir="2700000">
              <a:srgbClr val="000000">
                <a:alpha val="18000"/>
              </a:srgbClr>
            </a:outerShdw>
          </a:effectLst>
        </p:spPr>
      </p:sp>
      <p:pic>
        <p:nvPicPr>
          <p:cNvPr id="13" name="Image 2" descr="preencoded.png">    </p:cNvPr>
          <p:cNvPicPr>
            <a:picLocks noChangeAspect="1"/>
          </p:cNvPicPr>
          <p:nvPr/>
        </p:nvPicPr>
        <p:blipFill>
          <a:blip r:embed="rId3"/>
          <a:stretch>
            <a:fillRect/>
          </a:stretch>
        </p:blipFill>
        <p:spPr>
          <a:xfrm>
            <a:off x="6437376" y="2606040"/>
            <a:ext cx="347472" cy="347472"/>
          </a:xfrm>
          <a:prstGeom prst="rect">
            <a:avLst/>
          </a:prstGeom>
        </p:spPr>
      </p:pic>
      <p:sp>
        <p:nvSpPr>
          <p:cNvPr id="14" name="Text 9"/>
          <p:cNvSpPr/>
          <p:nvPr/>
        </p:nvSpPr>
        <p:spPr>
          <a:xfrm>
            <a:off x="6391656" y="2999232"/>
            <a:ext cx="2377440" cy="38404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Silent Tech Debt</a:t>
            </a:r>
            <a:endParaRPr lang="en-US" sz="1250" dirty="0"/>
          </a:p>
        </p:txBody>
      </p:sp>
      <p:sp>
        <p:nvSpPr>
          <p:cNvPr id="15" name="Text 10"/>
          <p:cNvSpPr/>
          <p:nvPr/>
        </p:nvSpPr>
        <p:spPr>
          <a:xfrm>
            <a:off x="6391656" y="3401568"/>
            <a:ext cx="2377440" cy="1143000"/>
          </a:xfrm>
          <a:prstGeom prst="rect">
            <a:avLst/>
          </a:prstGeom>
          <a:noFill/>
          <a:ln/>
        </p:spPr>
        <p:txBody>
          <a:bodyPr wrap="square" lIns="0" tIns="0" rIns="0" bIns="0" rtlCol="0" anchor="ctr"/>
          <a:lstStyle/>
          <a:p>
            <a:pPr indent="0" marL="0">
              <a:lnSpc>
                <a:spcPct val="130000"/>
              </a:lnSpc>
              <a:buNone/>
            </a:pPr>
            <a:r>
              <a:rPr lang="en-US" sz="1050" dirty="0">
                <a:solidFill>
                  <a:srgbClr val="E8F1F5"/>
                </a:solidFill>
                <a:latin typeface="Calibri" pitchFamily="34" charset="0"/>
                <a:ea typeface="Calibri" pitchFamily="34" charset="-122"/>
                <a:cs typeface="Calibri" pitchFamily="34" charset="-120"/>
              </a:rPr>
              <a:t>Code works on day one. But it doesn't follow your conventions, security rules, or data modeling expectations.</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F3D"/>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1100" b="1" spc="300" kern="0" dirty="0">
                <a:solidFill>
                  <a:srgbClr val="02C39A"/>
                </a:solidFill>
                <a:latin typeface="Calibri" pitchFamily="34" charset="0"/>
                <a:ea typeface="Calibri" pitchFamily="34" charset="-122"/>
                <a:cs typeface="Calibri" pitchFamily="34" charset="-120"/>
              </a:rPr>
              <a:t>The Solution</a:t>
            </a:r>
            <a:endParaRPr lang="en-US" sz="1100" dirty="0"/>
          </a:p>
        </p:txBody>
      </p:sp>
      <p:sp>
        <p:nvSpPr>
          <p:cNvPr id="3" name="Text 1"/>
          <p:cNvSpPr/>
          <p:nvPr/>
        </p:nvSpPr>
        <p:spPr>
          <a:xfrm>
            <a:off x="457200" y="731520"/>
            <a:ext cx="5029200" cy="1463040"/>
          </a:xfrm>
          <a:prstGeom prst="rect">
            <a:avLst/>
          </a:prstGeom>
          <a:noFill/>
          <a:ln/>
        </p:spPr>
        <p:txBody>
          <a:bodyPr wrap="square" lIns="0" tIns="0" rIns="0" bIns="0" rtlCol="0" anchor="ctr"/>
          <a:lstStyle/>
          <a:p>
            <a:pPr indent="0" marL="0">
              <a:lnSpc>
                <a:spcPct val="115000"/>
              </a:lnSpc>
              <a:buNone/>
            </a:pPr>
            <a:r>
              <a:rPr lang="en-US" sz="3600" b="1" dirty="0">
                <a:solidFill>
                  <a:srgbClr val="FFFFFF"/>
                </a:solidFill>
                <a:latin typeface="Cambria" pitchFamily="34" charset="0"/>
                <a:ea typeface="Cambria" pitchFamily="34" charset="-122"/>
                <a:cs typeface="Cambria" pitchFamily="34" charset="-120"/>
              </a:rPr>
              <a:t>A Reusable AI</a:t>
            </a:r>
            <a:endParaRPr lang="en-US" sz="3600" dirty="0"/>
          </a:p>
          <a:p>
            <a:pPr indent="0" marL="0">
              <a:lnSpc>
                <a:spcPct val="115000"/>
              </a:lnSpc>
              <a:buNone/>
            </a:pPr>
            <a:r>
              <a:rPr lang="en-US" sz="3600" b="1" dirty="0">
                <a:solidFill>
                  <a:srgbClr val="FFFFFF"/>
                </a:solidFill>
                <a:latin typeface="Cambria" pitchFamily="34" charset="0"/>
                <a:ea typeface="Cambria" pitchFamily="34" charset="-122"/>
                <a:cs typeface="Cambria" pitchFamily="34" charset="-120"/>
              </a:rPr>
              <a:t>Engineering Playbook</a:t>
            </a:r>
            <a:endParaRPr lang="en-US" sz="3600" dirty="0"/>
          </a:p>
        </p:txBody>
      </p:sp>
      <p:sp>
        <p:nvSpPr>
          <p:cNvPr id="4" name="Shape 2"/>
          <p:cNvSpPr/>
          <p:nvPr/>
        </p:nvSpPr>
        <p:spPr>
          <a:xfrm>
            <a:off x="457200" y="2377440"/>
            <a:ext cx="4114800" cy="2377440"/>
          </a:xfrm>
          <a:prstGeom prst="roundRect">
            <a:avLst>
              <a:gd name="adj" fmla="val 3846"/>
            </a:avLst>
          </a:prstGeom>
          <a:solidFill>
            <a:srgbClr val="0D3060"/>
          </a:solidFill>
          <a:ln w="12700">
            <a:solidFill>
              <a:srgbClr val="02C39A">
                <a:alpha val="50000"/>
              </a:srgbClr>
            </a:solidFill>
            <a:prstDash val="solid"/>
          </a:ln>
          <a:effectLst>
            <a:outerShdw sx="100000" sy="100000" kx="0" ky="0" algn="bl" rotWithShape="0" blurRad="101600" dist="38100" dir="2700000">
              <a:srgbClr val="000000">
                <a:alpha val="18000"/>
              </a:srgbClr>
            </a:outerShdw>
          </a:effectLst>
        </p:spPr>
      </p:sp>
      <p:pic>
        <p:nvPicPr>
          <p:cNvPr id="5" name="Image 0" descr="preencoded.png">    </p:cNvPr>
          <p:cNvPicPr>
            <a:picLocks noChangeAspect="1"/>
          </p:cNvPicPr>
          <p:nvPr/>
        </p:nvPicPr>
        <p:blipFill>
          <a:blip r:embed="rId1"/>
          <a:stretch>
            <a:fillRect/>
          </a:stretch>
        </p:blipFill>
        <p:spPr>
          <a:xfrm>
            <a:off x="731520" y="2560320"/>
            <a:ext cx="502920" cy="502920"/>
          </a:xfrm>
          <a:prstGeom prst="rect">
            <a:avLst/>
          </a:prstGeom>
        </p:spPr>
      </p:pic>
      <p:sp>
        <p:nvSpPr>
          <p:cNvPr id="6" name="Text 3"/>
          <p:cNvSpPr/>
          <p:nvPr/>
        </p:nvSpPr>
        <p:spPr>
          <a:xfrm>
            <a:off x="1325880" y="2578608"/>
            <a:ext cx="3108960" cy="457200"/>
          </a:xfrm>
          <a:prstGeom prst="rect">
            <a:avLst/>
          </a:prstGeom>
          <a:noFill/>
          <a:ln/>
        </p:spPr>
        <p:txBody>
          <a:bodyPr wrap="square" lIns="0" tIns="0" rIns="0" bIns="0" rtlCol="0" anchor="ctr"/>
          <a:lstStyle/>
          <a:p>
            <a:pPr indent="0" marL="0">
              <a:buNone/>
            </a:pPr>
            <a:r>
              <a:rPr lang="en-US" sz="1400" b="1" dirty="0">
                <a:solidFill>
                  <a:srgbClr val="02C39A"/>
                </a:solidFill>
                <a:latin typeface="Calibri" pitchFamily="34" charset="0"/>
                <a:ea typeface="Calibri" pitchFamily="34" charset="-122"/>
                <a:cs typeface="Calibri" pitchFamily="34" charset="-120"/>
              </a:rPr>
              <a:t>What it is</a:t>
            </a:r>
            <a:endParaRPr lang="en-US" sz="1400" dirty="0"/>
          </a:p>
        </p:txBody>
      </p:sp>
      <p:sp>
        <p:nvSpPr>
          <p:cNvPr id="7" name="Text 4"/>
          <p:cNvSpPr/>
          <p:nvPr/>
        </p:nvSpPr>
        <p:spPr>
          <a:xfrm>
            <a:off x="685800" y="3090672"/>
            <a:ext cx="3749040" cy="1508760"/>
          </a:xfrm>
          <a:prstGeom prst="rect">
            <a:avLst/>
          </a:prstGeom>
          <a:noFill/>
          <a:ln/>
        </p:spPr>
        <p:txBody>
          <a:bodyPr wrap="square" lIns="0" tIns="0" rIns="0" bIns="0" rtlCol="0" anchor="ctr"/>
          <a:lstStyle/>
          <a:p>
            <a:pPr indent="0" marL="0">
              <a:lnSpc>
                <a:spcPct val="140000"/>
              </a:lnSpc>
              <a:buNone/>
            </a:pPr>
            <a:r>
              <a:rPr lang="en-US" sz="1100" dirty="0">
                <a:solidFill>
                  <a:srgbClr val="E8F1F5"/>
                </a:solidFill>
                <a:latin typeface="Calibri" pitchFamily="34" charset="0"/>
                <a:ea typeface="Calibri" pitchFamily="34" charset="-122"/>
                <a:cs typeface="Calibri" pitchFamily="34" charset="-120"/>
              </a:rPr>
              <a:t>A structured set of Markdown files that define your team's standards — given to an AI agent before it generates anything. The agent reads, understands, then builds to your exact specifications.</a:t>
            </a:r>
            <a:endParaRPr lang="en-US" sz="1100" dirty="0"/>
          </a:p>
        </p:txBody>
      </p:sp>
      <p:sp>
        <p:nvSpPr>
          <p:cNvPr id="8" name="Shape 5"/>
          <p:cNvSpPr/>
          <p:nvPr/>
        </p:nvSpPr>
        <p:spPr>
          <a:xfrm>
            <a:off x="4846320" y="2377440"/>
            <a:ext cx="3840480" cy="2377440"/>
          </a:xfrm>
          <a:prstGeom prst="roundRect">
            <a:avLst>
              <a:gd name="adj" fmla="val 3846"/>
            </a:avLst>
          </a:prstGeom>
          <a:solidFill>
            <a:srgbClr val="0D3060"/>
          </a:solidFill>
          <a:ln w="12700">
            <a:solidFill>
              <a:srgbClr val="028090">
                <a:alpha val="50000"/>
              </a:srgbClr>
            </a:solidFill>
            <a:prstDash val="solid"/>
          </a:ln>
          <a:effectLst>
            <a:outerShdw sx="100000" sy="100000" kx="0" ky="0" algn="bl" rotWithShape="0" blurRad="101600" dist="38100" dir="2700000">
              <a:srgbClr val="000000">
                <a:alpha val="18000"/>
              </a:srgbClr>
            </a:outerShdw>
          </a:effectLst>
        </p:spPr>
      </p:sp>
      <p:pic>
        <p:nvPicPr>
          <p:cNvPr id="9" name="Image 1" descr="preencoded.png">    </p:cNvPr>
          <p:cNvPicPr>
            <a:picLocks noChangeAspect="1"/>
          </p:cNvPicPr>
          <p:nvPr/>
        </p:nvPicPr>
        <p:blipFill>
          <a:blip r:embed="rId2"/>
          <a:stretch>
            <a:fillRect/>
          </a:stretch>
        </p:blipFill>
        <p:spPr>
          <a:xfrm>
            <a:off x="5074920" y="2560320"/>
            <a:ext cx="457200" cy="457200"/>
          </a:xfrm>
          <a:prstGeom prst="rect">
            <a:avLst/>
          </a:prstGeom>
        </p:spPr>
      </p:pic>
      <p:sp>
        <p:nvSpPr>
          <p:cNvPr id="10" name="Text 6"/>
          <p:cNvSpPr/>
          <p:nvPr/>
        </p:nvSpPr>
        <p:spPr>
          <a:xfrm>
            <a:off x="5623560" y="2578608"/>
            <a:ext cx="2926080" cy="4572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What makes it different</a:t>
            </a:r>
            <a:endParaRPr lang="en-US" sz="1400" dirty="0"/>
          </a:p>
        </p:txBody>
      </p:sp>
      <p:sp>
        <p:nvSpPr>
          <p:cNvPr id="11" name="Text 7"/>
          <p:cNvSpPr/>
          <p:nvPr/>
        </p:nvSpPr>
        <p:spPr>
          <a:xfrm>
            <a:off x="5074920" y="3090672"/>
            <a:ext cx="3429000" cy="1508760"/>
          </a:xfrm>
          <a:prstGeom prst="rect">
            <a:avLst/>
          </a:prstGeom>
          <a:noFill/>
          <a:ln/>
        </p:spPr>
        <p:txBody>
          <a:bodyPr wrap="square" lIns="0" tIns="0" rIns="0" bIns="0" rtlCol="0" anchor="ctr"/>
          <a:lstStyle/>
          <a:p>
            <a:pPr indent="0" marL="0">
              <a:lnSpc>
                <a:spcPct val="150000"/>
              </a:lnSpc>
              <a:buNone/>
            </a:pPr>
            <a:r>
              <a:rPr lang="en-US" sz="1050" b="1" dirty="0">
                <a:solidFill>
                  <a:srgbClr val="02C39A"/>
                </a:solidFill>
                <a:latin typeface="Calibri" pitchFamily="34" charset="0"/>
                <a:ea typeface="Calibri" pitchFamily="34" charset="-122"/>
                <a:cs typeface="Calibri" pitchFamily="34" charset="-120"/>
              </a:rPr>
              <a:t>→  </a:t>
            </a:r>
            <a:pPr indent="0" marL="0">
              <a:lnSpc>
                <a:spcPct val="150000"/>
              </a:lnSpc>
              <a:buNone/>
            </a:pPr>
            <a:r>
              <a:rPr lang="en-US" sz="1050" dirty="0">
                <a:solidFill>
                  <a:srgbClr val="E8F1F5"/>
                </a:solidFill>
                <a:latin typeface="Calibri" pitchFamily="34" charset="0"/>
                <a:ea typeface="Calibri" pitchFamily="34" charset="-122"/>
                <a:cs typeface="Calibri" pitchFamily="34" charset="-120"/>
              </a:rPr>
              <a:t>Not prompting — it's a standard that travels with every prompt
</a:t>
            </a:r>
            <a:pPr indent="0" marL="0">
              <a:lnSpc>
                <a:spcPct val="150000"/>
              </a:lnSpc>
              <a:buNone/>
            </a:pPr>
            <a:r>
              <a:rPr lang="en-US" sz="1050" b="1" dirty="0">
                <a:solidFill>
                  <a:srgbClr val="02C39A"/>
                </a:solidFill>
                <a:latin typeface="Calibri" pitchFamily="34" charset="0"/>
                <a:ea typeface="Calibri" pitchFamily="34" charset="-122"/>
                <a:cs typeface="Calibri" pitchFamily="34" charset="-120"/>
              </a:rPr>
              <a:t>→  </a:t>
            </a:r>
            <a:pPr indent="0" marL="0">
              <a:lnSpc>
                <a:spcPct val="150000"/>
              </a:lnSpc>
              <a:buNone/>
            </a:pPr>
            <a:r>
              <a:rPr lang="en-US" sz="1050" dirty="0">
                <a:solidFill>
                  <a:srgbClr val="E8F1F5"/>
                </a:solidFill>
                <a:latin typeface="Calibri" pitchFamily="34" charset="0"/>
                <a:ea typeface="Calibri" pitchFamily="34" charset="-122"/>
                <a:cs typeface="Calibri" pitchFamily="34" charset="-120"/>
              </a:rPr>
              <a:t>Version-controlled alongside your codebase
</a:t>
            </a:r>
            <a:pPr indent="0" marL="0">
              <a:lnSpc>
                <a:spcPct val="150000"/>
              </a:lnSpc>
              <a:buNone/>
            </a:pPr>
            <a:r>
              <a:rPr lang="en-US" sz="1050" b="1" dirty="0">
                <a:solidFill>
                  <a:srgbClr val="02C39A"/>
                </a:solidFill>
                <a:latin typeface="Calibri" pitchFamily="34" charset="0"/>
                <a:ea typeface="Calibri" pitchFamily="34" charset="-122"/>
                <a:cs typeface="Calibri" pitchFamily="34" charset="-120"/>
              </a:rPr>
              <a:t>→  </a:t>
            </a:r>
            <a:pPr indent="0" marL="0">
              <a:lnSpc>
                <a:spcPct val="150000"/>
              </a:lnSpc>
              <a:buNone/>
            </a:pPr>
            <a:r>
              <a:rPr lang="en-US" sz="1050" dirty="0">
                <a:solidFill>
                  <a:srgbClr val="E8F1F5"/>
                </a:solidFill>
                <a:latin typeface="Calibri" pitchFamily="34" charset="0"/>
                <a:ea typeface="Calibri" pitchFamily="34" charset="-122"/>
                <a:cs typeface="Calibri" pitchFamily="34" charset="-120"/>
              </a:rPr>
              <a:t>Modular — load only what's relevant to the task
</a:t>
            </a:r>
            <a:pPr indent="0" marL="0">
              <a:lnSpc>
                <a:spcPct val="150000"/>
              </a:lnSpc>
              <a:buNone/>
            </a:pPr>
            <a:r>
              <a:rPr lang="en-US" sz="1050" b="1" dirty="0">
                <a:solidFill>
                  <a:srgbClr val="02C39A"/>
                </a:solidFill>
                <a:latin typeface="Calibri" pitchFamily="34" charset="0"/>
                <a:ea typeface="Calibri" pitchFamily="34" charset="-122"/>
                <a:cs typeface="Calibri" pitchFamily="34" charset="-120"/>
              </a:rPr>
              <a:t>→  </a:t>
            </a:r>
            <a:pPr indent="0" marL="0">
              <a:lnSpc>
                <a:spcPct val="150000"/>
              </a:lnSpc>
              <a:buNone/>
            </a:pPr>
            <a:r>
              <a:rPr lang="en-US" sz="1050" dirty="0">
                <a:solidFill>
                  <a:srgbClr val="E8F1F5"/>
                </a:solidFill>
                <a:latin typeface="Calibri" pitchFamily="34" charset="0"/>
                <a:ea typeface="Calibri" pitchFamily="34" charset="-122"/>
                <a:cs typeface="Calibri" pitchFamily="34" charset="-120"/>
              </a:rPr>
              <a:t>Works with any AI coding tool</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F3D"/>
        </a:solidFill>
      </p:bgPr>
    </p:bg>
    <p:spTree>
      <p:nvGrpSpPr>
        <p:cNvPr id="1" name=""/>
        <p:cNvGrpSpPr/>
        <p:nvPr/>
      </p:nvGrpSpPr>
      <p:grpSpPr>
        <a:xfrm>
          <a:off x="0" y="0"/>
          <a:ext cx="0" cy="0"/>
          <a:chOff x="0" y="0"/>
          <a:chExt cx="0" cy="0"/>
        </a:xfrm>
      </p:grpSpPr>
      <p:sp>
        <p:nvSpPr>
          <p:cNvPr id="2" name="Text 0"/>
          <p:cNvSpPr/>
          <p:nvPr/>
        </p:nvSpPr>
        <p:spPr>
          <a:xfrm>
            <a:off x="457200" y="256032"/>
            <a:ext cx="8229600" cy="411480"/>
          </a:xfrm>
          <a:prstGeom prst="rect">
            <a:avLst/>
          </a:prstGeom>
          <a:noFill/>
          <a:ln/>
        </p:spPr>
        <p:txBody>
          <a:bodyPr wrap="square" lIns="0" tIns="0" rIns="0" bIns="0" rtlCol="0" anchor="ctr"/>
          <a:lstStyle/>
          <a:p>
            <a:pPr indent="0" marL="0">
              <a:buNone/>
            </a:pPr>
            <a:r>
              <a:rPr lang="en-US" sz="1100" b="1" spc="300" kern="0" dirty="0">
                <a:solidFill>
                  <a:srgbClr val="02C39A"/>
                </a:solidFill>
                <a:latin typeface="Calibri" pitchFamily="34" charset="0"/>
                <a:ea typeface="Calibri" pitchFamily="34" charset="-122"/>
                <a:cs typeface="Calibri" pitchFamily="34" charset="-120"/>
              </a:rPr>
              <a:t>How It Works</a:t>
            </a:r>
            <a:endParaRPr lang="en-US" sz="1100" dirty="0"/>
          </a:p>
        </p:txBody>
      </p:sp>
      <p:sp>
        <p:nvSpPr>
          <p:cNvPr id="3" name="Text 1"/>
          <p:cNvSpPr/>
          <p:nvPr/>
        </p:nvSpPr>
        <p:spPr>
          <a:xfrm>
            <a:off x="457200" y="640080"/>
            <a:ext cx="8229600" cy="59436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From Request to Standards-Compliant Output</a:t>
            </a:r>
            <a:endParaRPr lang="en-US" sz="2600" dirty="0"/>
          </a:p>
        </p:txBody>
      </p:sp>
      <p:sp>
        <p:nvSpPr>
          <p:cNvPr id="4" name="Shape 2"/>
          <p:cNvSpPr/>
          <p:nvPr/>
        </p:nvSpPr>
        <p:spPr>
          <a:xfrm>
            <a:off x="1737360" y="1737360"/>
            <a:ext cx="274320" cy="109728"/>
          </a:xfrm>
          <a:prstGeom prst="rect">
            <a:avLst/>
          </a:prstGeom>
          <a:solidFill>
            <a:srgbClr val="8FB3CC">
              <a:alpha val="70000"/>
            </a:srgbClr>
          </a:solidFill>
          <a:ln w="12700">
            <a:solidFill>
              <a:srgbClr val="8FB3CC">
                <a:alpha val="70000"/>
              </a:srgbClr>
            </a:solidFill>
            <a:prstDash val="solid"/>
          </a:ln>
        </p:spPr>
      </p:sp>
      <p:sp>
        <p:nvSpPr>
          <p:cNvPr id="5" name="Shape 3"/>
          <p:cNvSpPr/>
          <p:nvPr/>
        </p:nvSpPr>
        <p:spPr>
          <a:xfrm>
            <a:off x="182880" y="1417320"/>
            <a:ext cx="1554480" cy="2560320"/>
          </a:xfrm>
          <a:prstGeom prst="roundRect">
            <a:avLst>
              <a:gd name="adj" fmla="val 5882"/>
            </a:avLst>
          </a:prstGeom>
          <a:solidFill>
            <a:srgbClr val="0D3060"/>
          </a:solidFill>
          <a:ln w="12700">
            <a:solidFill>
              <a:srgbClr val="028090">
                <a:alpha val="55000"/>
              </a:srgbClr>
            </a:solidFill>
            <a:prstDash val="solid"/>
          </a:ln>
          <a:effectLst>
            <a:outerShdw sx="100000" sy="100000" kx="0" ky="0" algn="bl" rotWithShape="0" blurRad="101600" dist="38100" dir="2700000">
              <a:srgbClr val="000000">
                <a:alpha val="18000"/>
              </a:srgbClr>
            </a:outerShdw>
          </a:effectLst>
        </p:spPr>
      </p:sp>
      <p:sp>
        <p:nvSpPr>
          <p:cNvPr id="6" name="Shape 4"/>
          <p:cNvSpPr/>
          <p:nvPr/>
        </p:nvSpPr>
        <p:spPr>
          <a:xfrm>
            <a:off x="685800" y="1536192"/>
            <a:ext cx="548640" cy="548640"/>
          </a:xfrm>
          <a:prstGeom prst="ellipse">
            <a:avLst/>
          </a:prstGeom>
          <a:solidFill>
            <a:srgbClr val="028090"/>
          </a:solidFill>
          <a:ln w="12700">
            <a:solidFill>
              <a:srgbClr val="028090"/>
            </a:solidFill>
            <a:prstDash val="solid"/>
          </a:ln>
        </p:spPr>
      </p:sp>
      <p:sp>
        <p:nvSpPr>
          <p:cNvPr id="7" name="Text 5"/>
          <p:cNvSpPr/>
          <p:nvPr/>
        </p:nvSpPr>
        <p:spPr>
          <a:xfrm>
            <a:off x="685800" y="1536192"/>
            <a:ext cx="548640" cy="548640"/>
          </a:xfrm>
          <a:prstGeom prst="rect">
            <a:avLst/>
          </a:prstGeom>
          <a:noFill/>
          <a:ln/>
        </p:spPr>
        <p:txBody>
          <a:bodyPr wrap="square" lIns="0" tIns="0" rIns="0" bIns="0" rtlCol="0" anchor="ctr"/>
          <a:lstStyle/>
          <a:p>
            <a:pPr algn="ctr" indent="0" marL="0">
              <a:buNone/>
            </a:pPr>
            <a:r>
              <a:rPr lang="en-US" sz="1100" b="1" dirty="0">
                <a:solidFill>
                  <a:srgbClr val="0F1F3D"/>
                </a:solidFill>
              </a:rPr>
              <a:t>01</a:t>
            </a:r>
            <a:endParaRPr lang="en-US" sz="1100" dirty="0"/>
          </a:p>
        </p:txBody>
      </p:sp>
      <p:sp>
        <p:nvSpPr>
          <p:cNvPr id="8" name="Text 6"/>
          <p:cNvSpPr/>
          <p:nvPr/>
        </p:nvSpPr>
        <p:spPr>
          <a:xfrm>
            <a:off x="274320" y="2176272"/>
            <a:ext cx="1371600" cy="658368"/>
          </a:xfrm>
          <a:prstGeom prst="rect">
            <a:avLst/>
          </a:prstGeom>
          <a:noFill/>
          <a:ln/>
        </p:spPr>
        <p:txBody>
          <a:bodyPr wrap="square" lIns="0" tIns="0" rIns="0" bIns="0" rtlCol="0" anchor="ctr"/>
          <a:lstStyle/>
          <a:p>
            <a:pPr algn="ctr" indent="0" marL="0">
              <a:lnSpc>
                <a:spcPct val="120000"/>
              </a:lnSpc>
              <a:buNone/>
            </a:pPr>
            <a:r>
              <a:rPr lang="en-US" sz="1250" b="1" dirty="0">
                <a:solidFill>
                  <a:srgbClr val="FFFFFF"/>
                </a:solidFill>
                <a:latin typeface="Calibri" pitchFamily="34" charset="0"/>
                <a:ea typeface="Calibri" pitchFamily="34" charset="-122"/>
                <a:cs typeface="Calibri" pitchFamily="34" charset="-120"/>
              </a:rPr>
              <a:t>Developer</a:t>
            </a:r>
            <a:endParaRPr lang="en-US" sz="1250" dirty="0"/>
          </a:p>
          <a:p>
            <a:pPr algn="ctr" indent="0" marL="0">
              <a:lnSpc>
                <a:spcPct val="120000"/>
              </a:lnSpc>
              <a:buNone/>
            </a:pPr>
            <a:r>
              <a:rPr lang="en-US" sz="1250" b="1" dirty="0">
                <a:solidFill>
                  <a:srgbClr val="FFFFFF"/>
                </a:solidFill>
                <a:latin typeface="Calibri" pitchFamily="34" charset="0"/>
                <a:ea typeface="Calibri" pitchFamily="34" charset="-122"/>
                <a:cs typeface="Calibri" pitchFamily="34" charset="-120"/>
              </a:rPr>
              <a:t>Request</a:t>
            </a:r>
            <a:endParaRPr lang="en-US" sz="1250" dirty="0"/>
          </a:p>
        </p:txBody>
      </p:sp>
      <p:sp>
        <p:nvSpPr>
          <p:cNvPr id="9" name="Text 7"/>
          <p:cNvSpPr/>
          <p:nvPr/>
        </p:nvSpPr>
        <p:spPr>
          <a:xfrm>
            <a:off x="274320" y="2880360"/>
            <a:ext cx="1371600" cy="1005840"/>
          </a:xfrm>
          <a:prstGeom prst="rect">
            <a:avLst/>
          </a:prstGeom>
          <a:noFill/>
          <a:ln/>
        </p:spPr>
        <p:txBody>
          <a:bodyPr wrap="square" lIns="0" tIns="0" rIns="0" bIns="0" rtlCol="0" anchor="ctr"/>
          <a:lstStyle/>
          <a:p>
            <a:pPr algn="ctr" indent="0" marL="0">
              <a:lnSpc>
                <a:spcPct val="130000"/>
              </a:lnSpc>
              <a:buNone/>
            </a:pPr>
            <a:r>
              <a:rPr lang="en-US" sz="950" dirty="0">
                <a:solidFill>
                  <a:srgbClr val="8FB3CC"/>
                </a:solidFill>
                <a:latin typeface="Calibri" pitchFamily="34" charset="0"/>
                <a:ea typeface="Calibri" pitchFamily="34" charset="-122"/>
                <a:cs typeface="Calibri" pitchFamily="34" charset="-120"/>
              </a:rPr>
              <a:t>Team member or AI tool receives a task</a:t>
            </a:r>
            <a:endParaRPr lang="en-US" sz="950" dirty="0"/>
          </a:p>
        </p:txBody>
      </p:sp>
      <p:sp>
        <p:nvSpPr>
          <p:cNvPr id="10" name="Shape 8"/>
          <p:cNvSpPr/>
          <p:nvPr/>
        </p:nvSpPr>
        <p:spPr>
          <a:xfrm>
            <a:off x="3566160" y="1737360"/>
            <a:ext cx="274320" cy="109728"/>
          </a:xfrm>
          <a:prstGeom prst="rect">
            <a:avLst/>
          </a:prstGeom>
          <a:solidFill>
            <a:srgbClr val="8FB3CC">
              <a:alpha val="70000"/>
            </a:srgbClr>
          </a:solidFill>
          <a:ln w="12700">
            <a:solidFill>
              <a:srgbClr val="8FB3CC">
                <a:alpha val="70000"/>
              </a:srgbClr>
            </a:solidFill>
            <a:prstDash val="solid"/>
          </a:ln>
        </p:spPr>
      </p:sp>
      <p:sp>
        <p:nvSpPr>
          <p:cNvPr id="11" name="Shape 9"/>
          <p:cNvSpPr/>
          <p:nvPr/>
        </p:nvSpPr>
        <p:spPr>
          <a:xfrm>
            <a:off x="2011680" y="1417320"/>
            <a:ext cx="1554480" cy="2560320"/>
          </a:xfrm>
          <a:prstGeom prst="roundRect">
            <a:avLst>
              <a:gd name="adj" fmla="val 5882"/>
            </a:avLst>
          </a:prstGeom>
          <a:solidFill>
            <a:srgbClr val="0D3060"/>
          </a:solidFill>
          <a:ln w="12700">
            <a:solidFill>
              <a:srgbClr val="065A82">
                <a:alpha val="55000"/>
              </a:srgbClr>
            </a:solidFill>
            <a:prstDash val="solid"/>
          </a:ln>
          <a:effectLst>
            <a:outerShdw sx="100000" sy="100000" kx="0" ky="0" algn="bl" rotWithShape="0" blurRad="101600" dist="38100" dir="2700000">
              <a:srgbClr val="000000">
                <a:alpha val="18000"/>
              </a:srgbClr>
            </a:outerShdw>
          </a:effectLst>
        </p:spPr>
      </p:sp>
      <p:sp>
        <p:nvSpPr>
          <p:cNvPr id="12" name="Shape 10"/>
          <p:cNvSpPr/>
          <p:nvPr/>
        </p:nvSpPr>
        <p:spPr>
          <a:xfrm>
            <a:off x="2514600" y="1536192"/>
            <a:ext cx="548640" cy="548640"/>
          </a:xfrm>
          <a:prstGeom prst="ellipse">
            <a:avLst/>
          </a:prstGeom>
          <a:solidFill>
            <a:srgbClr val="065A82"/>
          </a:solidFill>
          <a:ln w="12700">
            <a:solidFill>
              <a:srgbClr val="065A82"/>
            </a:solidFill>
            <a:prstDash val="solid"/>
          </a:ln>
        </p:spPr>
      </p:sp>
      <p:sp>
        <p:nvSpPr>
          <p:cNvPr id="13" name="Text 11"/>
          <p:cNvSpPr/>
          <p:nvPr/>
        </p:nvSpPr>
        <p:spPr>
          <a:xfrm>
            <a:off x="2514600" y="1536192"/>
            <a:ext cx="548640" cy="548640"/>
          </a:xfrm>
          <a:prstGeom prst="rect">
            <a:avLst/>
          </a:prstGeom>
          <a:noFill/>
          <a:ln/>
        </p:spPr>
        <p:txBody>
          <a:bodyPr wrap="square" lIns="0" tIns="0" rIns="0" bIns="0" rtlCol="0" anchor="ctr"/>
          <a:lstStyle/>
          <a:p>
            <a:pPr algn="ctr" indent="0" marL="0">
              <a:buNone/>
            </a:pPr>
            <a:r>
              <a:rPr lang="en-US" sz="1100" b="1" dirty="0">
                <a:solidFill>
                  <a:srgbClr val="0F1F3D"/>
                </a:solidFill>
              </a:rPr>
              <a:t>02</a:t>
            </a:r>
            <a:endParaRPr lang="en-US" sz="1100" dirty="0"/>
          </a:p>
        </p:txBody>
      </p:sp>
      <p:sp>
        <p:nvSpPr>
          <p:cNvPr id="14" name="Text 12"/>
          <p:cNvSpPr/>
          <p:nvPr/>
        </p:nvSpPr>
        <p:spPr>
          <a:xfrm>
            <a:off x="2103120" y="2176272"/>
            <a:ext cx="1371600" cy="658368"/>
          </a:xfrm>
          <a:prstGeom prst="rect">
            <a:avLst/>
          </a:prstGeom>
          <a:noFill/>
          <a:ln/>
        </p:spPr>
        <p:txBody>
          <a:bodyPr wrap="square" lIns="0" tIns="0" rIns="0" bIns="0" rtlCol="0" anchor="ctr"/>
          <a:lstStyle/>
          <a:p>
            <a:pPr algn="ctr" indent="0" marL="0">
              <a:lnSpc>
                <a:spcPct val="120000"/>
              </a:lnSpc>
              <a:buNone/>
            </a:pPr>
            <a:r>
              <a:rPr lang="en-US" sz="1250" b="1" dirty="0">
                <a:solidFill>
                  <a:srgbClr val="FFFFFF"/>
                </a:solidFill>
                <a:latin typeface="Calibri" pitchFamily="34" charset="0"/>
                <a:ea typeface="Calibri" pitchFamily="34" charset="-122"/>
                <a:cs typeface="Calibri" pitchFamily="34" charset="-120"/>
              </a:rPr>
              <a:t>Load</a:t>
            </a:r>
            <a:endParaRPr lang="en-US" sz="1250" dirty="0"/>
          </a:p>
          <a:p>
            <a:pPr algn="ctr" indent="0" marL="0">
              <a:lnSpc>
                <a:spcPct val="120000"/>
              </a:lnSpc>
              <a:buNone/>
            </a:pPr>
            <a:r>
              <a:rPr lang="en-US" sz="1250" b="1" dirty="0">
                <a:solidFill>
                  <a:srgbClr val="FFFFFF"/>
                </a:solidFill>
                <a:latin typeface="Calibri" pitchFamily="34" charset="0"/>
                <a:ea typeface="Calibri" pitchFamily="34" charset="-122"/>
                <a:cs typeface="Calibri" pitchFamily="34" charset="-120"/>
              </a:rPr>
              <a:t>MASTER.md</a:t>
            </a:r>
            <a:endParaRPr lang="en-US" sz="1250" dirty="0"/>
          </a:p>
        </p:txBody>
      </p:sp>
      <p:sp>
        <p:nvSpPr>
          <p:cNvPr id="15" name="Text 13"/>
          <p:cNvSpPr/>
          <p:nvPr/>
        </p:nvSpPr>
        <p:spPr>
          <a:xfrm>
            <a:off x="2103120" y="2880360"/>
            <a:ext cx="1371600" cy="1005840"/>
          </a:xfrm>
          <a:prstGeom prst="rect">
            <a:avLst/>
          </a:prstGeom>
          <a:noFill/>
          <a:ln/>
        </p:spPr>
        <p:txBody>
          <a:bodyPr wrap="square" lIns="0" tIns="0" rIns="0" bIns="0" rtlCol="0" anchor="ctr"/>
          <a:lstStyle/>
          <a:p>
            <a:pPr algn="ctr" indent="0" marL="0">
              <a:lnSpc>
                <a:spcPct val="130000"/>
              </a:lnSpc>
              <a:buNone/>
            </a:pPr>
            <a:r>
              <a:rPr lang="en-US" sz="950" dirty="0">
                <a:solidFill>
                  <a:srgbClr val="8FB3CC"/>
                </a:solidFill>
                <a:latin typeface="Calibri" pitchFamily="34" charset="0"/>
                <a:ea typeface="Calibri" pitchFamily="34" charset="-122"/>
                <a:cs typeface="Calibri" pitchFamily="34" charset="-120"/>
              </a:rPr>
              <a:t>Agent reads the orchestrator and all relevant standards</a:t>
            </a:r>
            <a:endParaRPr lang="en-US" sz="950" dirty="0"/>
          </a:p>
        </p:txBody>
      </p:sp>
      <p:sp>
        <p:nvSpPr>
          <p:cNvPr id="16" name="Shape 14"/>
          <p:cNvSpPr/>
          <p:nvPr/>
        </p:nvSpPr>
        <p:spPr>
          <a:xfrm>
            <a:off x="5394960" y="1737360"/>
            <a:ext cx="274320" cy="109728"/>
          </a:xfrm>
          <a:prstGeom prst="rect">
            <a:avLst/>
          </a:prstGeom>
          <a:solidFill>
            <a:srgbClr val="8FB3CC">
              <a:alpha val="70000"/>
            </a:srgbClr>
          </a:solidFill>
          <a:ln w="12700">
            <a:solidFill>
              <a:srgbClr val="8FB3CC">
                <a:alpha val="70000"/>
              </a:srgbClr>
            </a:solidFill>
            <a:prstDash val="solid"/>
          </a:ln>
        </p:spPr>
      </p:sp>
      <p:sp>
        <p:nvSpPr>
          <p:cNvPr id="17" name="Shape 15"/>
          <p:cNvSpPr/>
          <p:nvPr/>
        </p:nvSpPr>
        <p:spPr>
          <a:xfrm>
            <a:off x="3840480" y="1417320"/>
            <a:ext cx="1554480" cy="2560320"/>
          </a:xfrm>
          <a:prstGeom prst="roundRect">
            <a:avLst>
              <a:gd name="adj" fmla="val 5882"/>
            </a:avLst>
          </a:prstGeom>
          <a:solidFill>
            <a:srgbClr val="0D3060"/>
          </a:solidFill>
          <a:ln w="12700">
            <a:solidFill>
              <a:srgbClr val="F59E0B">
                <a:alpha val="55000"/>
              </a:srgbClr>
            </a:solidFill>
            <a:prstDash val="solid"/>
          </a:ln>
          <a:effectLst>
            <a:outerShdw sx="100000" sy="100000" kx="0" ky="0" algn="bl" rotWithShape="0" blurRad="101600" dist="38100" dir="2700000">
              <a:srgbClr val="000000">
                <a:alpha val="18000"/>
              </a:srgbClr>
            </a:outerShdw>
          </a:effectLst>
        </p:spPr>
      </p:sp>
      <p:sp>
        <p:nvSpPr>
          <p:cNvPr id="18" name="Shape 16"/>
          <p:cNvSpPr/>
          <p:nvPr/>
        </p:nvSpPr>
        <p:spPr>
          <a:xfrm>
            <a:off x="4343400" y="1536192"/>
            <a:ext cx="548640" cy="548640"/>
          </a:xfrm>
          <a:prstGeom prst="ellipse">
            <a:avLst/>
          </a:prstGeom>
          <a:solidFill>
            <a:srgbClr val="F59E0B"/>
          </a:solidFill>
          <a:ln w="12700">
            <a:solidFill>
              <a:srgbClr val="F59E0B"/>
            </a:solidFill>
            <a:prstDash val="solid"/>
          </a:ln>
        </p:spPr>
      </p:sp>
      <p:sp>
        <p:nvSpPr>
          <p:cNvPr id="19" name="Text 17"/>
          <p:cNvSpPr/>
          <p:nvPr/>
        </p:nvSpPr>
        <p:spPr>
          <a:xfrm>
            <a:off x="4343400" y="1536192"/>
            <a:ext cx="548640" cy="548640"/>
          </a:xfrm>
          <a:prstGeom prst="rect">
            <a:avLst/>
          </a:prstGeom>
          <a:noFill/>
          <a:ln/>
        </p:spPr>
        <p:txBody>
          <a:bodyPr wrap="square" lIns="0" tIns="0" rIns="0" bIns="0" rtlCol="0" anchor="ctr"/>
          <a:lstStyle/>
          <a:p>
            <a:pPr algn="ctr" indent="0" marL="0">
              <a:buNone/>
            </a:pPr>
            <a:r>
              <a:rPr lang="en-US" sz="1100" b="1" dirty="0">
                <a:solidFill>
                  <a:srgbClr val="0F1F3D"/>
                </a:solidFill>
              </a:rPr>
              <a:t>03</a:t>
            </a:r>
            <a:endParaRPr lang="en-US" sz="1100" dirty="0"/>
          </a:p>
        </p:txBody>
      </p:sp>
      <p:sp>
        <p:nvSpPr>
          <p:cNvPr id="20" name="Text 18"/>
          <p:cNvSpPr/>
          <p:nvPr/>
        </p:nvSpPr>
        <p:spPr>
          <a:xfrm>
            <a:off x="3931920" y="2176272"/>
            <a:ext cx="1371600" cy="658368"/>
          </a:xfrm>
          <a:prstGeom prst="rect">
            <a:avLst/>
          </a:prstGeom>
          <a:noFill/>
          <a:ln/>
        </p:spPr>
        <p:txBody>
          <a:bodyPr wrap="square" lIns="0" tIns="0" rIns="0" bIns="0" rtlCol="0" anchor="ctr"/>
          <a:lstStyle/>
          <a:p>
            <a:pPr algn="ctr" indent="0" marL="0">
              <a:lnSpc>
                <a:spcPct val="120000"/>
              </a:lnSpc>
              <a:buNone/>
            </a:pPr>
            <a:r>
              <a:rPr lang="en-US" sz="1250" b="1" dirty="0">
                <a:solidFill>
                  <a:srgbClr val="FFFFFF"/>
                </a:solidFill>
                <a:latin typeface="Calibri" pitchFamily="34" charset="0"/>
                <a:ea typeface="Calibri" pitchFamily="34" charset="-122"/>
                <a:cs typeface="Calibri" pitchFamily="34" charset="-120"/>
              </a:rPr>
              <a:t>Ask First</a:t>
            </a:r>
            <a:endParaRPr lang="en-US" sz="1250" dirty="0"/>
          </a:p>
        </p:txBody>
      </p:sp>
      <p:sp>
        <p:nvSpPr>
          <p:cNvPr id="21" name="Text 19"/>
          <p:cNvSpPr/>
          <p:nvPr/>
        </p:nvSpPr>
        <p:spPr>
          <a:xfrm>
            <a:off x="3931920" y="2880360"/>
            <a:ext cx="1371600" cy="1005840"/>
          </a:xfrm>
          <a:prstGeom prst="rect">
            <a:avLst/>
          </a:prstGeom>
          <a:noFill/>
          <a:ln/>
        </p:spPr>
        <p:txBody>
          <a:bodyPr wrap="square" lIns="0" tIns="0" rIns="0" bIns="0" rtlCol="0" anchor="ctr"/>
          <a:lstStyle/>
          <a:p>
            <a:pPr algn="ctr" indent="0" marL="0">
              <a:lnSpc>
                <a:spcPct val="130000"/>
              </a:lnSpc>
              <a:buNone/>
            </a:pPr>
            <a:r>
              <a:rPr lang="en-US" sz="950" dirty="0">
                <a:solidFill>
                  <a:srgbClr val="8FB3CC"/>
                </a:solidFill>
                <a:latin typeface="Calibri" pitchFamily="34" charset="0"/>
                <a:ea typeface="Calibri" pitchFamily="34" charset="-122"/>
                <a:cs typeface="Calibri" pitchFamily="34" charset="-120"/>
              </a:rPr>
              <a:t>Agent clarifies missing information — never assumes</a:t>
            </a:r>
            <a:endParaRPr lang="en-US" sz="950" dirty="0"/>
          </a:p>
        </p:txBody>
      </p:sp>
      <p:sp>
        <p:nvSpPr>
          <p:cNvPr id="22" name="Shape 20"/>
          <p:cNvSpPr/>
          <p:nvPr/>
        </p:nvSpPr>
        <p:spPr>
          <a:xfrm>
            <a:off x="7223760" y="1737360"/>
            <a:ext cx="274320" cy="109728"/>
          </a:xfrm>
          <a:prstGeom prst="rect">
            <a:avLst/>
          </a:prstGeom>
          <a:solidFill>
            <a:srgbClr val="8FB3CC">
              <a:alpha val="70000"/>
            </a:srgbClr>
          </a:solidFill>
          <a:ln w="12700">
            <a:solidFill>
              <a:srgbClr val="8FB3CC">
                <a:alpha val="70000"/>
              </a:srgbClr>
            </a:solidFill>
            <a:prstDash val="solid"/>
          </a:ln>
        </p:spPr>
      </p:sp>
      <p:sp>
        <p:nvSpPr>
          <p:cNvPr id="23" name="Shape 21"/>
          <p:cNvSpPr/>
          <p:nvPr/>
        </p:nvSpPr>
        <p:spPr>
          <a:xfrm>
            <a:off x="5669280" y="1417320"/>
            <a:ext cx="1554480" cy="2560320"/>
          </a:xfrm>
          <a:prstGeom prst="roundRect">
            <a:avLst>
              <a:gd name="adj" fmla="val 5882"/>
            </a:avLst>
          </a:prstGeom>
          <a:solidFill>
            <a:srgbClr val="0D3060"/>
          </a:solidFill>
          <a:ln w="12700">
            <a:solidFill>
              <a:srgbClr val="028090">
                <a:alpha val="55000"/>
              </a:srgbClr>
            </a:solidFill>
            <a:prstDash val="solid"/>
          </a:ln>
          <a:effectLst>
            <a:outerShdw sx="100000" sy="100000" kx="0" ky="0" algn="bl" rotWithShape="0" blurRad="101600" dist="38100" dir="2700000">
              <a:srgbClr val="000000">
                <a:alpha val="18000"/>
              </a:srgbClr>
            </a:outerShdw>
          </a:effectLst>
        </p:spPr>
      </p:sp>
      <p:sp>
        <p:nvSpPr>
          <p:cNvPr id="24" name="Shape 22"/>
          <p:cNvSpPr/>
          <p:nvPr/>
        </p:nvSpPr>
        <p:spPr>
          <a:xfrm>
            <a:off x="6172200" y="1536192"/>
            <a:ext cx="548640" cy="548640"/>
          </a:xfrm>
          <a:prstGeom prst="ellipse">
            <a:avLst/>
          </a:prstGeom>
          <a:solidFill>
            <a:srgbClr val="028090"/>
          </a:solidFill>
          <a:ln w="12700">
            <a:solidFill>
              <a:srgbClr val="028090"/>
            </a:solidFill>
            <a:prstDash val="solid"/>
          </a:ln>
        </p:spPr>
      </p:sp>
      <p:sp>
        <p:nvSpPr>
          <p:cNvPr id="25" name="Text 23"/>
          <p:cNvSpPr/>
          <p:nvPr/>
        </p:nvSpPr>
        <p:spPr>
          <a:xfrm>
            <a:off x="6172200" y="1536192"/>
            <a:ext cx="548640" cy="548640"/>
          </a:xfrm>
          <a:prstGeom prst="rect">
            <a:avLst/>
          </a:prstGeom>
          <a:noFill/>
          <a:ln/>
        </p:spPr>
        <p:txBody>
          <a:bodyPr wrap="square" lIns="0" tIns="0" rIns="0" bIns="0" rtlCol="0" anchor="ctr"/>
          <a:lstStyle/>
          <a:p>
            <a:pPr algn="ctr" indent="0" marL="0">
              <a:buNone/>
            </a:pPr>
            <a:r>
              <a:rPr lang="en-US" sz="1100" b="1" dirty="0">
                <a:solidFill>
                  <a:srgbClr val="0F1F3D"/>
                </a:solidFill>
              </a:rPr>
              <a:t>04</a:t>
            </a:r>
            <a:endParaRPr lang="en-US" sz="1100" dirty="0"/>
          </a:p>
        </p:txBody>
      </p:sp>
      <p:sp>
        <p:nvSpPr>
          <p:cNvPr id="26" name="Text 24"/>
          <p:cNvSpPr/>
          <p:nvPr/>
        </p:nvSpPr>
        <p:spPr>
          <a:xfrm>
            <a:off x="5760720" y="2176272"/>
            <a:ext cx="1371600" cy="658368"/>
          </a:xfrm>
          <a:prstGeom prst="rect">
            <a:avLst/>
          </a:prstGeom>
          <a:noFill/>
          <a:ln/>
        </p:spPr>
        <p:txBody>
          <a:bodyPr wrap="square" lIns="0" tIns="0" rIns="0" bIns="0" rtlCol="0" anchor="ctr"/>
          <a:lstStyle/>
          <a:p>
            <a:pPr algn="ctr" indent="0" marL="0">
              <a:lnSpc>
                <a:spcPct val="120000"/>
              </a:lnSpc>
              <a:buNone/>
            </a:pPr>
            <a:r>
              <a:rPr lang="en-US" sz="1250" b="1" dirty="0">
                <a:solidFill>
                  <a:srgbClr val="FFFFFF"/>
                </a:solidFill>
                <a:latin typeface="Calibri" pitchFamily="34" charset="0"/>
                <a:ea typeface="Calibri" pitchFamily="34" charset="-122"/>
                <a:cs typeface="Calibri" pitchFamily="34" charset="-120"/>
              </a:rPr>
              <a:t>Apply</a:t>
            </a:r>
            <a:endParaRPr lang="en-US" sz="1250" dirty="0"/>
          </a:p>
          <a:p>
            <a:pPr algn="ctr" indent="0" marL="0">
              <a:lnSpc>
                <a:spcPct val="120000"/>
              </a:lnSpc>
              <a:buNone/>
            </a:pPr>
            <a:r>
              <a:rPr lang="en-US" sz="1250" b="1" dirty="0">
                <a:solidFill>
                  <a:srgbClr val="FFFFFF"/>
                </a:solidFill>
                <a:latin typeface="Calibri" pitchFamily="34" charset="0"/>
                <a:ea typeface="Calibri" pitchFamily="34" charset="-122"/>
                <a:cs typeface="Calibri" pitchFamily="34" charset="-120"/>
              </a:rPr>
              <a:t>Standards</a:t>
            </a:r>
            <a:endParaRPr lang="en-US" sz="1250" dirty="0"/>
          </a:p>
        </p:txBody>
      </p:sp>
      <p:sp>
        <p:nvSpPr>
          <p:cNvPr id="27" name="Text 25"/>
          <p:cNvSpPr/>
          <p:nvPr/>
        </p:nvSpPr>
        <p:spPr>
          <a:xfrm>
            <a:off x="5760720" y="2880360"/>
            <a:ext cx="1371600" cy="1005840"/>
          </a:xfrm>
          <a:prstGeom prst="rect">
            <a:avLst/>
          </a:prstGeom>
          <a:noFill/>
          <a:ln/>
        </p:spPr>
        <p:txBody>
          <a:bodyPr wrap="square" lIns="0" tIns="0" rIns="0" bIns="0" rtlCol="0" anchor="ctr"/>
          <a:lstStyle/>
          <a:p>
            <a:pPr algn="ctr" indent="0" marL="0">
              <a:lnSpc>
                <a:spcPct val="130000"/>
              </a:lnSpc>
              <a:buNone/>
            </a:pPr>
            <a:r>
              <a:rPr lang="en-US" sz="950" dirty="0">
                <a:solidFill>
                  <a:srgbClr val="8FB3CC"/>
                </a:solidFill>
                <a:latin typeface="Calibri" pitchFamily="34" charset="0"/>
                <a:ea typeface="Calibri" pitchFamily="34" charset="-122"/>
                <a:cs typeface="Calibri" pitchFamily="34" charset="-120"/>
              </a:rPr>
              <a:t>Rules from all relevant modules are applied automatically</a:t>
            </a:r>
            <a:endParaRPr lang="en-US" sz="950" dirty="0"/>
          </a:p>
        </p:txBody>
      </p:sp>
      <p:sp>
        <p:nvSpPr>
          <p:cNvPr id="28" name="Shape 26"/>
          <p:cNvSpPr/>
          <p:nvPr/>
        </p:nvSpPr>
        <p:spPr>
          <a:xfrm>
            <a:off x="7315200" y="1417320"/>
            <a:ext cx="1554480" cy="2560320"/>
          </a:xfrm>
          <a:prstGeom prst="roundRect">
            <a:avLst>
              <a:gd name="adj" fmla="val 5882"/>
            </a:avLst>
          </a:prstGeom>
          <a:solidFill>
            <a:srgbClr val="0D3060"/>
          </a:solidFill>
          <a:ln w="12700">
            <a:solidFill>
              <a:srgbClr val="02C39A">
                <a:alpha val="55000"/>
              </a:srgbClr>
            </a:solidFill>
            <a:prstDash val="solid"/>
          </a:ln>
          <a:effectLst>
            <a:outerShdw sx="100000" sy="100000" kx="0" ky="0" algn="bl" rotWithShape="0" blurRad="101600" dist="38100" dir="2700000">
              <a:srgbClr val="000000">
                <a:alpha val="18000"/>
              </a:srgbClr>
            </a:outerShdw>
          </a:effectLst>
        </p:spPr>
      </p:sp>
      <p:sp>
        <p:nvSpPr>
          <p:cNvPr id="29" name="Shape 27"/>
          <p:cNvSpPr/>
          <p:nvPr/>
        </p:nvSpPr>
        <p:spPr>
          <a:xfrm>
            <a:off x="7818120" y="1536192"/>
            <a:ext cx="548640" cy="548640"/>
          </a:xfrm>
          <a:prstGeom prst="ellipse">
            <a:avLst/>
          </a:prstGeom>
          <a:solidFill>
            <a:srgbClr val="02C39A"/>
          </a:solidFill>
          <a:ln w="12700">
            <a:solidFill>
              <a:srgbClr val="02C39A"/>
            </a:solidFill>
            <a:prstDash val="solid"/>
          </a:ln>
        </p:spPr>
      </p:sp>
      <p:sp>
        <p:nvSpPr>
          <p:cNvPr id="30" name="Text 28"/>
          <p:cNvSpPr/>
          <p:nvPr/>
        </p:nvSpPr>
        <p:spPr>
          <a:xfrm>
            <a:off x="7818120" y="1536192"/>
            <a:ext cx="548640" cy="548640"/>
          </a:xfrm>
          <a:prstGeom prst="rect">
            <a:avLst/>
          </a:prstGeom>
          <a:noFill/>
          <a:ln/>
        </p:spPr>
        <p:txBody>
          <a:bodyPr wrap="square" lIns="0" tIns="0" rIns="0" bIns="0" rtlCol="0" anchor="ctr"/>
          <a:lstStyle/>
          <a:p>
            <a:pPr algn="ctr" indent="0" marL="0">
              <a:buNone/>
            </a:pPr>
            <a:r>
              <a:rPr lang="en-US" sz="1100" b="1" dirty="0">
                <a:solidFill>
                  <a:srgbClr val="0F1F3D"/>
                </a:solidFill>
              </a:rPr>
              <a:t>05</a:t>
            </a:r>
            <a:endParaRPr lang="en-US" sz="1100" dirty="0"/>
          </a:p>
        </p:txBody>
      </p:sp>
      <p:sp>
        <p:nvSpPr>
          <p:cNvPr id="31" name="Text 29"/>
          <p:cNvSpPr/>
          <p:nvPr/>
        </p:nvSpPr>
        <p:spPr>
          <a:xfrm>
            <a:off x="7406640" y="2176272"/>
            <a:ext cx="1371600" cy="658368"/>
          </a:xfrm>
          <a:prstGeom prst="rect">
            <a:avLst/>
          </a:prstGeom>
          <a:noFill/>
          <a:ln/>
        </p:spPr>
        <p:txBody>
          <a:bodyPr wrap="square" lIns="0" tIns="0" rIns="0" bIns="0" rtlCol="0" anchor="ctr"/>
          <a:lstStyle/>
          <a:p>
            <a:pPr algn="ctr" indent="0" marL="0">
              <a:lnSpc>
                <a:spcPct val="120000"/>
              </a:lnSpc>
              <a:buNone/>
            </a:pPr>
            <a:r>
              <a:rPr lang="en-US" sz="1250" b="1" dirty="0">
                <a:solidFill>
                  <a:srgbClr val="FFFFFF"/>
                </a:solidFill>
                <a:latin typeface="Calibri" pitchFamily="34" charset="0"/>
                <a:ea typeface="Calibri" pitchFamily="34" charset="-122"/>
                <a:cs typeface="Calibri" pitchFamily="34" charset="-120"/>
              </a:rPr>
              <a:t>Generate</a:t>
            </a:r>
            <a:endParaRPr lang="en-US" sz="1250" dirty="0"/>
          </a:p>
          <a:p>
            <a:pPr algn="ctr" indent="0" marL="0">
              <a:lnSpc>
                <a:spcPct val="120000"/>
              </a:lnSpc>
              <a:buNone/>
            </a:pPr>
            <a:r>
              <a:rPr lang="en-US" sz="1250" b="1" dirty="0">
                <a:solidFill>
                  <a:srgbClr val="FFFFFF"/>
                </a:solidFill>
                <a:latin typeface="Calibri" pitchFamily="34" charset="0"/>
                <a:ea typeface="Calibri" pitchFamily="34" charset="-122"/>
                <a:cs typeface="Calibri" pitchFamily="34" charset="-120"/>
              </a:rPr>
              <a:t>Output</a:t>
            </a:r>
            <a:endParaRPr lang="en-US" sz="1250" dirty="0"/>
          </a:p>
        </p:txBody>
      </p:sp>
      <p:sp>
        <p:nvSpPr>
          <p:cNvPr id="32" name="Text 30"/>
          <p:cNvSpPr/>
          <p:nvPr/>
        </p:nvSpPr>
        <p:spPr>
          <a:xfrm>
            <a:off x="7406640" y="2880360"/>
            <a:ext cx="1371600" cy="1005840"/>
          </a:xfrm>
          <a:prstGeom prst="rect">
            <a:avLst/>
          </a:prstGeom>
          <a:noFill/>
          <a:ln/>
        </p:spPr>
        <p:txBody>
          <a:bodyPr wrap="square" lIns="0" tIns="0" rIns="0" bIns="0" rtlCol="0" anchor="ctr"/>
          <a:lstStyle/>
          <a:p>
            <a:pPr algn="ctr" indent="0" marL="0">
              <a:lnSpc>
                <a:spcPct val="130000"/>
              </a:lnSpc>
              <a:buNone/>
            </a:pPr>
            <a:r>
              <a:rPr lang="en-US" sz="950" dirty="0">
                <a:solidFill>
                  <a:srgbClr val="8FB3CC"/>
                </a:solidFill>
                <a:latin typeface="Calibri" pitchFamily="34" charset="0"/>
                <a:ea typeface="Calibri" pitchFamily="34" charset="-122"/>
                <a:cs typeface="Calibri" pitchFamily="34" charset="-120"/>
              </a:rPr>
              <a:t>Code, schema, or pipeline that already passes review</a:t>
            </a:r>
            <a:endParaRPr lang="en-US" sz="950" dirty="0"/>
          </a:p>
        </p:txBody>
      </p:sp>
      <p:sp>
        <p:nvSpPr>
          <p:cNvPr id="33" name="Shape 31"/>
          <p:cNvSpPr/>
          <p:nvPr/>
        </p:nvSpPr>
        <p:spPr>
          <a:xfrm>
            <a:off x="1371600" y="4251960"/>
            <a:ext cx="6400800" cy="566928"/>
          </a:xfrm>
          <a:prstGeom prst="roundRect">
            <a:avLst>
              <a:gd name="adj" fmla="val 12903"/>
            </a:avLst>
          </a:prstGeom>
          <a:solidFill>
            <a:srgbClr val="02C39A">
              <a:alpha val="12000"/>
            </a:srgbClr>
          </a:solidFill>
          <a:ln w="12700">
            <a:solidFill>
              <a:srgbClr val="02C39A">
                <a:alpha val="45000"/>
              </a:srgbClr>
            </a:solidFill>
            <a:prstDash val="solid"/>
          </a:ln>
        </p:spPr>
      </p:sp>
      <p:sp>
        <p:nvSpPr>
          <p:cNvPr id="34" name="Text 32"/>
          <p:cNvSpPr/>
          <p:nvPr/>
        </p:nvSpPr>
        <p:spPr>
          <a:xfrm>
            <a:off x="1371600" y="4251960"/>
            <a:ext cx="6400800" cy="566928"/>
          </a:xfrm>
          <a:prstGeom prst="rect">
            <a:avLst/>
          </a:prstGeom>
          <a:noFill/>
          <a:ln/>
        </p:spPr>
        <p:txBody>
          <a:bodyPr wrap="square" lIns="0" tIns="0" rIns="0" bIns="0" rtlCol="0" anchor="ctr"/>
          <a:lstStyle/>
          <a:p>
            <a:pPr algn="ctr" indent="0" marL="0">
              <a:buNone/>
            </a:pPr>
            <a:r>
              <a:rPr lang="en-US" sz="1100" b="1" dirty="0">
                <a:solidFill>
                  <a:srgbClr val="02C39A"/>
                </a:solidFill>
                <a:latin typeface="Calibri" pitchFamily="34" charset="0"/>
                <a:ea typeface="Calibri" pitchFamily="34" charset="-122"/>
                <a:cs typeface="Calibri" pitchFamily="34" charset="-120"/>
              </a:rPr>
              <a:t>⚡  Rule Zero: If any information is missing — the agent stops and asks. It never assumes, never invents.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F3D"/>
        </a:solidFill>
      </p:bgPr>
    </p:bg>
    <p:spTree>
      <p:nvGrpSpPr>
        <p:cNvPr id="1" name=""/>
        <p:cNvGrpSpPr/>
        <p:nvPr/>
      </p:nvGrpSpPr>
      <p:grpSpPr>
        <a:xfrm>
          <a:off x="0" y="0"/>
          <a:ext cx="0" cy="0"/>
          <a:chOff x="0" y="0"/>
          <a:chExt cx="0" cy="0"/>
        </a:xfrm>
      </p:grpSpPr>
      <p:sp>
        <p:nvSpPr>
          <p:cNvPr id="2" name="Text 0"/>
          <p:cNvSpPr/>
          <p:nvPr/>
        </p:nvSpPr>
        <p:spPr>
          <a:xfrm>
            <a:off x="457200" y="256032"/>
            <a:ext cx="8229600" cy="411480"/>
          </a:xfrm>
          <a:prstGeom prst="rect">
            <a:avLst/>
          </a:prstGeom>
          <a:noFill/>
          <a:ln/>
        </p:spPr>
        <p:txBody>
          <a:bodyPr wrap="square" lIns="0" tIns="0" rIns="0" bIns="0" rtlCol="0" anchor="ctr"/>
          <a:lstStyle/>
          <a:p>
            <a:pPr indent="0" marL="0">
              <a:buNone/>
            </a:pPr>
            <a:r>
              <a:rPr lang="en-US" sz="1100" b="1" spc="300" kern="0" dirty="0">
                <a:solidFill>
                  <a:srgbClr val="02C39A"/>
                </a:solidFill>
                <a:latin typeface="Calibri" pitchFamily="34" charset="0"/>
                <a:ea typeface="Calibri" pitchFamily="34" charset="-122"/>
                <a:cs typeface="Calibri" pitchFamily="34" charset="-120"/>
              </a:rPr>
              <a:t>Playbook Coverage</a:t>
            </a:r>
            <a:endParaRPr lang="en-US" sz="1100" dirty="0"/>
          </a:p>
        </p:txBody>
      </p:sp>
      <p:sp>
        <p:nvSpPr>
          <p:cNvPr id="3" name="Text 1"/>
          <p:cNvSpPr/>
          <p:nvPr/>
        </p:nvSpPr>
        <p:spPr>
          <a:xfrm>
            <a:off x="457200" y="640080"/>
            <a:ext cx="8229600" cy="59436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Five Domains. One Consistent Standard.</a:t>
            </a:r>
            <a:endParaRPr lang="en-US" sz="2600" dirty="0"/>
          </a:p>
        </p:txBody>
      </p:sp>
      <p:sp>
        <p:nvSpPr>
          <p:cNvPr id="4" name="Shape 2"/>
          <p:cNvSpPr/>
          <p:nvPr/>
        </p:nvSpPr>
        <p:spPr>
          <a:xfrm>
            <a:off x="274320" y="1417320"/>
            <a:ext cx="1645920" cy="3383280"/>
          </a:xfrm>
          <a:prstGeom prst="roundRect">
            <a:avLst>
              <a:gd name="adj" fmla="val 5556"/>
            </a:avLst>
          </a:prstGeom>
          <a:solidFill>
            <a:srgbClr val="0D3060"/>
          </a:solidFill>
          <a:ln w="12700">
            <a:solidFill>
              <a:srgbClr val="028090">
                <a:alpha val="45000"/>
              </a:srgbClr>
            </a:solidFill>
            <a:prstDash val="solid"/>
          </a:ln>
          <a:effectLst>
            <a:outerShdw sx="100000" sy="100000" kx="0" ky="0" algn="bl" rotWithShape="0" blurRad="101600" dist="38100" dir="2700000">
              <a:srgbClr val="000000">
                <a:alpha val="18000"/>
              </a:srgbClr>
            </a:outerShdw>
          </a:effectLst>
        </p:spPr>
      </p:sp>
      <p:pic>
        <p:nvPicPr>
          <p:cNvPr id="5" name="Image 0" descr="preencoded.png">    </p:cNvPr>
          <p:cNvPicPr>
            <a:picLocks noChangeAspect="1"/>
          </p:cNvPicPr>
          <p:nvPr/>
        </p:nvPicPr>
        <p:blipFill>
          <a:blip r:embed="rId1"/>
          <a:stretch>
            <a:fillRect/>
          </a:stretch>
        </p:blipFill>
        <p:spPr>
          <a:xfrm>
            <a:off x="868680" y="1572768"/>
            <a:ext cx="457200" cy="457200"/>
          </a:xfrm>
          <a:prstGeom prst="rect">
            <a:avLst/>
          </a:prstGeom>
        </p:spPr>
      </p:pic>
      <p:sp>
        <p:nvSpPr>
          <p:cNvPr id="6" name="Text 3"/>
          <p:cNvSpPr/>
          <p:nvPr/>
        </p:nvSpPr>
        <p:spPr>
          <a:xfrm>
            <a:off x="365760" y="2103120"/>
            <a:ext cx="146304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Data Layer</a:t>
            </a:r>
            <a:endParaRPr lang="en-US" sz="1200" dirty="0"/>
          </a:p>
        </p:txBody>
      </p:sp>
      <p:sp>
        <p:nvSpPr>
          <p:cNvPr id="7" name="Text 4"/>
          <p:cNvSpPr/>
          <p:nvPr/>
        </p:nvSpPr>
        <p:spPr>
          <a:xfrm>
            <a:off x="365760" y="2514600"/>
            <a:ext cx="1463040" cy="320040"/>
          </a:xfrm>
          <a:prstGeom prst="rect">
            <a:avLst/>
          </a:prstGeom>
          <a:noFill/>
          <a:ln/>
        </p:spPr>
        <p:txBody>
          <a:bodyPr wrap="square" lIns="0" tIns="0" rIns="0" bIns="0" rtlCol="0" anchor="ctr"/>
          <a:lstStyle/>
          <a:p>
            <a:pPr algn="ctr" indent="0" marL="0">
              <a:buNone/>
            </a:pPr>
            <a:r>
              <a:rPr lang="en-US" sz="850" i="1" dirty="0">
                <a:solidFill>
                  <a:srgbClr val="02C39A"/>
                </a:solidFill>
                <a:latin typeface="Calibri" pitchFamily="34" charset="0"/>
                <a:ea typeface="Calibri" pitchFamily="34" charset="-122"/>
                <a:cs typeface="Calibri" pitchFamily="34" charset="-120"/>
              </a:rPr>
              <a:t>8 standards + 3 patterns</a:t>
            </a:r>
            <a:endParaRPr lang="en-US" sz="850" dirty="0"/>
          </a:p>
        </p:txBody>
      </p:sp>
      <p:sp>
        <p:nvSpPr>
          <p:cNvPr id="8" name="Text 5"/>
          <p:cNvSpPr/>
          <p:nvPr/>
        </p:nvSpPr>
        <p:spPr>
          <a:xfrm>
            <a:off x="411480" y="2907792"/>
            <a:ext cx="1371600" cy="1737360"/>
          </a:xfrm>
          <a:prstGeom prst="rect">
            <a:avLst/>
          </a:prstGeom>
          <a:noFill/>
          <a:ln/>
        </p:spPr>
        <p:txBody>
          <a:bodyPr wrap="square" lIns="0" tIns="0" rIns="0" bIns="0" rtlCol="0" anchor="ctr"/>
          <a:lstStyle/>
          <a:p>
            <a:pPr indent="0" marL="0">
              <a:lnSpc>
                <a:spcPct val="150000"/>
              </a:lnSpc>
              <a:buNone/>
            </a:pPr>
            <a:r>
              <a:rPr lang="en-US" sz="900" dirty="0">
                <a:solidFill>
                  <a:srgbClr val="E8F1F5"/>
                </a:solidFill>
                <a:latin typeface="Calibri" pitchFamily="34" charset="0"/>
                <a:ea typeface="Calibri" pitchFamily="34" charset="-122"/>
                <a:cs typeface="Calibri" pitchFamily="34" charset="-120"/>
              </a:rPr>
              <a:t>Naming &amp; modeling
</a:t>
            </a:r>
            <a:pPr indent="0" marL="0">
              <a:lnSpc>
                <a:spcPct val="150000"/>
              </a:lnSpc>
              <a:buNone/>
            </a:pPr>
            <a:r>
              <a:rPr lang="en-US" sz="900" dirty="0">
                <a:solidFill>
                  <a:srgbClr val="E8F1F5"/>
                </a:solidFill>
                <a:latin typeface="Calibri" pitchFamily="34" charset="0"/>
                <a:ea typeface="Calibri" pitchFamily="34" charset="-122"/>
                <a:cs typeface="Calibri" pitchFamily="34" charset="-120"/>
              </a:rPr>
              <a:t>Quality &amp; validation
</a:t>
            </a:r>
            <a:pPr indent="0" marL="0">
              <a:lnSpc>
                <a:spcPct val="150000"/>
              </a:lnSpc>
              <a:buNone/>
            </a:pPr>
            <a:r>
              <a:rPr lang="en-US" sz="900" dirty="0">
                <a:solidFill>
                  <a:srgbClr val="E8F1F5"/>
                </a:solidFill>
                <a:latin typeface="Calibri" pitchFamily="34" charset="0"/>
                <a:ea typeface="Calibri" pitchFamily="34" charset="-122"/>
                <a:cs typeface="Calibri" pitchFamily="34" charset="-120"/>
              </a:rPr>
              <a:t>Security &amp; PII
</a:t>
            </a:r>
            <a:pPr indent="0" marL="0">
              <a:lnSpc>
                <a:spcPct val="150000"/>
              </a:lnSpc>
              <a:buNone/>
            </a:pPr>
            <a:r>
              <a:rPr lang="en-US" sz="900" dirty="0">
                <a:solidFill>
                  <a:srgbClr val="E8F1F5"/>
                </a:solidFill>
                <a:latin typeface="Calibri" pitchFamily="34" charset="0"/>
                <a:ea typeface="Calibri" pitchFamily="34" charset="-122"/>
                <a:cs typeface="Calibri" pitchFamily="34" charset="-120"/>
              </a:rPr>
              <a:t>Pipelines &amp; observability</a:t>
            </a:r>
            <a:endParaRPr lang="en-US" sz="900" dirty="0"/>
          </a:p>
        </p:txBody>
      </p:sp>
      <p:sp>
        <p:nvSpPr>
          <p:cNvPr id="9" name="Shape 6"/>
          <p:cNvSpPr/>
          <p:nvPr/>
        </p:nvSpPr>
        <p:spPr>
          <a:xfrm>
            <a:off x="2103120" y="1417320"/>
            <a:ext cx="1645920" cy="3383280"/>
          </a:xfrm>
          <a:prstGeom prst="roundRect">
            <a:avLst>
              <a:gd name="adj" fmla="val 5556"/>
            </a:avLst>
          </a:prstGeom>
          <a:solidFill>
            <a:srgbClr val="0D3060"/>
          </a:solidFill>
          <a:ln w="12700">
            <a:solidFill>
              <a:srgbClr val="028090">
                <a:alpha val="45000"/>
              </a:srgbClr>
            </a:solidFill>
            <a:prstDash val="solid"/>
          </a:ln>
          <a:effectLst>
            <a:outerShdw sx="100000" sy="100000" kx="0" ky="0" algn="bl" rotWithShape="0" blurRad="101600" dist="38100" dir="2700000">
              <a:srgbClr val="000000">
                <a:alpha val="18000"/>
              </a:srgbClr>
            </a:outerShdw>
          </a:effectLst>
        </p:spPr>
      </p:sp>
      <p:pic>
        <p:nvPicPr>
          <p:cNvPr id="10" name="Image 1" descr="preencoded.png">    </p:cNvPr>
          <p:cNvPicPr>
            <a:picLocks noChangeAspect="1"/>
          </p:cNvPicPr>
          <p:nvPr/>
        </p:nvPicPr>
        <p:blipFill>
          <a:blip r:embed="rId2"/>
          <a:stretch>
            <a:fillRect/>
          </a:stretch>
        </p:blipFill>
        <p:spPr>
          <a:xfrm>
            <a:off x="2697480" y="1572768"/>
            <a:ext cx="457200" cy="457200"/>
          </a:xfrm>
          <a:prstGeom prst="rect">
            <a:avLst/>
          </a:prstGeom>
        </p:spPr>
      </p:pic>
      <p:sp>
        <p:nvSpPr>
          <p:cNvPr id="11" name="Text 7"/>
          <p:cNvSpPr/>
          <p:nvPr/>
        </p:nvSpPr>
        <p:spPr>
          <a:xfrm>
            <a:off x="2194560" y="2103120"/>
            <a:ext cx="146304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API Layer</a:t>
            </a:r>
            <a:endParaRPr lang="en-US" sz="1200" dirty="0"/>
          </a:p>
        </p:txBody>
      </p:sp>
      <p:sp>
        <p:nvSpPr>
          <p:cNvPr id="12" name="Text 8"/>
          <p:cNvSpPr/>
          <p:nvPr/>
        </p:nvSpPr>
        <p:spPr>
          <a:xfrm>
            <a:off x="2194560" y="2514600"/>
            <a:ext cx="1463040" cy="320040"/>
          </a:xfrm>
          <a:prstGeom prst="rect">
            <a:avLst/>
          </a:prstGeom>
          <a:noFill/>
          <a:ln/>
        </p:spPr>
        <p:txBody>
          <a:bodyPr wrap="square" lIns="0" tIns="0" rIns="0" bIns="0" rtlCol="0" anchor="ctr"/>
          <a:lstStyle/>
          <a:p>
            <a:pPr algn="ctr" indent="0" marL="0">
              <a:buNone/>
            </a:pPr>
            <a:r>
              <a:rPr lang="en-US" sz="850" i="1" dirty="0">
                <a:solidFill>
                  <a:srgbClr val="02C39A"/>
                </a:solidFill>
                <a:latin typeface="Calibri" pitchFamily="34" charset="0"/>
                <a:ea typeface="Calibri" pitchFamily="34" charset="-122"/>
                <a:cs typeface="Calibri" pitchFamily="34" charset="-120"/>
              </a:rPr>
              <a:t>2 modules</a:t>
            </a:r>
            <a:endParaRPr lang="en-US" sz="850" dirty="0"/>
          </a:p>
        </p:txBody>
      </p:sp>
      <p:sp>
        <p:nvSpPr>
          <p:cNvPr id="13" name="Text 9"/>
          <p:cNvSpPr/>
          <p:nvPr/>
        </p:nvSpPr>
        <p:spPr>
          <a:xfrm>
            <a:off x="2240280" y="2907792"/>
            <a:ext cx="1371600" cy="1737360"/>
          </a:xfrm>
          <a:prstGeom prst="rect">
            <a:avLst/>
          </a:prstGeom>
          <a:noFill/>
          <a:ln/>
        </p:spPr>
        <p:txBody>
          <a:bodyPr wrap="square" lIns="0" tIns="0" rIns="0" bIns="0" rtlCol="0" anchor="ctr"/>
          <a:lstStyle/>
          <a:p>
            <a:pPr indent="0" marL="0">
              <a:lnSpc>
                <a:spcPct val="150000"/>
              </a:lnSpc>
              <a:buNone/>
            </a:pPr>
            <a:r>
              <a:rPr lang="en-US" sz="900" dirty="0">
                <a:solidFill>
                  <a:srgbClr val="E8F1F5"/>
                </a:solidFill>
                <a:latin typeface="Calibri" pitchFamily="34" charset="0"/>
                <a:ea typeface="Calibri" pitchFamily="34" charset="-122"/>
                <a:cs typeface="Calibri" pitchFamily="34" charset="-120"/>
              </a:rPr>
              <a:t>REST design &amp; versioning
</a:t>
            </a:r>
            <a:pPr indent="0" marL="0">
              <a:lnSpc>
                <a:spcPct val="150000"/>
              </a:lnSpc>
              <a:buNone/>
            </a:pPr>
            <a:r>
              <a:rPr lang="en-US" sz="900" dirty="0">
                <a:solidFill>
                  <a:srgbClr val="E8F1F5"/>
                </a:solidFill>
                <a:latin typeface="Calibri" pitchFamily="34" charset="0"/>
                <a:ea typeface="Calibri" pitchFamily="34" charset="-122"/>
                <a:cs typeface="Calibri" pitchFamily="34" charset="-120"/>
              </a:rPr>
              <a:t>Auth &amp; authorization
</a:t>
            </a:r>
            <a:pPr indent="0" marL="0">
              <a:lnSpc>
                <a:spcPct val="150000"/>
              </a:lnSpc>
              <a:buNone/>
            </a:pPr>
            <a:r>
              <a:rPr lang="en-US" sz="900" dirty="0">
                <a:solidFill>
                  <a:srgbClr val="E8F1F5"/>
                </a:solidFill>
                <a:latin typeface="Calibri" pitchFamily="34" charset="0"/>
                <a:ea typeface="Calibri" pitchFamily="34" charset="-122"/>
                <a:cs typeface="Calibri" pitchFamily="34" charset="-120"/>
              </a:rPr>
              <a:t>Error standards
</a:t>
            </a:r>
            <a:pPr indent="0" marL="0">
              <a:lnSpc>
                <a:spcPct val="150000"/>
              </a:lnSpc>
              <a:buNone/>
            </a:pPr>
            <a:r>
              <a:rPr lang="en-US" sz="900" dirty="0">
                <a:solidFill>
                  <a:srgbClr val="E8F1F5"/>
                </a:solidFill>
                <a:latin typeface="Calibri" pitchFamily="34" charset="0"/>
                <a:ea typeface="Calibri" pitchFamily="34" charset="-122"/>
                <a:cs typeface="Calibri" pitchFamily="34" charset="-120"/>
              </a:rPr>
              <a:t>Rate limiting</a:t>
            </a:r>
            <a:endParaRPr lang="en-US" sz="900" dirty="0"/>
          </a:p>
        </p:txBody>
      </p:sp>
      <p:sp>
        <p:nvSpPr>
          <p:cNvPr id="14" name="Shape 10"/>
          <p:cNvSpPr/>
          <p:nvPr/>
        </p:nvSpPr>
        <p:spPr>
          <a:xfrm>
            <a:off x="3931920" y="1417320"/>
            <a:ext cx="1645920" cy="3383280"/>
          </a:xfrm>
          <a:prstGeom prst="roundRect">
            <a:avLst>
              <a:gd name="adj" fmla="val 5556"/>
            </a:avLst>
          </a:prstGeom>
          <a:solidFill>
            <a:srgbClr val="0D3060"/>
          </a:solidFill>
          <a:ln w="12700">
            <a:solidFill>
              <a:srgbClr val="028090">
                <a:alpha val="45000"/>
              </a:srgbClr>
            </a:solidFill>
            <a:prstDash val="solid"/>
          </a:ln>
          <a:effectLst>
            <a:outerShdw sx="100000" sy="100000" kx="0" ky="0" algn="bl" rotWithShape="0" blurRad="101600" dist="38100" dir="2700000">
              <a:srgbClr val="000000">
                <a:alpha val="18000"/>
              </a:srgbClr>
            </a:outerShdw>
          </a:effectLst>
        </p:spPr>
      </p:sp>
      <p:pic>
        <p:nvPicPr>
          <p:cNvPr id="15" name="Image 2" descr="preencoded.png">    </p:cNvPr>
          <p:cNvPicPr>
            <a:picLocks noChangeAspect="1"/>
          </p:cNvPicPr>
          <p:nvPr/>
        </p:nvPicPr>
        <p:blipFill>
          <a:blip r:embed="rId3"/>
          <a:stretch>
            <a:fillRect/>
          </a:stretch>
        </p:blipFill>
        <p:spPr>
          <a:xfrm>
            <a:off x="4526280" y="1572768"/>
            <a:ext cx="457200" cy="457200"/>
          </a:xfrm>
          <a:prstGeom prst="rect">
            <a:avLst/>
          </a:prstGeom>
        </p:spPr>
      </p:pic>
      <p:sp>
        <p:nvSpPr>
          <p:cNvPr id="16" name="Text 11"/>
          <p:cNvSpPr/>
          <p:nvPr/>
        </p:nvSpPr>
        <p:spPr>
          <a:xfrm>
            <a:off x="4023360" y="2103120"/>
            <a:ext cx="146304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UI Layer</a:t>
            </a:r>
            <a:endParaRPr lang="en-US" sz="1200" dirty="0"/>
          </a:p>
        </p:txBody>
      </p:sp>
      <p:sp>
        <p:nvSpPr>
          <p:cNvPr id="17" name="Text 12"/>
          <p:cNvSpPr/>
          <p:nvPr/>
        </p:nvSpPr>
        <p:spPr>
          <a:xfrm>
            <a:off x="4023360" y="2514600"/>
            <a:ext cx="1463040" cy="320040"/>
          </a:xfrm>
          <a:prstGeom prst="rect">
            <a:avLst/>
          </a:prstGeom>
          <a:noFill/>
          <a:ln/>
        </p:spPr>
        <p:txBody>
          <a:bodyPr wrap="square" lIns="0" tIns="0" rIns="0" bIns="0" rtlCol="0" anchor="ctr"/>
          <a:lstStyle/>
          <a:p>
            <a:pPr algn="ctr" indent="0" marL="0">
              <a:buNone/>
            </a:pPr>
            <a:r>
              <a:rPr lang="en-US" sz="850" i="1" dirty="0">
                <a:solidFill>
                  <a:srgbClr val="02C39A"/>
                </a:solidFill>
                <a:latin typeface="Calibri" pitchFamily="34" charset="0"/>
                <a:ea typeface="Calibri" pitchFamily="34" charset="-122"/>
                <a:cs typeface="Calibri" pitchFamily="34" charset="-120"/>
              </a:rPr>
              <a:t>2 modules</a:t>
            </a:r>
            <a:endParaRPr lang="en-US" sz="850" dirty="0"/>
          </a:p>
        </p:txBody>
      </p:sp>
      <p:sp>
        <p:nvSpPr>
          <p:cNvPr id="18" name="Text 13"/>
          <p:cNvSpPr/>
          <p:nvPr/>
        </p:nvSpPr>
        <p:spPr>
          <a:xfrm>
            <a:off x="4069080" y="2907792"/>
            <a:ext cx="1371600" cy="1737360"/>
          </a:xfrm>
          <a:prstGeom prst="rect">
            <a:avLst/>
          </a:prstGeom>
          <a:noFill/>
          <a:ln/>
        </p:spPr>
        <p:txBody>
          <a:bodyPr wrap="square" lIns="0" tIns="0" rIns="0" bIns="0" rtlCol="0" anchor="ctr"/>
          <a:lstStyle/>
          <a:p>
            <a:pPr indent="0" marL="0">
              <a:lnSpc>
                <a:spcPct val="150000"/>
              </a:lnSpc>
              <a:buNone/>
            </a:pPr>
            <a:r>
              <a:rPr lang="en-US" sz="900" dirty="0">
                <a:solidFill>
                  <a:srgbClr val="E8F1F5"/>
                </a:solidFill>
                <a:latin typeface="Calibri" pitchFamily="34" charset="0"/>
                <a:ea typeface="Calibri" pitchFamily="34" charset="-122"/>
                <a:cs typeface="Calibri" pitchFamily="34" charset="-120"/>
              </a:rPr>
              <a:t>Component standards
</a:t>
            </a:r>
            <a:pPr indent="0" marL="0">
              <a:lnSpc>
                <a:spcPct val="150000"/>
              </a:lnSpc>
              <a:buNone/>
            </a:pPr>
            <a:r>
              <a:rPr lang="en-US" sz="900" dirty="0">
                <a:solidFill>
                  <a:srgbClr val="E8F1F5"/>
                </a:solidFill>
                <a:latin typeface="Calibri" pitchFamily="34" charset="0"/>
                <a:ea typeface="Calibri" pitchFamily="34" charset="-122"/>
                <a:cs typeface="Calibri" pitchFamily="34" charset="-120"/>
              </a:rPr>
              <a:t>State &amp; data fetching
</a:t>
            </a:r>
            <a:pPr indent="0" marL="0">
              <a:lnSpc>
                <a:spcPct val="150000"/>
              </a:lnSpc>
              <a:buNone/>
            </a:pPr>
            <a:r>
              <a:rPr lang="en-US" sz="900" dirty="0">
                <a:solidFill>
                  <a:srgbClr val="E8F1F5"/>
                </a:solidFill>
                <a:latin typeface="Calibri" pitchFamily="34" charset="0"/>
                <a:ea typeface="Calibri" pitchFamily="34" charset="-122"/>
                <a:cs typeface="Calibri" pitchFamily="34" charset="-120"/>
              </a:rPr>
              <a:t>Forms &amp; validation
</a:t>
            </a:r>
            <a:pPr indent="0" marL="0">
              <a:lnSpc>
                <a:spcPct val="150000"/>
              </a:lnSpc>
              <a:buNone/>
            </a:pPr>
            <a:r>
              <a:rPr lang="en-US" sz="900" dirty="0">
                <a:solidFill>
                  <a:srgbClr val="E8F1F5"/>
                </a:solidFill>
                <a:latin typeface="Calibri" pitchFamily="34" charset="0"/>
                <a:ea typeface="Calibri" pitchFamily="34" charset="-122"/>
                <a:cs typeface="Calibri" pitchFamily="34" charset="-120"/>
              </a:rPr>
              <a:t>Accessibility</a:t>
            </a:r>
            <a:endParaRPr lang="en-US" sz="900" dirty="0"/>
          </a:p>
        </p:txBody>
      </p:sp>
      <p:sp>
        <p:nvSpPr>
          <p:cNvPr id="19" name="Shape 14"/>
          <p:cNvSpPr/>
          <p:nvPr/>
        </p:nvSpPr>
        <p:spPr>
          <a:xfrm>
            <a:off x="5760720" y="1417320"/>
            <a:ext cx="1645920" cy="3383280"/>
          </a:xfrm>
          <a:prstGeom prst="roundRect">
            <a:avLst>
              <a:gd name="adj" fmla="val 5556"/>
            </a:avLst>
          </a:prstGeom>
          <a:solidFill>
            <a:srgbClr val="0D3060"/>
          </a:solidFill>
          <a:ln w="12700">
            <a:solidFill>
              <a:srgbClr val="028090">
                <a:alpha val="45000"/>
              </a:srgbClr>
            </a:solidFill>
            <a:prstDash val="solid"/>
          </a:ln>
          <a:effectLst>
            <a:outerShdw sx="100000" sy="100000" kx="0" ky="0" algn="bl" rotWithShape="0" blurRad="101600" dist="38100" dir="2700000">
              <a:srgbClr val="000000">
                <a:alpha val="18000"/>
              </a:srgbClr>
            </a:outerShdw>
          </a:effectLst>
        </p:spPr>
      </p:sp>
      <p:pic>
        <p:nvPicPr>
          <p:cNvPr id="20" name="Image 3" descr="preencoded.png">    </p:cNvPr>
          <p:cNvPicPr>
            <a:picLocks noChangeAspect="1"/>
          </p:cNvPicPr>
          <p:nvPr/>
        </p:nvPicPr>
        <p:blipFill>
          <a:blip r:embed="rId4"/>
          <a:stretch>
            <a:fillRect/>
          </a:stretch>
        </p:blipFill>
        <p:spPr>
          <a:xfrm>
            <a:off x="6355080" y="1572768"/>
            <a:ext cx="457200" cy="457200"/>
          </a:xfrm>
          <a:prstGeom prst="rect">
            <a:avLst/>
          </a:prstGeom>
        </p:spPr>
      </p:pic>
      <p:sp>
        <p:nvSpPr>
          <p:cNvPr id="21" name="Text 15"/>
          <p:cNvSpPr/>
          <p:nvPr/>
        </p:nvSpPr>
        <p:spPr>
          <a:xfrm>
            <a:off x="5852160" y="2103120"/>
            <a:ext cx="146304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MS Fabric</a:t>
            </a:r>
            <a:endParaRPr lang="en-US" sz="1200" dirty="0"/>
          </a:p>
        </p:txBody>
      </p:sp>
      <p:sp>
        <p:nvSpPr>
          <p:cNvPr id="22" name="Text 16"/>
          <p:cNvSpPr/>
          <p:nvPr/>
        </p:nvSpPr>
        <p:spPr>
          <a:xfrm>
            <a:off x="5852160" y="2514600"/>
            <a:ext cx="1463040" cy="320040"/>
          </a:xfrm>
          <a:prstGeom prst="rect">
            <a:avLst/>
          </a:prstGeom>
          <a:noFill/>
          <a:ln/>
        </p:spPr>
        <p:txBody>
          <a:bodyPr wrap="square" lIns="0" tIns="0" rIns="0" bIns="0" rtlCol="0" anchor="ctr"/>
          <a:lstStyle/>
          <a:p>
            <a:pPr algn="ctr" indent="0" marL="0">
              <a:buNone/>
            </a:pPr>
            <a:r>
              <a:rPr lang="en-US" sz="850" i="1" dirty="0">
                <a:solidFill>
                  <a:srgbClr val="02C39A"/>
                </a:solidFill>
                <a:latin typeface="Calibri" pitchFamily="34" charset="0"/>
                <a:ea typeface="Calibri" pitchFamily="34" charset="-122"/>
                <a:cs typeface="Calibri" pitchFamily="34" charset="-120"/>
              </a:rPr>
              <a:t>6 standards + 3 patterns</a:t>
            </a:r>
            <a:endParaRPr lang="en-US" sz="850" dirty="0"/>
          </a:p>
        </p:txBody>
      </p:sp>
      <p:sp>
        <p:nvSpPr>
          <p:cNvPr id="23" name="Text 17"/>
          <p:cNvSpPr/>
          <p:nvPr/>
        </p:nvSpPr>
        <p:spPr>
          <a:xfrm>
            <a:off x="5897880" y="2907792"/>
            <a:ext cx="1371600" cy="1737360"/>
          </a:xfrm>
          <a:prstGeom prst="rect">
            <a:avLst/>
          </a:prstGeom>
          <a:noFill/>
          <a:ln/>
        </p:spPr>
        <p:txBody>
          <a:bodyPr wrap="square" lIns="0" tIns="0" rIns="0" bIns="0" rtlCol="0" anchor="ctr"/>
          <a:lstStyle/>
          <a:p>
            <a:pPr indent="0" marL="0">
              <a:lnSpc>
                <a:spcPct val="150000"/>
              </a:lnSpc>
              <a:buNone/>
            </a:pPr>
            <a:r>
              <a:rPr lang="en-US" sz="900" dirty="0">
                <a:solidFill>
                  <a:srgbClr val="E8F1F5"/>
                </a:solidFill>
                <a:latin typeface="Calibri" pitchFamily="34" charset="0"/>
                <a:ea typeface="Calibri" pitchFamily="34" charset="-122"/>
                <a:cs typeface="Calibri" pitchFamily="34" charset="-120"/>
              </a:rPr>
              <a:t>Medallion architecture
</a:t>
            </a:r>
            <a:pPr indent="0" marL="0">
              <a:lnSpc>
                <a:spcPct val="150000"/>
              </a:lnSpc>
              <a:buNone/>
            </a:pPr>
            <a:r>
              <a:rPr lang="en-US" sz="900" dirty="0">
                <a:solidFill>
                  <a:srgbClr val="E8F1F5"/>
                </a:solidFill>
                <a:latin typeface="Calibri" pitchFamily="34" charset="0"/>
                <a:ea typeface="Calibri" pitchFamily="34" charset="-122"/>
                <a:cs typeface="Calibri" pitchFamily="34" charset="-120"/>
              </a:rPr>
              <a:t>Lakehouse &amp; Delta
</a:t>
            </a:r>
            <a:pPr indent="0" marL="0">
              <a:lnSpc>
                <a:spcPct val="150000"/>
              </a:lnSpc>
              <a:buNone/>
            </a:pPr>
            <a:r>
              <a:rPr lang="en-US" sz="900" dirty="0">
                <a:solidFill>
                  <a:srgbClr val="E8F1F5"/>
                </a:solidFill>
                <a:latin typeface="Calibri" pitchFamily="34" charset="0"/>
                <a:ea typeface="Calibri" pitchFamily="34" charset="-122"/>
                <a:cs typeface="Calibri" pitchFamily="34" charset="-120"/>
              </a:rPr>
              <a:t>Pipelines &amp; notebooks
</a:t>
            </a:r>
            <a:pPr indent="0" marL="0">
              <a:lnSpc>
                <a:spcPct val="150000"/>
              </a:lnSpc>
              <a:buNone/>
            </a:pPr>
            <a:r>
              <a:rPr lang="en-US" sz="900" dirty="0">
                <a:solidFill>
                  <a:srgbClr val="E8F1F5"/>
                </a:solidFill>
                <a:latin typeface="Calibri" pitchFamily="34" charset="0"/>
                <a:ea typeface="Calibri" pitchFamily="34" charset="-122"/>
                <a:cs typeface="Calibri" pitchFamily="34" charset="-120"/>
              </a:rPr>
              <a:t>Unity workspace</a:t>
            </a:r>
            <a:endParaRPr lang="en-US" sz="900" dirty="0"/>
          </a:p>
        </p:txBody>
      </p:sp>
      <p:sp>
        <p:nvSpPr>
          <p:cNvPr id="24" name="Shape 18"/>
          <p:cNvSpPr/>
          <p:nvPr/>
        </p:nvSpPr>
        <p:spPr>
          <a:xfrm>
            <a:off x="7388352" y="1417320"/>
            <a:ext cx="1645920" cy="3383280"/>
          </a:xfrm>
          <a:prstGeom prst="roundRect">
            <a:avLst>
              <a:gd name="adj" fmla="val 5556"/>
            </a:avLst>
          </a:prstGeom>
          <a:solidFill>
            <a:srgbClr val="0D3060"/>
          </a:solidFill>
          <a:ln w="12700">
            <a:solidFill>
              <a:srgbClr val="028090">
                <a:alpha val="45000"/>
              </a:srgbClr>
            </a:solidFill>
            <a:prstDash val="solid"/>
          </a:ln>
          <a:effectLst>
            <a:outerShdw sx="100000" sy="100000" kx="0" ky="0" algn="bl" rotWithShape="0" blurRad="101600" dist="38100" dir="2700000">
              <a:srgbClr val="000000">
                <a:alpha val="18000"/>
              </a:srgbClr>
            </a:outerShdw>
          </a:effectLst>
        </p:spPr>
      </p:sp>
      <p:pic>
        <p:nvPicPr>
          <p:cNvPr id="25" name="Image 4" descr="preencoded.png">    </p:cNvPr>
          <p:cNvPicPr>
            <a:picLocks noChangeAspect="1"/>
          </p:cNvPicPr>
          <p:nvPr/>
        </p:nvPicPr>
        <p:blipFill>
          <a:blip r:embed="rId5"/>
          <a:stretch>
            <a:fillRect/>
          </a:stretch>
        </p:blipFill>
        <p:spPr>
          <a:xfrm>
            <a:off x="7982712" y="1572768"/>
            <a:ext cx="457200" cy="457200"/>
          </a:xfrm>
          <a:prstGeom prst="rect">
            <a:avLst/>
          </a:prstGeom>
        </p:spPr>
      </p:pic>
      <p:sp>
        <p:nvSpPr>
          <p:cNvPr id="26" name="Text 19"/>
          <p:cNvSpPr/>
          <p:nvPr/>
        </p:nvSpPr>
        <p:spPr>
          <a:xfrm>
            <a:off x="7479792" y="2103120"/>
            <a:ext cx="146304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Databricks</a:t>
            </a:r>
            <a:endParaRPr lang="en-US" sz="1200" dirty="0"/>
          </a:p>
        </p:txBody>
      </p:sp>
      <p:sp>
        <p:nvSpPr>
          <p:cNvPr id="27" name="Text 20"/>
          <p:cNvSpPr/>
          <p:nvPr/>
        </p:nvSpPr>
        <p:spPr>
          <a:xfrm>
            <a:off x="7479792" y="2514600"/>
            <a:ext cx="1463040" cy="320040"/>
          </a:xfrm>
          <a:prstGeom prst="rect">
            <a:avLst/>
          </a:prstGeom>
          <a:noFill/>
          <a:ln/>
        </p:spPr>
        <p:txBody>
          <a:bodyPr wrap="square" lIns="0" tIns="0" rIns="0" bIns="0" rtlCol="0" anchor="ctr"/>
          <a:lstStyle/>
          <a:p>
            <a:pPr algn="ctr" indent="0" marL="0">
              <a:buNone/>
            </a:pPr>
            <a:r>
              <a:rPr lang="en-US" sz="850" i="1" dirty="0">
                <a:solidFill>
                  <a:srgbClr val="02C39A"/>
                </a:solidFill>
                <a:latin typeface="Calibri" pitchFamily="34" charset="0"/>
                <a:ea typeface="Calibri" pitchFamily="34" charset="-122"/>
                <a:cs typeface="Calibri" pitchFamily="34" charset="-120"/>
              </a:rPr>
              <a:t>8 standards + 3 patterns</a:t>
            </a:r>
            <a:endParaRPr lang="en-US" sz="850" dirty="0"/>
          </a:p>
        </p:txBody>
      </p:sp>
      <p:sp>
        <p:nvSpPr>
          <p:cNvPr id="28" name="Text 21"/>
          <p:cNvSpPr/>
          <p:nvPr/>
        </p:nvSpPr>
        <p:spPr>
          <a:xfrm>
            <a:off x="7525512" y="2907792"/>
            <a:ext cx="1371600" cy="1737360"/>
          </a:xfrm>
          <a:prstGeom prst="rect">
            <a:avLst/>
          </a:prstGeom>
          <a:noFill/>
          <a:ln/>
        </p:spPr>
        <p:txBody>
          <a:bodyPr wrap="square" lIns="0" tIns="0" rIns="0" bIns="0" rtlCol="0" anchor="ctr"/>
          <a:lstStyle/>
          <a:p>
            <a:pPr indent="0" marL="0">
              <a:lnSpc>
                <a:spcPct val="150000"/>
              </a:lnSpc>
              <a:buNone/>
            </a:pPr>
            <a:r>
              <a:rPr lang="en-US" sz="900" dirty="0">
                <a:solidFill>
                  <a:srgbClr val="E8F1F5"/>
                </a:solidFill>
                <a:latin typeface="Calibri" pitchFamily="34" charset="0"/>
                <a:ea typeface="Calibri" pitchFamily="34" charset="-122"/>
                <a:cs typeface="Calibri" pitchFamily="34" charset="-120"/>
              </a:rPr>
              <a:t>Unity Catalog
</a:t>
            </a:r>
            <a:pPr indent="0" marL="0">
              <a:lnSpc>
                <a:spcPct val="150000"/>
              </a:lnSpc>
              <a:buNone/>
            </a:pPr>
            <a:r>
              <a:rPr lang="en-US" sz="900" dirty="0">
                <a:solidFill>
                  <a:srgbClr val="E8F1F5"/>
                </a:solidFill>
                <a:latin typeface="Calibri" pitchFamily="34" charset="0"/>
                <a:ea typeface="Calibri" pitchFamily="34" charset="-122"/>
                <a:cs typeface="Calibri" pitchFamily="34" charset="-120"/>
              </a:rPr>
              <a:t>Auto Loader &amp; DLT
</a:t>
            </a:r>
            <a:pPr indent="0" marL="0">
              <a:lnSpc>
                <a:spcPct val="150000"/>
              </a:lnSpc>
              <a:buNone/>
            </a:pPr>
            <a:r>
              <a:rPr lang="en-US" sz="900" dirty="0">
                <a:solidFill>
                  <a:srgbClr val="E8F1F5"/>
                </a:solidFill>
                <a:latin typeface="Calibri" pitchFamily="34" charset="0"/>
                <a:ea typeface="Calibri" pitchFamily="34" charset="-122"/>
                <a:cs typeface="Calibri" pitchFamily="34" charset="-120"/>
              </a:rPr>
              <a:t>Workflows &amp; DABs
</a:t>
            </a:r>
            <a:pPr indent="0" marL="0">
              <a:lnSpc>
                <a:spcPct val="150000"/>
              </a:lnSpc>
              <a:buNone/>
            </a:pPr>
            <a:r>
              <a:rPr lang="en-US" sz="900" dirty="0">
                <a:solidFill>
                  <a:srgbClr val="E8F1F5"/>
                </a:solidFill>
                <a:latin typeface="Calibri" pitchFamily="34" charset="0"/>
                <a:ea typeface="Calibri" pitchFamily="34" charset="-122"/>
                <a:cs typeface="Calibri" pitchFamily="34" charset="-120"/>
              </a:rPr>
              <a:t>Secret scopes</a:t>
            </a:r>
            <a:endParaRPr lang="en-US" sz="900" dirty="0"/>
          </a:p>
        </p:txBody>
      </p:sp>
      <p:sp>
        <p:nvSpPr>
          <p:cNvPr id="29" name="Text 22"/>
          <p:cNvSpPr/>
          <p:nvPr/>
        </p:nvSpPr>
        <p:spPr>
          <a:xfrm>
            <a:off x="457200" y="4828032"/>
            <a:ext cx="8229600" cy="274320"/>
          </a:xfrm>
          <a:prstGeom prst="rect">
            <a:avLst/>
          </a:prstGeom>
          <a:noFill/>
          <a:ln/>
        </p:spPr>
        <p:txBody>
          <a:bodyPr wrap="square" lIns="0" tIns="0" rIns="0" bIns="0" rtlCol="0" anchor="ctr"/>
          <a:lstStyle/>
          <a:p>
            <a:pPr algn="ctr" indent="0" marL="0">
              <a:buNone/>
            </a:pPr>
            <a:r>
              <a:rPr lang="en-US" sz="1100" i="1" dirty="0">
                <a:solidFill>
                  <a:srgbClr val="8FB3CC"/>
                </a:solidFill>
                <a:latin typeface="Calibri" pitchFamily="34" charset="0"/>
                <a:ea typeface="Calibri" pitchFamily="34" charset="-122"/>
                <a:cs typeface="Calibri" pitchFamily="34" charset="-120"/>
              </a:rPr>
              <a:t>27 files  ·  5 domains  ·  9 reusable patterns  ·  1 master orchestrator</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F3D"/>
        </a:solidFill>
      </p:bgPr>
    </p:bg>
    <p:spTree>
      <p:nvGrpSpPr>
        <p:cNvPr id="1" name=""/>
        <p:cNvGrpSpPr/>
        <p:nvPr/>
      </p:nvGrpSpPr>
      <p:grpSpPr>
        <a:xfrm>
          <a:off x="0" y="0"/>
          <a:ext cx="0" cy="0"/>
          <a:chOff x="0" y="0"/>
          <a:chExt cx="0" cy="0"/>
        </a:xfrm>
      </p:grpSpPr>
      <p:sp>
        <p:nvSpPr>
          <p:cNvPr id="2" name="Text 0"/>
          <p:cNvSpPr/>
          <p:nvPr/>
        </p:nvSpPr>
        <p:spPr>
          <a:xfrm>
            <a:off x="457200" y="256032"/>
            <a:ext cx="8229600" cy="411480"/>
          </a:xfrm>
          <a:prstGeom prst="rect">
            <a:avLst/>
          </a:prstGeom>
          <a:noFill/>
          <a:ln/>
        </p:spPr>
        <p:txBody>
          <a:bodyPr wrap="square" lIns="0" tIns="0" rIns="0" bIns="0" rtlCol="0" anchor="ctr"/>
          <a:lstStyle/>
          <a:p>
            <a:pPr indent="0" marL="0">
              <a:buNone/>
            </a:pPr>
            <a:r>
              <a:rPr lang="en-US" sz="1100" b="1" spc="300" kern="0" dirty="0">
                <a:solidFill>
                  <a:srgbClr val="02C39A"/>
                </a:solidFill>
                <a:latin typeface="Calibri" pitchFamily="34" charset="0"/>
                <a:ea typeface="Calibri" pitchFamily="34" charset="-122"/>
                <a:cs typeface="Calibri" pitchFamily="34" charset="-120"/>
              </a:rPr>
              <a:t>Layer Integration</a:t>
            </a:r>
            <a:endParaRPr lang="en-US" sz="1100" dirty="0"/>
          </a:p>
        </p:txBody>
      </p:sp>
      <p:sp>
        <p:nvSpPr>
          <p:cNvPr id="3" name="Text 1"/>
          <p:cNvSpPr/>
          <p:nvPr/>
        </p:nvSpPr>
        <p:spPr>
          <a:xfrm>
            <a:off x="457200" y="640080"/>
            <a:ext cx="6400800" cy="59436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MASTER.md Connects Everything</a:t>
            </a:r>
            <a:endParaRPr lang="en-US" sz="2600" dirty="0"/>
          </a:p>
        </p:txBody>
      </p:sp>
      <p:sp>
        <p:nvSpPr>
          <p:cNvPr id="4" name="Shape 2"/>
          <p:cNvSpPr/>
          <p:nvPr/>
        </p:nvSpPr>
        <p:spPr>
          <a:xfrm>
            <a:off x="3291840" y="1417320"/>
            <a:ext cx="2560320" cy="777240"/>
          </a:xfrm>
          <a:prstGeom prst="roundRect">
            <a:avLst>
              <a:gd name="adj" fmla="val 11765"/>
            </a:avLst>
          </a:prstGeom>
          <a:solidFill>
            <a:srgbClr val="02C39A"/>
          </a:solidFill>
          <a:ln w="12700">
            <a:solidFill>
              <a:srgbClr val="02C39A"/>
            </a:solidFill>
            <a:prstDash val="solid"/>
          </a:ln>
          <a:effectLst>
            <a:outerShdw sx="100000" sy="100000" kx="0" ky="0" algn="bl" rotWithShape="0" blurRad="101600" dist="38100" dir="2700000">
              <a:srgbClr val="000000">
                <a:alpha val="18000"/>
              </a:srgbClr>
            </a:outerShdw>
          </a:effectLst>
        </p:spPr>
      </p:sp>
      <p:sp>
        <p:nvSpPr>
          <p:cNvPr id="5" name="Text 3"/>
          <p:cNvSpPr/>
          <p:nvPr/>
        </p:nvSpPr>
        <p:spPr>
          <a:xfrm>
            <a:off x="3291840" y="1417320"/>
            <a:ext cx="2560320" cy="777240"/>
          </a:xfrm>
          <a:prstGeom prst="rect">
            <a:avLst/>
          </a:prstGeom>
          <a:noFill/>
          <a:ln/>
        </p:spPr>
        <p:txBody>
          <a:bodyPr wrap="square" lIns="0" tIns="0" rIns="0" bIns="0" rtlCol="0" anchor="ctr"/>
          <a:lstStyle/>
          <a:p>
            <a:pPr algn="ctr" indent="0" marL="0">
              <a:buNone/>
            </a:pPr>
            <a:r>
              <a:rPr lang="en-US" sz="1600" b="1" dirty="0">
                <a:solidFill>
                  <a:srgbClr val="0F1F3D"/>
                </a:solidFill>
                <a:latin typeface="Cambria" pitchFamily="34" charset="0"/>
                <a:ea typeface="Cambria" pitchFamily="34" charset="-122"/>
                <a:cs typeface="Cambria" pitchFamily="34" charset="-120"/>
              </a:rPr>
              <a:t>MASTER.md</a:t>
            </a:r>
            <a:endParaRPr lang="en-US" sz="1600" dirty="0"/>
          </a:p>
        </p:txBody>
      </p:sp>
      <p:sp>
        <p:nvSpPr>
          <p:cNvPr id="6" name="Shape 4"/>
          <p:cNvSpPr/>
          <p:nvPr/>
        </p:nvSpPr>
        <p:spPr>
          <a:xfrm>
            <a:off x="1005840" y="2103120"/>
            <a:ext cx="3566160" cy="548640"/>
          </a:xfrm>
          <a:prstGeom prst="line">
            <a:avLst/>
          </a:prstGeom>
          <a:noFill/>
          <a:ln w="19050">
            <a:solidFill>
              <a:srgbClr val="028090">
                <a:alpha val="55000"/>
              </a:srgbClr>
            </a:solidFill>
            <a:prstDash val="solid"/>
          </a:ln>
        </p:spPr>
      </p:sp>
      <p:sp>
        <p:nvSpPr>
          <p:cNvPr id="7" name="Shape 5"/>
          <p:cNvSpPr/>
          <p:nvPr/>
        </p:nvSpPr>
        <p:spPr>
          <a:xfrm>
            <a:off x="164592" y="2633472"/>
            <a:ext cx="1682496" cy="658368"/>
          </a:xfrm>
          <a:prstGeom prst="roundRect">
            <a:avLst>
              <a:gd name="adj" fmla="val 11111"/>
            </a:avLst>
          </a:prstGeom>
          <a:solidFill>
            <a:srgbClr val="028090">
              <a:alpha val="85000"/>
            </a:srgbClr>
          </a:solidFill>
          <a:ln w="12700">
            <a:solidFill>
              <a:srgbClr val="028090">
                <a:alpha val="70000"/>
              </a:srgbClr>
            </a:solidFill>
            <a:prstDash val="solid"/>
          </a:ln>
          <a:effectLst>
            <a:outerShdw sx="100000" sy="100000" kx="0" ky="0" algn="bl" rotWithShape="0" blurRad="101600" dist="38100" dir="2700000">
              <a:srgbClr val="000000">
                <a:alpha val="18000"/>
              </a:srgbClr>
            </a:outerShdw>
          </a:effectLst>
        </p:spPr>
      </p:sp>
      <p:sp>
        <p:nvSpPr>
          <p:cNvPr id="8" name="Text 6"/>
          <p:cNvSpPr/>
          <p:nvPr/>
        </p:nvSpPr>
        <p:spPr>
          <a:xfrm>
            <a:off x="164592" y="2633472"/>
            <a:ext cx="1682496" cy="65836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Data Layer</a:t>
            </a:r>
            <a:endParaRPr lang="en-US" sz="1050" dirty="0"/>
          </a:p>
        </p:txBody>
      </p:sp>
      <p:sp>
        <p:nvSpPr>
          <p:cNvPr id="9" name="Text 7"/>
          <p:cNvSpPr/>
          <p:nvPr/>
        </p:nvSpPr>
        <p:spPr>
          <a:xfrm>
            <a:off x="164592" y="3337560"/>
            <a:ext cx="1682496" cy="685800"/>
          </a:xfrm>
          <a:prstGeom prst="rect">
            <a:avLst/>
          </a:prstGeom>
          <a:noFill/>
          <a:ln/>
        </p:spPr>
        <p:txBody>
          <a:bodyPr wrap="square" lIns="0" tIns="0" rIns="0" bIns="0" rtlCol="0" anchor="ctr"/>
          <a:lstStyle/>
          <a:p>
            <a:pPr algn="ctr" indent="0" marL="0">
              <a:lnSpc>
                <a:spcPct val="130000"/>
              </a:lnSpc>
              <a:buNone/>
            </a:pPr>
            <a:r>
              <a:rPr lang="en-US" sz="900" dirty="0">
                <a:solidFill>
                  <a:srgbClr val="8FB3CC"/>
                </a:solidFill>
                <a:latin typeface="Calibri" pitchFamily="34" charset="0"/>
                <a:ea typeface="Calibri" pitchFamily="34" charset="-122"/>
                <a:cs typeface="Calibri" pitchFamily="34" charset="-120"/>
              </a:rPr>
              <a:t>Naming + schema</a:t>
            </a:r>
            <a:endParaRPr lang="en-US" sz="900" dirty="0"/>
          </a:p>
          <a:p>
            <a:pPr algn="ctr" indent="0" marL="0">
              <a:lnSpc>
                <a:spcPct val="130000"/>
              </a:lnSpc>
              <a:buNone/>
            </a:pPr>
            <a:r>
              <a:rPr lang="en-US" sz="900" dirty="0">
                <a:solidFill>
                  <a:srgbClr val="8FB3CC"/>
                </a:solidFill>
                <a:latin typeface="Calibri" pitchFamily="34" charset="0"/>
                <a:ea typeface="Calibri" pitchFamily="34" charset="-122"/>
                <a:cs typeface="Calibri" pitchFamily="34" charset="-120"/>
              </a:rPr>
              <a:t>stay consistent</a:t>
            </a:r>
            <a:endParaRPr lang="en-US" sz="900" dirty="0"/>
          </a:p>
        </p:txBody>
      </p:sp>
      <p:sp>
        <p:nvSpPr>
          <p:cNvPr id="10" name="Shape 8"/>
          <p:cNvSpPr/>
          <p:nvPr/>
        </p:nvSpPr>
        <p:spPr>
          <a:xfrm>
            <a:off x="2761488" y="2103120"/>
            <a:ext cx="1810512" cy="548640"/>
          </a:xfrm>
          <a:prstGeom prst="line">
            <a:avLst/>
          </a:prstGeom>
          <a:noFill/>
          <a:ln w="19050">
            <a:solidFill>
              <a:srgbClr val="065A82">
                <a:alpha val="55000"/>
              </a:srgbClr>
            </a:solidFill>
            <a:prstDash val="solid"/>
          </a:ln>
        </p:spPr>
      </p:sp>
      <p:sp>
        <p:nvSpPr>
          <p:cNvPr id="11" name="Shape 9"/>
          <p:cNvSpPr/>
          <p:nvPr/>
        </p:nvSpPr>
        <p:spPr>
          <a:xfrm>
            <a:off x="1920240" y="2633472"/>
            <a:ext cx="1682496" cy="658368"/>
          </a:xfrm>
          <a:prstGeom prst="roundRect">
            <a:avLst>
              <a:gd name="adj" fmla="val 11111"/>
            </a:avLst>
          </a:prstGeom>
          <a:solidFill>
            <a:srgbClr val="065A82">
              <a:alpha val="85000"/>
            </a:srgbClr>
          </a:solidFill>
          <a:ln w="12700">
            <a:solidFill>
              <a:srgbClr val="065A82">
                <a:alpha val="70000"/>
              </a:srgbClr>
            </a:solidFill>
            <a:prstDash val="solid"/>
          </a:ln>
          <a:effectLst>
            <a:outerShdw sx="100000" sy="100000" kx="0" ky="0" algn="bl" rotWithShape="0" blurRad="101600" dist="38100" dir="2700000">
              <a:srgbClr val="000000">
                <a:alpha val="18000"/>
              </a:srgbClr>
            </a:outerShdw>
          </a:effectLst>
        </p:spPr>
      </p:sp>
      <p:sp>
        <p:nvSpPr>
          <p:cNvPr id="12" name="Text 10"/>
          <p:cNvSpPr/>
          <p:nvPr/>
        </p:nvSpPr>
        <p:spPr>
          <a:xfrm>
            <a:off x="1920240" y="2633472"/>
            <a:ext cx="1682496" cy="65836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API Layer</a:t>
            </a:r>
            <a:endParaRPr lang="en-US" sz="1050" dirty="0"/>
          </a:p>
        </p:txBody>
      </p:sp>
      <p:sp>
        <p:nvSpPr>
          <p:cNvPr id="13" name="Text 11"/>
          <p:cNvSpPr/>
          <p:nvPr/>
        </p:nvSpPr>
        <p:spPr>
          <a:xfrm>
            <a:off x="1920240" y="3337560"/>
            <a:ext cx="1682496" cy="685800"/>
          </a:xfrm>
          <a:prstGeom prst="rect">
            <a:avLst/>
          </a:prstGeom>
          <a:noFill/>
          <a:ln/>
        </p:spPr>
        <p:txBody>
          <a:bodyPr wrap="square" lIns="0" tIns="0" rIns="0" bIns="0" rtlCol="0" anchor="ctr"/>
          <a:lstStyle/>
          <a:p>
            <a:pPr algn="ctr" indent="0" marL="0">
              <a:lnSpc>
                <a:spcPct val="130000"/>
              </a:lnSpc>
              <a:buNone/>
            </a:pPr>
            <a:r>
              <a:rPr lang="en-US" sz="900" dirty="0">
                <a:solidFill>
                  <a:srgbClr val="8FB3CC"/>
                </a:solidFill>
                <a:latin typeface="Calibri" pitchFamily="34" charset="0"/>
                <a:ea typeface="Calibri" pitchFamily="34" charset="-122"/>
                <a:cs typeface="Calibri" pitchFamily="34" charset="-120"/>
              </a:rPr>
              <a:t>API mirrors</a:t>
            </a:r>
            <a:endParaRPr lang="en-US" sz="900" dirty="0"/>
          </a:p>
          <a:p>
            <a:pPr algn="ctr" indent="0" marL="0">
              <a:lnSpc>
                <a:spcPct val="130000"/>
              </a:lnSpc>
              <a:buNone/>
            </a:pPr>
            <a:r>
              <a:rPr lang="en-US" sz="900" dirty="0">
                <a:solidFill>
                  <a:srgbClr val="8FB3CC"/>
                </a:solidFill>
                <a:latin typeface="Calibri" pitchFamily="34" charset="0"/>
                <a:ea typeface="Calibri" pitchFamily="34" charset="-122"/>
                <a:cs typeface="Calibri" pitchFamily="34" charset="-120"/>
              </a:rPr>
              <a:t>data model exactly</a:t>
            </a:r>
            <a:endParaRPr lang="en-US" sz="900" dirty="0"/>
          </a:p>
        </p:txBody>
      </p:sp>
      <p:sp>
        <p:nvSpPr>
          <p:cNvPr id="14" name="Shape 12"/>
          <p:cNvSpPr/>
          <p:nvPr/>
        </p:nvSpPr>
        <p:spPr>
          <a:xfrm>
            <a:off x="4517136" y="2103120"/>
            <a:ext cx="54864" cy="548640"/>
          </a:xfrm>
          <a:prstGeom prst="line">
            <a:avLst/>
          </a:prstGeom>
          <a:noFill/>
          <a:ln w="19050">
            <a:solidFill>
              <a:srgbClr val="4B7BE5">
                <a:alpha val="55000"/>
              </a:srgbClr>
            </a:solidFill>
            <a:prstDash val="solid"/>
          </a:ln>
        </p:spPr>
      </p:sp>
      <p:sp>
        <p:nvSpPr>
          <p:cNvPr id="15" name="Shape 13"/>
          <p:cNvSpPr/>
          <p:nvPr/>
        </p:nvSpPr>
        <p:spPr>
          <a:xfrm>
            <a:off x="3675888" y="2633472"/>
            <a:ext cx="1682496" cy="658368"/>
          </a:xfrm>
          <a:prstGeom prst="roundRect">
            <a:avLst>
              <a:gd name="adj" fmla="val 11111"/>
            </a:avLst>
          </a:prstGeom>
          <a:solidFill>
            <a:srgbClr val="4B7BE5">
              <a:alpha val="85000"/>
            </a:srgbClr>
          </a:solidFill>
          <a:ln w="12700">
            <a:solidFill>
              <a:srgbClr val="4B7BE5">
                <a:alpha val="70000"/>
              </a:srgbClr>
            </a:solidFill>
            <a:prstDash val="solid"/>
          </a:ln>
          <a:effectLst>
            <a:outerShdw sx="100000" sy="100000" kx="0" ky="0" algn="bl" rotWithShape="0" blurRad="101600" dist="38100" dir="2700000">
              <a:srgbClr val="000000">
                <a:alpha val="18000"/>
              </a:srgbClr>
            </a:outerShdw>
          </a:effectLst>
        </p:spPr>
      </p:sp>
      <p:sp>
        <p:nvSpPr>
          <p:cNvPr id="16" name="Text 14"/>
          <p:cNvSpPr/>
          <p:nvPr/>
        </p:nvSpPr>
        <p:spPr>
          <a:xfrm>
            <a:off x="3675888" y="2633472"/>
            <a:ext cx="1682496" cy="65836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UI Layer</a:t>
            </a:r>
            <a:endParaRPr lang="en-US" sz="1050" dirty="0"/>
          </a:p>
        </p:txBody>
      </p:sp>
      <p:sp>
        <p:nvSpPr>
          <p:cNvPr id="17" name="Text 15"/>
          <p:cNvSpPr/>
          <p:nvPr/>
        </p:nvSpPr>
        <p:spPr>
          <a:xfrm>
            <a:off x="3675888" y="3337560"/>
            <a:ext cx="1682496" cy="685800"/>
          </a:xfrm>
          <a:prstGeom prst="rect">
            <a:avLst/>
          </a:prstGeom>
          <a:noFill/>
          <a:ln/>
        </p:spPr>
        <p:txBody>
          <a:bodyPr wrap="square" lIns="0" tIns="0" rIns="0" bIns="0" rtlCol="0" anchor="ctr"/>
          <a:lstStyle/>
          <a:p>
            <a:pPr algn="ctr" indent="0" marL="0">
              <a:lnSpc>
                <a:spcPct val="130000"/>
              </a:lnSpc>
              <a:buNone/>
            </a:pPr>
            <a:r>
              <a:rPr lang="en-US" sz="900" dirty="0">
                <a:solidFill>
                  <a:srgbClr val="8FB3CC"/>
                </a:solidFill>
                <a:latin typeface="Calibri" pitchFamily="34" charset="0"/>
                <a:ea typeface="Calibri" pitchFamily="34" charset="-122"/>
                <a:cs typeface="Calibri" pitchFamily="34" charset="-120"/>
              </a:rPr>
              <a:t>TS types mirror</a:t>
            </a:r>
            <a:endParaRPr lang="en-US" sz="900" dirty="0"/>
          </a:p>
          <a:p>
            <a:pPr algn="ctr" indent="0" marL="0">
              <a:lnSpc>
                <a:spcPct val="130000"/>
              </a:lnSpc>
              <a:buNone/>
            </a:pPr>
            <a:r>
              <a:rPr lang="en-US" sz="900" dirty="0">
                <a:solidFill>
                  <a:srgbClr val="8FB3CC"/>
                </a:solidFill>
                <a:latin typeface="Calibri" pitchFamily="34" charset="0"/>
                <a:ea typeface="Calibri" pitchFamily="34" charset="-122"/>
                <a:cs typeface="Calibri" pitchFamily="34" charset="-120"/>
              </a:rPr>
              <a:t>API schemas</a:t>
            </a:r>
            <a:endParaRPr lang="en-US" sz="900" dirty="0"/>
          </a:p>
        </p:txBody>
      </p:sp>
      <p:sp>
        <p:nvSpPr>
          <p:cNvPr id="18" name="Shape 16"/>
          <p:cNvSpPr/>
          <p:nvPr/>
        </p:nvSpPr>
        <p:spPr>
          <a:xfrm>
            <a:off x="4572000" y="2103120"/>
            <a:ext cx="1700784" cy="548640"/>
          </a:xfrm>
          <a:prstGeom prst="line">
            <a:avLst/>
          </a:prstGeom>
          <a:noFill/>
          <a:ln w="19050">
            <a:solidFill>
              <a:srgbClr val="9B59B6">
                <a:alpha val="55000"/>
              </a:srgbClr>
            </a:solidFill>
            <a:prstDash val="solid"/>
          </a:ln>
        </p:spPr>
      </p:sp>
      <p:sp>
        <p:nvSpPr>
          <p:cNvPr id="19" name="Shape 17"/>
          <p:cNvSpPr/>
          <p:nvPr/>
        </p:nvSpPr>
        <p:spPr>
          <a:xfrm>
            <a:off x="5431536" y="2633472"/>
            <a:ext cx="1682496" cy="658368"/>
          </a:xfrm>
          <a:prstGeom prst="roundRect">
            <a:avLst>
              <a:gd name="adj" fmla="val 11111"/>
            </a:avLst>
          </a:prstGeom>
          <a:solidFill>
            <a:srgbClr val="9B59B6">
              <a:alpha val="85000"/>
            </a:srgbClr>
          </a:solidFill>
          <a:ln w="12700">
            <a:solidFill>
              <a:srgbClr val="9B59B6">
                <a:alpha val="70000"/>
              </a:srgbClr>
            </a:solidFill>
            <a:prstDash val="solid"/>
          </a:ln>
          <a:effectLst>
            <a:outerShdw sx="100000" sy="100000" kx="0" ky="0" algn="bl" rotWithShape="0" blurRad="101600" dist="38100" dir="2700000">
              <a:srgbClr val="000000">
                <a:alpha val="18000"/>
              </a:srgbClr>
            </a:outerShdw>
          </a:effectLst>
        </p:spPr>
      </p:sp>
      <p:sp>
        <p:nvSpPr>
          <p:cNvPr id="20" name="Text 18"/>
          <p:cNvSpPr/>
          <p:nvPr/>
        </p:nvSpPr>
        <p:spPr>
          <a:xfrm>
            <a:off x="5431536" y="2633472"/>
            <a:ext cx="1682496" cy="65836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MS Fabric</a:t>
            </a:r>
            <a:endParaRPr lang="en-US" sz="1050" dirty="0"/>
          </a:p>
        </p:txBody>
      </p:sp>
      <p:sp>
        <p:nvSpPr>
          <p:cNvPr id="21" name="Text 19"/>
          <p:cNvSpPr/>
          <p:nvPr/>
        </p:nvSpPr>
        <p:spPr>
          <a:xfrm>
            <a:off x="5431536" y="3337560"/>
            <a:ext cx="1682496" cy="685800"/>
          </a:xfrm>
          <a:prstGeom prst="rect">
            <a:avLst/>
          </a:prstGeom>
          <a:noFill/>
          <a:ln/>
        </p:spPr>
        <p:txBody>
          <a:bodyPr wrap="square" lIns="0" tIns="0" rIns="0" bIns="0" rtlCol="0" anchor="ctr"/>
          <a:lstStyle/>
          <a:p>
            <a:pPr algn="ctr" indent="0" marL="0">
              <a:lnSpc>
                <a:spcPct val="130000"/>
              </a:lnSpc>
              <a:buNone/>
            </a:pPr>
            <a:r>
              <a:rPr lang="en-US" sz="900" dirty="0">
                <a:solidFill>
                  <a:srgbClr val="8FB3CC"/>
                </a:solidFill>
                <a:latin typeface="Calibri" pitchFamily="34" charset="0"/>
                <a:ea typeface="Calibri" pitchFamily="34" charset="-122"/>
                <a:cs typeface="Calibri" pitchFamily="34" charset="-120"/>
              </a:rPr>
              <a:t>Medallion rules</a:t>
            </a:r>
            <a:endParaRPr lang="en-US" sz="900" dirty="0"/>
          </a:p>
          <a:p>
            <a:pPr algn="ctr" indent="0" marL="0">
              <a:lnSpc>
                <a:spcPct val="130000"/>
              </a:lnSpc>
              <a:buNone/>
            </a:pPr>
            <a:r>
              <a:rPr lang="en-US" sz="900" dirty="0">
                <a:solidFill>
                  <a:srgbClr val="8FB3CC"/>
                </a:solidFill>
                <a:latin typeface="Calibri" pitchFamily="34" charset="0"/>
                <a:ea typeface="Calibri" pitchFamily="34" charset="-122"/>
                <a:cs typeface="Calibri" pitchFamily="34" charset="-120"/>
              </a:rPr>
              <a:t>from Data layer</a:t>
            </a:r>
            <a:endParaRPr lang="en-US" sz="900" dirty="0"/>
          </a:p>
        </p:txBody>
      </p:sp>
      <p:sp>
        <p:nvSpPr>
          <p:cNvPr id="22" name="Shape 20"/>
          <p:cNvSpPr/>
          <p:nvPr/>
        </p:nvSpPr>
        <p:spPr>
          <a:xfrm>
            <a:off x="4572000" y="2103120"/>
            <a:ext cx="3456432" cy="548640"/>
          </a:xfrm>
          <a:prstGeom prst="line">
            <a:avLst/>
          </a:prstGeom>
          <a:noFill/>
          <a:ln w="19050">
            <a:solidFill>
              <a:srgbClr val="E67E22">
                <a:alpha val="55000"/>
              </a:srgbClr>
            </a:solidFill>
            <a:prstDash val="solid"/>
          </a:ln>
        </p:spPr>
      </p:sp>
      <p:sp>
        <p:nvSpPr>
          <p:cNvPr id="23" name="Shape 21"/>
          <p:cNvSpPr/>
          <p:nvPr/>
        </p:nvSpPr>
        <p:spPr>
          <a:xfrm>
            <a:off x="7187184" y="2633472"/>
            <a:ext cx="1682496" cy="658368"/>
          </a:xfrm>
          <a:prstGeom prst="roundRect">
            <a:avLst>
              <a:gd name="adj" fmla="val 11111"/>
            </a:avLst>
          </a:prstGeom>
          <a:solidFill>
            <a:srgbClr val="E67E22">
              <a:alpha val="85000"/>
            </a:srgbClr>
          </a:solidFill>
          <a:ln w="12700">
            <a:solidFill>
              <a:srgbClr val="E67E22">
                <a:alpha val="70000"/>
              </a:srgbClr>
            </a:solidFill>
            <a:prstDash val="solid"/>
          </a:ln>
          <a:effectLst>
            <a:outerShdw sx="100000" sy="100000" kx="0" ky="0" algn="bl" rotWithShape="0" blurRad="101600" dist="38100" dir="2700000">
              <a:srgbClr val="000000">
                <a:alpha val="18000"/>
              </a:srgbClr>
            </a:outerShdw>
          </a:effectLst>
        </p:spPr>
      </p:sp>
      <p:sp>
        <p:nvSpPr>
          <p:cNvPr id="24" name="Text 22"/>
          <p:cNvSpPr/>
          <p:nvPr/>
        </p:nvSpPr>
        <p:spPr>
          <a:xfrm>
            <a:off x="7187184" y="2633472"/>
            <a:ext cx="1682496" cy="65836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Databricks</a:t>
            </a:r>
            <a:endParaRPr lang="en-US" sz="1050" dirty="0"/>
          </a:p>
        </p:txBody>
      </p:sp>
      <p:sp>
        <p:nvSpPr>
          <p:cNvPr id="25" name="Text 23"/>
          <p:cNvSpPr/>
          <p:nvPr/>
        </p:nvSpPr>
        <p:spPr>
          <a:xfrm>
            <a:off x="7187184" y="3337560"/>
            <a:ext cx="1682496" cy="685800"/>
          </a:xfrm>
          <a:prstGeom prst="rect">
            <a:avLst/>
          </a:prstGeom>
          <a:noFill/>
          <a:ln/>
        </p:spPr>
        <p:txBody>
          <a:bodyPr wrap="square" lIns="0" tIns="0" rIns="0" bIns="0" rtlCol="0" anchor="ctr"/>
          <a:lstStyle/>
          <a:p>
            <a:pPr algn="ctr" indent="0" marL="0">
              <a:lnSpc>
                <a:spcPct val="130000"/>
              </a:lnSpc>
              <a:buNone/>
            </a:pPr>
            <a:r>
              <a:rPr lang="en-US" sz="900" dirty="0">
                <a:solidFill>
                  <a:srgbClr val="8FB3CC"/>
                </a:solidFill>
                <a:latin typeface="Calibri" pitchFamily="34" charset="0"/>
                <a:ea typeface="Calibri" pitchFamily="34" charset="-122"/>
                <a:cs typeface="Calibri" pitchFamily="34" charset="-120"/>
              </a:rPr>
              <a:t>Unity Catalog +</a:t>
            </a:r>
            <a:endParaRPr lang="en-US" sz="900" dirty="0"/>
          </a:p>
          <a:p>
            <a:pPr algn="ctr" indent="0" marL="0">
              <a:lnSpc>
                <a:spcPct val="130000"/>
              </a:lnSpc>
              <a:buNone/>
            </a:pPr>
            <a:r>
              <a:rPr lang="en-US" sz="900" dirty="0">
                <a:solidFill>
                  <a:srgbClr val="8FB3CC"/>
                </a:solidFill>
                <a:latin typeface="Calibri" pitchFamily="34" charset="0"/>
                <a:ea typeface="Calibri" pitchFamily="34" charset="-122"/>
                <a:cs typeface="Calibri" pitchFamily="34" charset="-120"/>
              </a:rPr>
              <a:t>Delta standards</a:t>
            </a:r>
            <a:endParaRPr lang="en-US" sz="900" dirty="0"/>
          </a:p>
        </p:txBody>
      </p:sp>
      <p:sp>
        <p:nvSpPr>
          <p:cNvPr id="26" name="Shape 24"/>
          <p:cNvSpPr/>
          <p:nvPr/>
        </p:nvSpPr>
        <p:spPr>
          <a:xfrm>
            <a:off x="457200" y="4160520"/>
            <a:ext cx="8229600" cy="713232"/>
          </a:xfrm>
          <a:prstGeom prst="roundRect">
            <a:avLst>
              <a:gd name="adj" fmla="val 12821"/>
            </a:avLst>
          </a:prstGeom>
          <a:solidFill>
            <a:srgbClr val="0D3060"/>
          </a:solidFill>
          <a:ln w="12700">
            <a:solidFill>
              <a:srgbClr val="02C39A">
                <a:alpha val="45000"/>
              </a:srgbClr>
            </a:solidFill>
            <a:prstDash val="solid"/>
          </a:ln>
          <a:effectLst>
            <a:outerShdw sx="100000" sy="100000" kx="0" ky="0" algn="bl" rotWithShape="0" blurRad="101600" dist="38100" dir="2700000">
              <a:srgbClr val="000000">
                <a:alpha val="18000"/>
              </a:srgbClr>
            </a:outerShdw>
          </a:effectLst>
        </p:spPr>
      </p:sp>
      <p:sp>
        <p:nvSpPr>
          <p:cNvPr id="27" name="Text 25"/>
          <p:cNvSpPr/>
          <p:nvPr/>
        </p:nvSpPr>
        <p:spPr>
          <a:xfrm>
            <a:off x="640080" y="4160520"/>
            <a:ext cx="7863840" cy="713232"/>
          </a:xfrm>
          <a:prstGeom prst="rect">
            <a:avLst/>
          </a:prstGeom>
          <a:noFill/>
          <a:ln/>
        </p:spPr>
        <p:txBody>
          <a:bodyPr wrap="square" lIns="0" tIns="0" rIns="0" bIns="0" rtlCol="0" anchor="ctr"/>
          <a:lstStyle/>
          <a:p>
            <a:pPr indent="0" marL="0">
              <a:buNone/>
            </a:pPr>
            <a:r>
              <a:rPr lang="en-US" sz="1050" b="1" dirty="0">
                <a:solidFill>
                  <a:srgbClr val="02C39A"/>
                </a:solidFill>
                <a:latin typeface="Calibri" pitchFamily="34" charset="0"/>
                <a:ea typeface="Calibri" pitchFamily="34" charset="-122"/>
                <a:cs typeface="Calibri" pitchFamily="34" charset="-120"/>
              </a:rPr>
              <a:t>workspace.config.md  </a:t>
            </a:r>
            <a:pPr indent="0" marL="0">
              <a:buNone/>
            </a:pPr>
            <a:r>
              <a:rPr lang="en-US" sz="1050" dirty="0">
                <a:solidFill>
                  <a:srgbClr val="E8F1F5"/>
                </a:solidFill>
                <a:latin typeface="Calibri" pitchFamily="34" charset="0"/>
                <a:ea typeface="Calibri" pitchFamily="34" charset="-122"/>
                <a:cs typeface="Calibri" pitchFamily="34" charset="-120"/>
              </a:rPr>
              <a:t>— Single source of truth for all environment names, IDs, cluster specs, secret scopes and connection strings. The agent reads this first. If any value is missing, it asks before proceeding.</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F3D"/>
        </a:solidFill>
      </p:bgPr>
    </p:bg>
    <p:spTree>
      <p:nvGrpSpPr>
        <p:cNvPr id="1" name=""/>
        <p:cNvGrpSpPr/>
        <p:nvPr/>
      </p:nvGrpSpPr>
      <p:grpSpPr>
        <a:xfrm>
          <a:off x="0" y="0"/>
          <a:ext cx="0" cy="0"/>
          <a:chOff x="0" y="0"/>
          <a:chExt cx="0" cy="0"/>
        </a:xfrm>
      </p:grpSpPr>
      <p:sp>
        <p:nvSpPr>
          <p:cNvPr id="2" name="Text 0"/>
          <p:cNvSpPr/>
          <p:nvPr/>
        </p:nvSpPr>
        <p:spPr>
          <a:xfrm>
            <a:off x="457200" y="256032"/>
            <a:ext cx="8229600" cy="411480"/>
          </a:xfrm>
          <a:prstGeom prst="rect">
            <a:avLst/>
          </a:prstGeom>
          <a:noFill/>
          <a:ln/>
        </p:spPr>
        <p:txBody>
          <a:bodyPr wrap="square" lIns="0" tIns="0" rIns="0" bIns="0" rtlCol="0" anchor="ctr"/>
          <a:lstStyle/>
          <a:p>
            <a:pPr indent="0" marL="0">
              <a:buNone/>
            </a:pPr>
            <a:r>
              <a:rPr lang="en-US" sz="1100" b="1" spc="300" kern="0" dirty="0">
                <a:solidFill>
                  <a:srgbClr val="02C39A"/>
                </a:solidFill>
                <a:latin typeface="Calibri" pitchFamily="34" charset="0"/>
                <a:ea typeface="Calibri" pitchFamily="34" charset="-122"/>
                <a:cs typeface="Calibri" pitchFamily="34" charset="-120"/>
              </a:rPr>
              <a:t>The Most Important Rule</a:t>
            </a:r>
            <a:endParaRPr lang="en-US" sz="1100" dirty="0"/>
          </a:p>
        </p:txBody>
      </p:sp>
      <p:sp>
        <p:nvSpPr>
          <p:cNvPr id="3" name="Shape 1"/>
          <p:cNvSpPr/>
          <p:nvPr/>
        </p:nvSpPr>
        <p:spPr>
          <a:xfrm>
            <a:off x="365760" y="713232"/>
            <a:ext cx="8412480" cy="960120"/>
          </a:xfrm>
          <a:prstGeom prst="roundRect">
            <a:avLst>
              <a:gd name="adj" fmla="val 9524"/>
            </a:avLst>
          </a:prstGeom>
          <a:solidFill>
            <a:srgbClr val="02C39A">
              <a:alpha val="12000"/>
            </a:srgbClr>
          </a:solidFill>
          <a:ln w="12700">
            <a:solidFill>
              <a:srgbClr val="02C39A">
                <a:alpha val="60000"/>
              </a:srgbClr>
            </a:solidFill>
            <a:prstDash val="solid"/>
          </a:ln>
        </p:spPr>
      </p:sp>
      <p:pic>
        <p:nvPicPr>
          <p:cNvPr id="4" name="Image 0" descr="preencoded.png">    </p:cNvPr>
          <p:cNvPicPr>
            <a:picLocks noChangeAspect="1"/>
          </p:cNvPicPr>
          <p:nvPr/>
        </p:nvPicPr>
        <p:blipFill>
          <a:blip r:embed="rId1"/>
          <a:stretch>
            <a:fillRect/>
          </a:stretch>
        </p:blipFill>
        <p:spPr>
          <a:xfrm>
            <a:off x="594360" y="804672"/>
            <a:ext cx="640080" cy="640080"/>
          </a:xfrm>
          <a:prstGeom prst="rect">
            <a:avLst/>
          </a:prstGeom>
        </p:spPr>
      </p:pic>
      <p:sp>
        <p:nvSpPr>
          <p:cNvPr id="5" name="Text 2"/>
          <p:cNvSpPr/>
          <p:nvPr/>
        </p:nvSpPr>
        <p:spPr>
          <a:xfrm>
            <a:off x="1325880" y="713232"/>
            <a:ext cx="7315200" cy="960120"/>
          </a:xfrm>
          <a:prstGeom prst="rect">
            <a:avLst/>
          </a:prstGeom>
          <a:noFill/>
          <a:ln/>
        </p:spPr>
        <p:txBody>
          <a:bodyPr wrap="square" lIns="0" tIns="0" rIns="0" bIns="0" rtlCol="0" anchor="ctr"/>
          <a:lstStyle/>
          <a:p>
            <a:pPr indent="0" marL="0">
              <a:buNone/>
            </a:pPr>
            <a:r>
              <a:rPr lang="en-US" sz="2400" b="1" dirty="0">
                <a:solidFill>
                  <a:srgbClr val="02C39A"/>
                </a:solidFill>
                <a:latin typeface="Cambria" pitchFamily="34" charset="0"/>
                <a:ea typeface="Cambria" pitchFamily="34" charset="-122"/>
                <a:cs typeface="Cambria" pitchFamily="34" charset="-120"/>
              </a:rPr>
              <a:t>Rule Zero — Ask Before You Build</a:t>
            </a:r>
            <a:endParaRPr lang="en-US" sz="2400" dirty="0"/>
          </a:p>
        </p:txBody>
      </p:sp>
      <p:sp>
        <p:nvSpPr>
          <p:cNvPr id="6" name="Shape 3"/>
          <p:cNvSpPr/>
          <p:nvPr/>
        </p:nvSpPr>
        <p:spPr>
          <a:xfrm>
            <a:off x="365760" y="1847088"/>
            <a:ext cx="4023360" cy="2999232"/>
          </a:xfrm>
          <a:prstGeom prst="roundRect">
            <a:avLst>
              <a:gd name="adj" fmla="val 3049"/>
            </a:avLst>
          </a:prstGeom>
          <a:solidFill>
            <a:srgbClr val="0D3060"/>
          </a:solidFill>
          <a:ln w="12700">
            <a:solidFill>
              <a:srgbClr val="028090">
                <a:alpha val="45000"/>
              </a:srgbClr>
            </a:solidFill>
            <a:prstDash val="solid"/>
          </a:ln>
          <a:effectLst>
            <a:outerShdw sx="100000" sy="100000" kx="0" ky="0" algn="bl" rotWithShape="0" blurRad="101600" dist="38100" dir="2700000">
              <a:srgbClr val="000000">
                <a:alpha val="18000"/>
              </a:srgbClr>
            </a:outerShdw>
          </a:effectLst>
        </p:spPr>
      </p:sp>
      <p:sp>
        <p:nvSpPr>
          <p:cNvPr id="7" name="Text 4"/>
          <p:cNvSpPr/>
          <p:nvPr/>
        </p:nvSpPr>
        <p:spPr>
          <a:xfrm>
            <a:off x="548640" y="1993392"/>
            <a:ext cx="3657600" cy="38404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Agent Asks When...</a:t>
            </a:r>
            <a:endParaRPr lang="en-US" sz="1300" dirty="0"/>
          </a:p>
        </p:txBody>
      </p:sp>
      <p:sp>
        <p:nvSpPr>
          <p:cNvPr id="8" name="Text 5"/>
          <p:cNvSpPr/>
          <p:nvPr/>
        </p:nvSpPr>
        <p:spPr>
          <a:xfrm>
            <a:off x="548640" y="2450592"/>
            <a:ext cx="3703320" cy="2212848"/>
          </a:xfrm>
          <a:prstGeom prst="rect">
            <a:avLst/>
          </a:prstGeom>
          <a:noFill/>
          <a:ln/>
        </p:spPr>
        <p:txBody>
          <a:bodyPr wrap="square" lIns="0" tIns="0" rIns="0" bIns="0" rtlCol="0" anchor="ctr"/>
          <a:lstStyle/>
          <a:p>
            <a:pPr indent="0" marL="0">
              <a:lnSpc>
                <a:spcPct val="155000"/>
              </a:lnSpc>
              <a:buNone/>
            </a:pPr>
            <a:r>
              <a:rPr lang="en-US" sz="1050" dirty="0">
                <a:solidFill>
                  <a:srgbClr val="E8F1F5"/>
                </a:solidFill>
                <a:latin typeface="Calibri" pitchFamily="34" charset="0"/>
                <a:ea typeface="Calibri" pitchFamily="34" charset="-122"/>
                <a:cs typeface="Calibri" pitchFamily="34" charset="-120"/>
              </a:rPr>
              <a:t>→  Catalog / schema / table name is unknown
</a:t>
            </a:r>
            <a:pPr indent="0" marL="0">
              <a:lnSpc>
                <a:spcPct val="155000"/>
              </a:lnSpc>
              <a:buNone/>
            </a:pPr>
            <a:r>
              <a:rPr lang="en-US" sz="1050" dirty="0">
                <a:solidFill>
                  <a:srgbClr val="E8F1F5"/>
                </a:solidFill>
                <a:latin typeface="Calibri" pitchFamily="34" charset="0"/>
                <a:ea typeface="Calibri" pitchFamily="34" charset="-122"/>
                <a:cs typeface="Calibri" pitchFamily="34" charset="-120"/>
              </a:rPr>
              <a:t>→  Source system not in workspace.config.md
</a:t>
            </a:r>
            <a:pPr indent="0" marL="0">
              <a:lnSpc>
                <a:spcPct val="155000"/>
              </a:lnSpc>
              <a:buNone/>
            </a:pPr>
            <a:r>
              <a:rPr lang="en-US" sz="1050" dirty="0">
                <a:solidFill>
                  <a:srgbClr val="E8F1F5"/>
                </a:solidFill>
                <a:latin typeface="Calibri" pitchFamily="34" charset="0"/>
                <a:ea typeface="Calibri" pitchFamily="34" charset="-122"/>
                <a:cs typeface="Calibri" pitchFamily="34" charset="-120"/>
              </a:rPr>
              <a:t>→  PII classification is unclear
</a:t>
            </a:r>
            <a:pPr indent="0" marL="0">
              <a:lnSpc>
                <a:spcPct val="155000"/>
              </a:lnSpc>
              <a:buNone/>
            </a:pPr>
            <a:r>
              <a:rPr lang="en-US" sz="1050" dirty="0">
                <a:solidFill>
                  <a:srgbClr val="E8F1F5"/>
                </a:solidFill>
                <a:latin typeface="Calibri" pitchFamily="34" charset="0"/>
                <a:ea typeface="Calibri" pitchFamily="34" charset="-122"/>
                <a:cs typeface="Calibri" pitchFamily="34" charset="-120"/>
              </a:rPr>
              <a:t>→  Full vs incremental load not confirmed
</a:t>
            </a:r>
            <a:pPr indent="0" marL="0">
              <a:lnSpc>
                <a:spcPct val="155000"/>
              </a:lnSpc>
              <a:buNone/>
            </a:pPr>
            <a:r>
              <a:rPr lang="en-US" sz="1050" dirty="0">
                <a:solidFill>
                  <a:srgbClr val="E8F1F5"/>
                </a:solidFill>
                <a:latin typeface="Calibri" pitchFamily="34" charset="0"/>
                <a:ea typeface="Calibri" pitchFamily="34" charset="-122"/>
                <a:cs typeface="Calibri" pitchFamily="34" charset="-120"/>
              </a:rPr>
              <a:t>→  Two valid interpretations exist
</a:t>
            </a:r>
            <a:pPr indent="0" marL="0">
              <a:lnSpc>
                <a:spcPct val="155000"/>
              </a:lnSpc>
              <a:buNone/>
            </a:pPr>
            <a:r>
              <a:rPr lang="en-US" sz="1050" dirty="0">
                <a:solidFill>
                  <a:srgbClr val="E8F1F5"/>
                </a:solidFill>
                <a:latin typeface="Calibri" pitchFamily="34" charset="0"/>
                <a:ea typeface="Calibri" pitchFamily="34" charset="-122"/>
                <a:cs typeface="Calibri" pitchFamily="34" charset="-120"/>
              </a:rPr>
              <a:t>→  Target environment (dev/uat/prod) unspecified</a:t>
            </a:r>
            <a:endParaRPr lang="en-US" sz="1050" dirty="0"/>
          </a:p>
        </p:txBody>
      </p:sp>
      <p:sp>
        <p:nvSpPr>
          <p:cNvPr id="9" name="Shape 6"/>
          <p:cNvSpPr/>
          <p:nvPr/>
        </p:nvSpPr>
        <p:spPr>
          <a:xfrm>
            <a:off x="4754880" y="1847088"/>
            <a:ext cx="4023360" cy="2999232"/>
          </a:xfrm>
          <a:prstGeom prst="roundRect">
            <a:avLst>
              <a:gd name="adj" fmla="val 3049"/>
            </a:avLst>
          </a:prstGeom>
          <a:solidFill>
            <a:srgbClr val="0D3060"/>
          </a:solidFill>
          <a:ln w="12700">
            <a:solidFill>
              <a:srgbClr val="028090">
                <a:alpha val="45000"/>
              </a:srgbClr>
            </a:solidFill>
            <a:prstDash val="solid"/>
          </a:ln>
          <a:effectLst>
            <a:outerShdw sx="100000" sy="100000" kx="0" ky="0" algn="bl" rotWithShape="0" blurRad="101600" dist="38100" dir="2700000">
              <a:srgbClr val="000000">
                <a:alpha val="18000"/>
              </a:srgbClr>
            </a:outerShdw>
          </a:effectLst>
        </p:spPr>
      </p:sp>
      <p:sp>
        <p:nvSpPr>
          <p:cNvPr id="10" name="Text 7"/>
          <p:cNvSpPr/>
          <p:nvPr/>
        </p:nvSpPr>
        <p:spPr>
          <a:xfrm>
            <a:off x="4937760" y="1993392"/>
            <a:ext cx="3657600" cy="38404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What Never Happens</a:t>
            </a:r>
            <a:endParaRPr lang="en-US" sz="1300" dirty="0"/>
          </a:p>
        </p:txBody>
      </p:sp>
      <p:sp>
        <p:nvSpPr>
          <p:cNvPr id="11" name="Text 8"/>
          <p:cNvSpPr/>
          <p:nvPr/>
        </p:nvSpPr>
        <p:spPr>
          <a:xfrm>
            <a:off x="4937760" y="2450592"/>
            <a:ext cx="3703320" cy="2212848"/>
          </a:xfrm>
          <a:prstGeom prst="rect">
            <a:avLst/>
          </a:prstGeom>
          <a:noFill/>
          <a:ln/>
        </p:spPr>
        <p:txBody>
          <a:bodyPr wrap="square" lIns="0" tIns="0" rIns="0" bIns="0" rtlCol="0" anchor="ctr"/>
          <a:lstStyle/>
          <a:p>
            <a:pPr indent="0" marL="0">
              <a:lnSpc>
                <a:spcPct val="155000"/>
              </a:lnSpc>
              <a:buNone/>
            </a:pPr>
            <a:r>
              <a:rPr lang="en-US" sz="1050" dirty="0">
                <a:solidFill>
                  <a:srgbClr val="F87171"/>
                </a:solidFill>
                <a:latin typeface="Calibri" pitchFamily="34" charset="0"/>
                <a:ea typeface="Calibri" pitchFamily="34" charset="-122"/>
                <a:cs typeface="Calibri" pitchFamily="34" charset="-120"/>
              </a:rPr>
              <a:t>✕  Inventing table or catalog names
</a:t>
            </a:r>
            <a:pPr indent="0" marL="0">
              <a:lnSpc>
                <a:spcPct val="155000"/>
              </a:lnSpc>
              <a:buNone/>
            </a:pPr>
            <a:r>
              <a:rPr lang="en-US" sz="1050" dirty="0">
                <a:solidFill>
                  <a:srgbClr val="F87171"/>
                </a:solidFill>
                <a:latin typeface="Calibri" pitchFamily="34" charset="0"/>
                <a:ea typeface="Calibri" pitchFamily="34" charset="-122"/>
                <a:cs typeface="Calibri" pitchFamily="34" charset="-120"/>
              </a:rPr>
              <a:t>✕  Assuming PROD when not confirmed
</a:t>
            </a:r>
            <a:pPr indent="0" marL="0">
              <a:lnSpc>
                <a:spcPct val="155000"/>
              </a:lnSpc>
              <a:buNone/>
            </a:pPr>
            <a:r>
              <a:rPr lang="en-US" sz="1050" dirty="0">
                <a:solidFill>
                  <a:srgbClr val="F87171"/>
                </a:solidFill>
                <a:latin typeface="Calibri" pitchFamily="34" charset="0"/>
                <a:ea typeface="Calibri" pitchFamily="34" charset="-122"/>
                <a:cs typeface="Calibri" pitchFamily="34" charset="-120"/>
              </a:rPr>
              <a:t>✕  Guessing PII classification
</a:t>
            </a:r>
            <a:pPr indent="0" marL="0">
              <a:lnSpc>
                <a:spcPct val="155000"/>
              </a:lnSpc>
              <a:buNone/>
            </a:pPr>
            <a:r>
              <a:rPr lang="en-US" sz="1050" dirty="0">
                <a:solidFill>
                  <a:srgbClr val="F87171"/>
                </a:solidFill>
                <a:latin typeface="Calibri" pitchFamily="34" charset="0"/>
                <a:ea typeface="Calibri" pitchFamily="34" charset="-122"/>
                <a:cs typeface="Calibri" pitchFamily="34" charset="-120"/>
              </a:rPr>
              <a:t>✕  Silently using placeholder values
</a:t>
            </a:r>
            <a:pPr indent="0" marL="0">
              <a:lnSpc>
                <a:spcPct val="155000"/>
              </a:lnSpc>
              <a:buNone/>
            </a:pPr>
            <a:r>
              <a:rPr lang="en-US" sz="1050" dirty="0">
                <a:solidFill>
                  <a:srgbClr val="F87171"/>
                </a:solidFill>
                <a:latin typeface="Calibri" pitchFamily="34" charset="0"/>
                <a:ea typeface="Calibri" pitchFamily="34" charset="-122"/>
                <a:cs typeface="Calibri" pitchFamily="34" charset="-120"/>
              </a:rPr>
              <a:t>✕  Proceeding on ambiguous requirements
</a:t>
            </a:r>
            <a:pPr indent="0" marL="0">
              <a:lnSpc>
                <a:spcPct val="155000"/>
              </a:lnSpc>
              <a:buNone/>
            </a:pPr>
            <a:r>
              <a:rPr lang="en-US" sz="1050" dirty="0">
                <a:solidFill>
                  <a:srgbClr val="F87171"/>
                </a:solidFill>
                <a:latin typeface="Calibri" pitchFamily="34" charset="0"/>
                <a:ea typeface="Calibri" pitchFamily="34" charset="-122"/>
                <a:cs typeface="Calibri" pitchFamily="34" charset="-120"/>
              </a:rPr>
              <a:t>✕  Skipping the workspace.config.md check</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F3D"/>
        </a:solidFill>
      </p:bgPr>
    </p:bg>
    <p:spTree>
      <p:nvGrpSpPr>
        <p:cNvPr id="1" name=""/>
        <p:cNvGrpSpPr/>
        <p:nvPr/>
      </p:nvGrpSpPr>
      <p:grpSpPr>
        <a:xfrm>
          <a:off x="0" y="0"/>
          <a:ext cx="0" cy="0"/>
          <a:chOff x="0" y="0"/>
          <a:chExt cx="0" cy="0"/>
        </a:xfrm>
      </p:grpSpPr>
      <p:sp>
        <p:nvSpPr>
          <p:cNvPr id="2" name="Text 0"/>
          <p:cNvSpPr/>
          <p:nvPr/>
        </p:nvSpPr>
        <p:spPr>
          <a:xfrm>
            <a:off x="457200" y="256032"/>
            <a:ext cx="8229600" cy="411480"/>
          </a:xfrm>
          <a:prstGeom prst="rect">
            <a:avLst/>
          </a:prstGeom>
          <a:noFill/>
          <a:ln/>
        </p:spPr>
        <p:txBody>
          <a:bodyPr wrap="square" lIns="0" tIns="0" rIns="0" bIns="0" rtlCol="0" anchor="ctr"/>
          <a:lstStyle/>
          <a:p>
            <a:pPr indent="0" marL="0">
              <a:buNone/>
            </a:pPr>
            <a:r>
              <a:rPr lang="en-US" sz="1100" b="1" spc="300" kern="0" dirty="0">
                <a:solidFill>
                  <a:srgbClr val="02C39A"/>
                </a:solidFill>
                <a:latin typeface="Calibri" pitchFamily="34" charset="0"/>
                <a:ea typeface="Calibri" pitchFamily="34" charset="-122"/>
                <a:cs typeface="Calibri" pitchFamily="34" charset="-120"/>
              </a:rPr>
              <a:t>Efficiency &amp; Impact</a:t>
            </a:r>
            <a:endParaRPr lang="en-US" sz="1100" dirty="0"/>
          </a:p>
        </p:txBody>
      </p:sp>
      <p:sp>
        <p:nvSpPr>
          <p:cNvPr id="3" name="Text 1"/>
          <p:cNvSpPr/>
          <p:nvPr/>
        </p:nvSpPr>
        <p:spPr>
          <a:xfrm>
            <a:off x="457200" y="640080"/>
            <a:ext cx="8229600" cy="59436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What the Playbook Saves Your Team</a:t>
            </a:r>
            <a:endParaRPr lang="en-US" sz="2600" dirty="0"/>
          </a:p>
        </p:txBody>
      </p:sp>
      <p:sp>
        <p:nvSpPr>
          <p:cNvPr id="4" name="Shape 2"/>
          <p:cNvSpPr/>
          <p:nvPr/>
        </p:nvSpPr>
        <p:spPr>
          <a:xfrm>
            <a:off x="365760" y="1389888"/>
            <a:ext cx="2651760" cy="1600200"/>
          </a:xfrm>
          <a:prstGeom prst="roundRect">
            <a:avLst>
              <a:gd name="adj" fmla="val 5714"/>
            </a:avLst>
          </a:prstGeom>
          <a:solidFill>
            <a:srgbClr val="0D3060"/>
          </a:solidFill>
          <a:ln w="12700">
            <a:solidFill>
              <a:srgbClr val="02C39A">
                <a:alpha val="40000"/>
              </a:srgbClr>
            </a:solidFill>
            <a:prstDash val="solid"/>
          </a:ln>
          <a:effectLst>
            <a:outerShdw sx="100000" sy="100000" kx="0" ky="0" algn="bl" rotWithShape="0" blurRad="101600" dist="38100" dir="2700000">
              <a:srgbClr val="000000">
                <a:alpha val="18000"/>
              </a:srgbClr>
            </a:outerShdw>
          </a:effectLst>
        </p:spPr>
      </p:sp>
      <p:sp>
        <p:nvSpPr>
          <p:cNvPr id="5" name="Text 3"/>
          <p:cNvSpPr/>
          <p:nvPr/>
        </p:nvSpPr>
        <p:spPr>
          <a:xfrm>
            <a:off x="457200" y="1463040"/>
            <a:ext cx="2468880" cy="777240"/>
          </a:xfrm>
          <a:prstGeom prst="rect">
            <a:avLst/>
          </a:prstGeom>
          <a:noFill/>
          <a:ln/>
        </p:spPr>
        <p:txBody>
          <a:bodyPr wrap="square" lIns="0" tIns="0" rIns="0" bIns="0" rtlCol="0" anchor="ctr"/>
          <a:lstStyle/>
          <a:p>
            <a:pPr algn="ctr" indent="0" marL="0">
              <a:buNone/>
            </a:pPr>
            <a:r>
              <a:rPr lang="en-US" sz="3800" b="1" dirty="0">
                <a:solidFill>
                  <a:srgbClr val="02C39A"/>
                </a:solidFill>
                <a:latin typeface="Cambria" pitchFamily="34" charset="0"/>
                <a:ea typeface="Cambria" pitchFamily="34" charset="-122"/>
                <a:cs typeface="Cambria" pitchFamily="34" charset="-120"/>
              </a:rPr>
              <a:t>90%</a:t>
            </a:r>
            <a:endParaRPr lang="en-US" sz="3800" dirty="0"/>
          </a:p>
        </p:txBody>
      </p:sp>
      <p:sp>
        <p:nvSpPr>
          <p:cNvPr id="6" name="Text 4"/>
          <p:cNvSpPr/>
          <p:nvPr/>
        </p:nvSpPr>
        <p:spPr>
          <a:xfrm>
            <a:off x="457200" y="2240280"/>
            <a:ext cx="2468880" cy="502920"/>
          </a:xfrm>
          <a:prstGeom prst="rect">
            <a:avLst/>
          </a:prstGeom>
          <a:noFill/>
          <a:ln/>
        </p:spPr>
        <p:txBody>
          <a:bodyPr wrap="square" lIns="0" tIns="0" rIns="0" bIns="0" rtlCol="0" anchor="ctr"/>
          <a:lstStyle/>
          <a:p>
            <a:pPr algn="ctr" indent="0" marL="0">
              <a:lnSpc>
                <a:spcPct val="110000"/>
              </a:lnSpc>
              <a:buNone/>
            </a:pPr>
            <a:r>
              <a:rPr lang="en-US" sz="1100" b="1" dirty="0">
                <a:solidFill>
                  <a:srgbClr val="FFFFFF"/>
                </a:solidFill>
                <a:latin typeface="Calibri" pitchFamily="34" charset="0"/>
                <a:ea typeface="Calibri" pitchFamily="34" charset="-122"/>
                <a:cs typeface="Calibri" pitchFamily="34" charset="-120"/>
              </a:rPr>
              <a:t>Reduction in</a:t>
            </a:r>
            <a:endParaRPr lang="en-US" sz="1100" dirty="0"/>
          </a:p>
          <a:p>
            <a:pPr algn="ctr" indent="0" marL="0">
              <a:lnSpc>
                <a:spcPct val="110000"/>
              </a:lnSpc>
              <a:buNone/>
            </a:pPr>
            <a:r>
              <a:rPr lang="en-US" sz="1100" b="1" dirty="0">
                <a:solidFill>
                  <a:srgbClr val="FFFFFF"/>
                </a:solidFill>
                <a:latin typeface="Calibri" pitchFamily="34" charset="0"/>
                <a:ea typeface="Calibri" pitchFamily="34" charset="-122"/>
                <a:cs typeface="Calibri" pitchFamily="34" charset="-120"/>
              </a:rPr>
              <a:t>standards rework</a:t>
            </a:r>
            <a:endParaRPr lang="en-US" sz="1100" dirty="0"/>
          </a:p>
        </p:txBody>
      </p:sp>
      <p:sp>
        <p:nvSpPr>
          <p:cNvPr id="7" name="Shape 5"/>
          <p:cNvSpPr/>
          <p:nvPr/>
        </p:nvSpPr>
        <p:spPr>
          <a:xfrm>
            <a:off x="3291840" y="1389888"/>
            <a:ext cx="2651760" cy="1600200"/>
          </a:xfrm>
          <a:prstGeom prst="roundRect">
            <a:avLst>
              <a:gd name="adj" fmla="val 5714"/>
            </a:avLst>
          </a:prstGeom>
          <a:solidFill>
            <a:srgbClr val="0D3060"/>
          </a:solidFill>
          <a:ln w="12700">
            <a:solidFill>
              <a:srgbClr val="02C39A">
                <a:alpha val="40000"/>
              </a:srgbClr>
            </a:solidFill>
            <a:prstDash val="solid"/>
          </a:ln>
          <a:effectLst>
            <a:outerShdw sx="100000" sy="100000" kx="0" ky="0" algn="bl" rotWithShape="0" blurRad="101600" dist="38100" dir="2700000">
              <a:srgbClr val="000000">
                <a:alpha val="18000"/>
              </a:srgbClr>
            </a:outerShdw>
          </a:effectLst>
        </p:spPr>
      </p:sp>
      <p:sp>
        <p:nvSpPr>
          <p:cNvPr id="8" name="Text 6"/>
          <p:cNvSpPr/>
          <p:nvPr/>
        </p:nvSpPr>
        <p:spPr>
          <a:xfrm>
            <a:off x="3383280" y="1463040"/>
            <a:ext cx="2468880" cy="777240"/>
          </a:xfrm>
          <a:prstGeom prst="rect">
            <a:avLst/>
          </a:prstGeom>
          <a:noFill/>
          <a:ln/>
        </p:spPr>
        <p:txBody>
          <a:bodyPr wrap="square" lIns="0" tIns="0" rIns="0" bIns="0" rtlCol="0" anchor="ctr"/>
          <a:lstStyle/>
          <a:p>
            <a:pPr algn="ctr" indent="0" marL="0">
              <a:buNone/>
            </a:pPr>
            <a:r>
              <a:rPr lang="en-US" sz="3800" b="1" dirty="0">
                <a:solidFill>
                  <a:srgbClr val="02C39A"/>
                </a:solidFill>
                <a:latin typeface="Cambria" pitchFamily="34" charset="0"/>
                <a:ea typeface="Cambria" pitchFamily="34" charset="-122"/>
                <a:cs typeface="Cambria" pitchFamily="34" charset="-120"/>
              </a:rPr>
              <a:t>Zero</a:t>
            </a:r>
            <a:endParaRPr lang="en-US" sz="3800" dirty="0"/>
          </a:p>
        </p:txBody>
      </p:sp>
      <p:sp>
        <p:nvSpPr>
          <p:cNvPr id="9" name="Text 7"/>
          <p:cNvSpPr/>
          <p:nvPr/>
        </p:nvSpPr>
        <p:spPr>
          <a:xfrm>
            <a:off x="3383280" y="2240280"/>
            <a:ext cx="2468880" cy="502920"/>
          </a:xfrm>
          <a:prstGeom prst="rect">
            <a:avLst/>
          </a:prstGeom>
          <a:noFill/>
          <a:ln/>
        </p:spPr>
        <p:txBody>
          <a:bodyPr wrap="square" lIns="0" tIns="0" rIns="0" bIns="0" rtlCol="0" anchor="ctr"/>
          <a:lstStyle/>
          <a:p>
            <a:pPr algn="ctr" indent="0" marL="0">
              <a:lnSpc>
                <a:spcPct val="110000"/>
              </a:lnSpc>
              <a:buNone/>
            </a:pPr>
            <a:r>
              <a:rPr lang="en-US" sz="1100" b="1" dirty="0">
                <a:solidFill>
                  <a:srgbClr val="FFFFFF"/>
                </a:solidFill>
                <a:latin typeface="Calibri" pitchFamily="34" charset="0"/>
                <a:ea typeface="Calibri" pitchFamily="34" charset="-122"/>
                <a:cs typeface="Calibri" pitchFamily="34" charset="-120"/>
              </a:rPr>
              <a:t>Hardcoded secrets</a:t>
            </a:r>
            <a:endParaRPr lang="en-US" sz="1100" dirty="0"/>
          </a:p>
          <a:p>
            <a:pPr algn="ctr" indent="0" marL="0">
              <a:lnSpc>
                <a:spcPct val="110000"/>
              </a:lnSpc>
              <a:buNone/>
            </a:pPr>
            <a:r>
              <a:rPr lang="en-US" sz="1100" b="1" dirty="0">
                <a:solidFill>
                  <a:srgbClr val="FFFFFF"/>
                </a:solidFill>
                <a:latin typeface="Calibri" pitchFamily="34" charset="0"/>
                <a:ea typeface="Calibri" pitchFamily="34" charset="-122"/>
                <a:cs typeface="Calibri" pitchFamily="34" charset="-120"/>
              </a:rPr>
              <a:t>or credentials</a:t>
            </a:r>
            <a:endParaRPr lang="en-US" sz="1100" dirty="0"/>
          </a:p>
        </p:txBody>
      </p:sp>
      <p:sp>
        <p:nvSpPr>
          <p:cNvPr id="10" name="Shape 8"/>
          <p:cNvSpPr/>
          <p:nvPr/>
        </p:nvSpPr>
        <p:spPr>
          <a:xfrm>
            <a:off x="6217920" y="1389888"/>
            <a:ext cx="2651760" cy="1600200"/>
          </a:xfrm>
          <a:prstGeom prst="roundRect">
            <a:avLst>
              <a:gd name="adj" fmla="val 5714"/>
            </a:avLst>
          </a:prstGeom>
          <a:solidFill>
            <a:srgbClr val="0D3060"/>
          </a:solidFill>
          <a:ln w="12700">
            <a:solidFill>
              <a:srgbClr val="02C39A">
                <a:alpha val="40000"/>
              </a:srgbClr>
            </a:solidFill>
            <a:prstDash val="solid"/>
          </a:ln>
          <a:effectLst>
            <a:outerShdw sx="100000" sy="100000" kx="0" ky="0" algn="bl" rotWithShape="0" blurRad="101600" dist="38100" dir="2700000">
              <a:srgbClr val="000000">
                <a:alpha val="18000"/>
              </a:srgbClr>
            </a:outerShdw>
          </a:effectLst>
        </p:spPr>
      </p:sp>
      <p:sp>
        <p:nvSpPr>
          <p:cNvPr id="11" name="Text 9"/>
          <p:cNvSpPr/>
          <p:nvPr/>
        </p:nvSpPr>
        <p:spPr>
          <a:xfrm>
            <a:off x="6309360" y="1463040"/>
            <a:ext cx="2468880" cy="777240"/>
          </a:xfrm>
          <a:prstGeom prst="rect">
            <a:avLst/>
          </a:prstGeom>
          <a:noFill/>
          <a:ln/>
        </p:spPr>
        <p:txBody>
          <a:bodyPr wrap="square" lIns="0" tIns="0" rIns="0" bIns="0" rtlCol="0" anchor="ctr"/>
          <a:lstStyle/>
          <a:p>
            <a:pPr algn="ctr" indent="0" marL="0">
              <a:buNone/>
            </a:pPr>
            <a:r>
              <a:rPr lang="en-US" sz="3800" b="1" dirty="0">
                <a:solidFill>
                  <a:srgbClr val="02C39A"/>
                </a:solidFill>
                <a:latin typeface="Cambria" pitchFamily="34" charset="0"/>
                <a:ea typeface="Cambria" pitchFamily="34" charset="-122"/>
                <a:cs typeface="Cambria" pitchFamily="34" charset="-120"/>
              </a:rPr>
              <a:t>1</a:t>
            </a:r>
            <a:endParaRPr lang="en-US" sz="3800" dirty="0"/>
          </a:p>
        </p:txBody>
      </p:sp>
      <p:sp>
        <p:nvSpPr>
          <p:cNvPr id="12" name="Text 10"/>
          <p:cNvSpPr/>
          <p:nvPr/>
        </p:nvSpPr>
        <p:spPr>
          <a:xfrm>
            <a:off x="6309360" y="2240280"/>
            <a:ext cx="2468880" cy="502920"/>
          </a:xfrm>
          <a:prstGeom prst="rect">
            <a:avLst/>
          </a:prstGeom>
          <a:noFill/>
          <a:ln/>
        </p:spPr>
        <p:txBody>
          <a:bodyPr wrap="square" lIns="0" tIns="0" rIns="0" bIns="0" rtlCol="0" anchor="ctr"/>
          <a:lstStyle/>
          <a:p>
            <a:pPr algn="ctr" indent="0" marL="0">
              <a:lnSpc>
                <a:spcPct val="110000"/>
              </a:lnSpc>
              <a:buNone/>
            </a:pPr>
            <a:r>
              <a:rPr lang="en-US" sz="1100" b="1" dirty="0">
                <a:solidFill>
                  <a:srgbClr val="FFFFFF"/>
                </a:solidFill>
                <a:latin typeface="Calibri" pitchFamily="34" charset="0"/>
                <a:ea typeface="Calibri" pitchFamily="34" charset="-122"/>
                <a:cs typeface="Calibri" pitchFamily="34" charset="-120"/>
              </a:rPr>
              <a:t>Config file to fill</a:t>
            </a:r>
            <a:endParaRPr lang="en-US" sz="1100" dirty="0"/>
          </a:p>
          <a:p>
            <a:pPr algn="ctr" indent="0" marL="0">
              <a:lnSpc>
                <a:spcPct val="110000"/>
              </a:lnSpc>
              <a:buNone/>
            </a:pPr>
            <a:r>
              <a:rPr lang="en-US" sz="1100" b="1" dirty="0">
                <a:solidFill>
                  <a:srgbClr val="FFFFFF"/>
                </a:solidFill>
                <a:latin typeface="Calibri" pitchFamily="34" charset="0"/>
                <a:ea typeface="Calibri" pitchFamily="34" charset="-122"/>
                <a:cs typeface="Calibri" pitchFamily="34" charset="-120"/>
              </a:rPr>
              <a:t>per environment</a:t>
            </a:r>
            <a:endParaRPr lang="en-US" sz="1100" dirty="0"/>
          </a:p>
        </p:txBody>
      </p:sp>
      <p:sp>
        <p:nvSpPr>
          <p:cNvPr id="13" name="Shape 11"/>
          <p:cNvSpPr/>
          <p:nvPr/>
        </p:nvSpPr>
        <p:spPr>
          <a:xfrm>
            <a:off x="365760" y="3200400"/>
            <a:ext cx="2651760" cy="1664208"/>
          </a:xfrm>
          <a:prstGeom prst="roundRect">
            <a:avLst>
              <a:gd name="adj" fmla="val 5495"/>
            </a:avLst>
          </a:prstGeom>
          <a:solidFill>
            <a:srgbClr val="0D3060"/>
          </a:solidFill>
          <a:ln w="12700">
            <a:solidFill>
              <a:srgbClr val="028090">
                <a:alpha val="45000"/>
              </a:srgbClr>
            </a:solidFill>
            <a:prstDash val="solid"/>
          </a:ln>
          <a:effectLst>
            <a:outerShdw sx="100000" sy="100000" kx="0" ky="0" algn="bl" rotWithShape="0" blurRad="101600" dist="38100" dir="2700000">
              <a:srgbClr val="000000">
                <a:alpha val="18000"/>
              </a:srgbClr>
            </a:outerShdw>
          </a:effectLst>
        </p:spPr>
      </p:sp>
      <p:pic>
        <p:nvPicPr>
          <p:cNvPr id="14" name="Image 0" descr="preencoded.png">    </p:cNvPr>
          <p:cNvPicPr>
            <a:picLocks noChangeAspect="1"/>
          </p:cNvPicPr>
          <p:nvPr/>
        </p:nvPicPr>
        <p:blipFill>
          <a:blip r:embed="rId1"/>
          <a:stretch>
            <a:fillRect/>
          </a:stretch>
        </p:blipFill>
        <p:spPr>
          <a:xfrm>
            <a:off x="548640" y="3337560"/>
            <a:ext cx="365760" cy="365760"/>
          </a:xfrm>
          <a:prstGeom prst="rect">
            <a:avLst/>
          </a:prstGeom>
        </p:spPr>
      </p:pic>
      <p:sp>
        <p:nvSpPr>
          <p:cNvPr id="15" name="Text 12"/>
          <p:cNvSpPr/>
          <p:nvPr/>
        </p:nvSpPr>
        <p:spPr>
          <a:xfrm>
            <a:off x="1024128" y="3355848"/>
            <a:ext cx="1828800" cy="36576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Faster Delivery</a:t>
            </a:r>
            <a:endParaRPr lang="en-US" sz="1200" dirty="0"/>
          </a:p>
        </p:txBody>
      </p:sp>
      <p:sp>
        <p:nvSpPr>
          <p:cNvPr id="16" name="Text 13"/>
          <p:cNvSpPr/>
          <p:nvPr/>
        </p:nvSpPr>
        <p:spPr>
          <a:xfrm>
            <a:off x="548640" y="3794760"/>
            <a:ext cx="2331720" cy="932688"/>
          </a:xfrm>
          <a:prstGeom prst="rect">
            <a:avLst/>
          </a:prstGeom>
          <a:noFill/>
          <a:ln/>
        </p:spPr>
        <p:txBody>
          <a:bodyPr wrap="square" lIns="0" tIns="0" rIns="0" bIns="0" rtlCol="0" anchor="ctr"/>
          <a:lstStyle/>
          <a:p>
            <a:pPr indent="0" marL="0">
              <a:lnSpc>
                <a:spcPct val="135000"/>
              </a:lnSpc>
              <a:buNone/>
            </a:pPr>
            <a:r>
              <a:rPr lang="en-US" sz="950" dirty="0">
                <a:solidFill>
                  <a:srgbClr val="8FB3CC"/>
                </a:solidFill>
                <a:latin typeface="Calibri" pitchFamily="34" charset="0"/>
                <a:ea typeface="Calibri" pitchFamily="34" charset="-122"/>
                <a:cs typeface="Calibri" pitchFamily="34" charset="-120"/>
              </a:rPr>
              <a:t>Engineers stop re-explaining conventions in every prompt. Standards are pre-loaded.</a:t>
            </a:r>
            <a:endParaRPr lang="en-US" sz="950" dirty="0"/>
          </a:p>
        </p:txBody>
      </p:sp>
      <p:sp>
        <p:nvSpPr>
          <p:cNvPr id="17" name="Shape 14"/>
          <p:cNvSpPr/>
          <p:nvPr/>
        </p:nvSpPr>
        <p:spPr>
          <a:xfrm>
            <a:off x="3291840" y="3200400"/>
            <a:ext cx="2651760" cy="1664208"/>
          </a:xfrm>
          <a:prstGeom prst="roundRect">
            <a:avLst>
              <a:gd name="adj" fmla="val 5495"/>
            </a:avLst>
          </a:prstGeom>
          <a:solidFill>
            <a:srgbClr val="0D3060"/>
          </a:solidFill>
          <a:ln w="12700">
            <a:solidFill>
              <a:srgbClr val="028090">
                <a:alpha val="45000"/>
              </a:srgbClr>
            </a:solidFill>
            <a:prstDash val="solid"/>
          </a:ln>
          <a:effectLst>
            <a:outerShdw sx="100000" sy="100000" kx="0" ky="0" algn="bl" rotWithShape="0" blurRad="101600" dist="38100" dir="2700000">
              <a:srgbClr val="000000">
                <a:alpha val="18000"/>
              </a:srgbClr>
            </a:outerShdw>
          </a:effectLst>
        </p:spPr>
      </p:sp>
      <p:pic>
        <p:nvPicPr>
          <p:cNvPr id="18" name="Image 1" descr="preencoded.png">    </p:cNvPr>
          <p:cNvPicPr>
            <a:picLocks noChangeAspect="1"/>
          </p:cNvPicPr>
          <p:nvPr/>
        </p:nvPicPr>
        <p:blipFill>
          <a:blip r:embed="rId2"/>
          <a:stretch>
            <a:fillRect/>
          </a:stretch>
        </p:blipFill>
        <p:spPr>
          <a:xfrm>
            <a:off x="3474720" y="3337560"/>
            <a:ext cx="365760" cy="365760"/>
          </a:xfrm>
          <a:prstGeom prst="rect">
            <a:avLst/>
          </a:prstGeom>
        </p:spPr>
      </p:pic>
      <p:sp>
        <p:nvSpPr>
          <p:cNvPr id="19" name="Text 15"/>
          <p:cNvSpPr/>
          <p:nvPr/>
        </p:nvSpPr>
        <p:spPr>
          <a:xfrm>
            <a:off x="3950208" y="3355848"/>
            <a:ext cx="1828800" cy="36576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Consistent Quality</a:t>
            </a:r>
            <a:endParaRPr lang="en-US" sz="1200" dirty="0"/>
          </a:p>
        </p:txBody>
      </p:sp>
      <p:sp>
        <p:nvSpPr>
          <p:cNvPr id="20" name="Text 16"/>
          <p:cNvSpPr/>
          <p:nvPr/>
        </p:nvSpPr>
        <p:spPr>
          <a:xfrm>
            <a:off x="3474720" y="3794760"/>
            <a:ext cx="2331720" cy="932688"/>
          </a:xfrm>
          <a:prstGeom prst="rect">
            <a:avLst/>
          </a:prstGeom>
          <a:noFill/>
          <a:ln/>
        </p:spPr>
        <p:txBody>
          <a:bodyPr wrap="square" lIns="0" tIns="0" rIns="0" bIns="0" rtlCol="0" anchor="ctr"/>
          <a:lstStyle/>
          <a:p>
            <a:pPr indent="0" marL="0">
              <a:lnSpc>
                <a:spcPct val="135000"/>
              </a:lnSpc>
              <a:buNone/>
            </a:pPr>
            <a:r>
              <a:rPr lang="en-US" sz="950" dirty="0">
                <a:solidFill>
                  <a:srgbClr val="8FB3CC"/>
                </a:solidFill>
                <a:latin typeface="Calibri" pitchFamily="34" charset="0"/>
                <a:ea typeface="Calibri" pitchFamily="34" charset="-122"/>
                <a:cs typeface="Calibri" pitchFamily="34" charset="-120"/>
              </a:rPr>
              <a:t>Every generated artifact follows the same naming, security, and modeling rules — regardless of who prompts.</a:t>
            </a:r>
            <a:endParaRPr lang="en-US" sz="950" dirty="0"/>
          </a:p>
        </p:txBody>
      </p:sp>
      <p:sp>
        <p:nvSpPr>
          <p:cNvPr id="21" name="Shape 17"/>
          <p:cNvSpPr/>
          <p:nvPr/>
        </p:nvSpPr>
        <p:spPr>
          <a:xfrm>
            <a:off x="6217920" y="3200400"/>
            <a:ext cx="2651760" cy="1664208"/>
          </a:xfrm>
          <a:prstGeom prst="roundRect">
            <a:avLst>
              <a:gd name="adj" fmla="val 5495"/>
            </a:avLst>
          </a:prstGeom>
          <a:solidFill>
            <a:srgbClr val="0D3060"/>
          </a:solidFill>
          <a:ln w="12700">
            <a:solidFill>
              <a:srgbClr val="028090">
                <a:alpha val="45000"/>
              </a:srgbClr>
            </a:solidFill>
            <a:prstDash val="solid"/>
          </a:ln>
          <a:effectLst>
            <a:outerShdw sx="100000" sy="100000" kx="0" ky="0" algn="bl" rotWithShape="0" blurRad="101600" dist="38100" dir="2700000">
              <a:srgbClr val="000000">
                <a:alpha val="18000"/>
              </a:srgbClr>
            </a:outerShdw>
          </a:effectLst>
        </p:spPr>
      </p:sp>
      <p:pic>
        <p:nvPicPr>
          <p:cNvPr id="22" name="Image 2" descr="preencoded.png">    </p:cNvPr>
          <p:cNvPicPr>
            <a:picLocks noChangeAspect="1"/>
          </p:cNvPicPr>
          <p:nvPr/>
        </p:nvPicPr>
        <p:blipFill>
          <a:blip r:embed="rId3"/>
          <a:stretch>
            <a:fillRect/>
          </a:stretch>
        </p:blipFill>
        <p:spPr>
          <a:xfrm>
            <a:off x="6400800" y="3337560"/>
            <a:ext cx="365760" cy="365760"/>
          </a:xfrm>
          <a:prstGeom prst="rect">
            <a:avLst/>
          </a:prstGeom>
        </p:spPr>
      </p:pic>
      <p:sp>
        <p:nvSpPr>
          <p:cNvPr id="23" name="Text 18"/>
          <p:cNvSpPr/>
          <p:nvPr/>
        </p:nvSpPr>
        <p:spPr>
          <a:xfrm>
            <a:off x="6876288" y="3355848"/>
            <a:ext cx="1828800" cy="36576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Easier Reviews</a:t>
            </a:r>
            <a:endParaRPr lang="en-US" sz="1200" dirty="0"/>
          </a:p>
        </p:txBody>
      </p:sp>
      <p:sp>
        <p:nvSpPr>
          <p:cNvPr id="24" name="Text 19"/>
          <p:cNvSpPr/>
          <p:nvPr/>
        </p:nvSpPr>
        <p:spPr>
          <a:xfrm>
            <a:off x="6400800" y="3794760"/>
            <a:ext cx="2331720" cy="932688"/>
          </a:xfrm>
          <a:prstGeom prst="rect">
            <a:avLst/>
          </a:prstGeom>
          <a:noFill/>
          <a:ln/>
        </p:spPr>
        <p:txBody>
          <a:bodyPr wrap="square" lIns="0" tIns="0" rIns="0" bIns="0" rtlCol="0" anchor="ctr"/>
          <a:lstStyle/>
          <a:p>
            <a:pPr indent="0" marL="0">
              <a:lnSpc>
                <a:spcPct val="135000"/>
              </a:lnSpc>
              <a:buNone/>
            </a:pPr>
            <a:r>
              <a:rPr lang="en-US" sz="950" dirty="0">
                <a:solidFill>
                  <a:srgbClr val="8FB3CC"/>
                </a:solidFill>
                <a:latin typeface="Calibri" pitchFamily="34" charset="0"/>
                <a:ea typeface="Calibri" pitchFamily="34" charset="-122"/>
                <a:cs typeface="Calibri" pitchFamily="34" charset="-120"/>
              </a:rPr>
              <a:t>Code reviewers check logic, not conventions. The AI already handled conventions.</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F3D"/>
        </a:solidFill>
      </p:bgPr>
    </p:bg>
    <p:spTree>
      <p:nvGrpSpPr>
        <p:cNvPr id="1" name=""/>
        <p:cNvGrpSpPr/>
        <p:nvPr/>
      </p:nvGrpSpPr>
      <p:grpSpPr>
        <a:xfrm>
          <a:off x="0" y="0"/>
          <a:ext cx="0" cy="0"/>
          <a:chOff x="0" y="0"/>
          <a:chExt cx="0" cy="0"/>
        </a:xfrm>
      </p:grpSpPr>
      <p:sp>
        <p:nvSpPr>
          <p:cNvPr id="2" name="Text 0"/>
          <p:cNvSpPr/>
          <p:nvPr/>
        </p:nvSpPr>
        <p:spPr>
          <a:xfrm>
            <a:off x="457200" y="256032"/>
            <a:ext cx="8229600" cy="411480"/>
          </a:xfrm>
          <a:prstGeom prst="rect">
            <a:avLst/>
          </a:prstGeom>
          <a:noFill/>
          <a:ln/>
        </p:spPr>
        <p:txBody>
          <a:bodyPr wrap="square" lIns="0" tIns="0" rIns="0" bIns="0" rtlCol="0" anchor="ctr"/>
          <a:lstStyle/>
          <a:p>
            <a:pPr indent="0" marL="0">
              <a:buNone/>
            </a:pPr>
            <a:r>
              <a:rPr lang="en-US" sz="1100" b="1" spc="300" kern="0" dirty="0">
                <a:solidFill>
                  <a:srgbClr val="02C39A"/>
                </a:solidFill>
                <a:latin typeface="Calibri" pitchFamily="34" charset="0"/>
                <a:ea typeface="Calibri" pitchFamily="34" charset="-122"/>
                <a:cs typeface="Calibri" pitchFamily="34" charset="-120"/>
              </a:rPr>
              <a:t>Automated Compliance</a:t>
            </a:r>
            <a:endParaRPr lang="en-US" sz="1100" dirty="0"/>
          </a:p>
        </p:txBody>
      </p:sp>
      <p:sp>
        <p:nvSpPr>
          <p:cNvPr id="3" name="Text 1"/>
          <p:cNvSpPr/>
          <p:nvPr/>
        </p:nvSpPr>
        <p:spPr>
          <a:xfrm>
            <a:off x="457200" y="640080"/>
            <a:ext cx="8229600" cy="59436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What the AI Gets Right Without Being Told Twice</a:t>
            </a:r>
            <a:endParaRPr lang="en-US" sz="2200" dirty="0"/>
          </a:p>
        </p:txBody>
      </p:sp>
      <p:sp>
        <p:nvSpPr>
          <p:cNvPr id="4" name="Shape 2"/>
          <p:cNvSpPr/>
          <p:nvPr/>
        </p:nvSpPr>
        <p:spPr>
          <a:xfrm>
            <a:off x="365760" y="1417320"/>
            <a:ext cx="4023360" cy="3456432"/>
          </a:xfrm>
          <a:prstGeom prst="roundRect">
            <a:avLst>
              <a:gd name="adj" fmla="val 2646"/>
            </a:avLst>
          </a:prstGeom>
          <a:solidFill>
            <a:srgbClr val="0D3060"/>
          </a:solidFill>
          <a:ln w="12700">
            <a:solidFill>
              <a:srgbClr val="028090">
                <a:alpha val="45000"/>
              </a:srgbClr>
            </a:solidFill>
            <a:prstDash val="solid"/>
          </a:ln>
          <a:effectLst>
            <a:outerShdw sx="100000" sy="100000" kx="0" ky="0" algn="bl" rotWithShape="0" blurRad="101600" dist="38100" dir="2700000">
              <a:srgbClr val="000000">
                <a:alpha val="18000"/>
              </a:srgbClr>
            </a:outerShdw>
          </a:effectLst>
        </p:spPr>
      </p:sp>
      <p:pic>
        <p:nvPicPr>
          <p:cNvPr id="5" name="Image 0" descr="preencoded.png">    </p:cNvPr>
          <p:cNvPicPr>
            <a:picLocks noChangeAspect="1"/>
          </p:cNvPicPr>
          <p:nvPr/>
        </p:nvPicPr>
        <p:blipFill>
          <a:blip r:embed="rId1"/>
          <a:stretch>
            <a:fillRect/>
          </a:stretch>
        </p:blipFill>
        <p:spPr>
          <a:xfrm>
            <a:off x="566928" y="1572768"/>
            <a:ext cx="384048" cy="384048"/>
          </a:xfrm>
          <a:prstGeom prst="rect">
            <a:avLst/>
          </a:prstGeom>
        </p:spPr>
      </p:pic>
      <p:sp>
        <p:nvSpPr>
          <p:cNvPr id="6" name="Text 3"/>
          <p:cNvSpPr/>
          <p:nvPr/>
        </p:nvSpPr>
        <p:spPr>
          <a:xfrm>
            <a:off x="1042416" y="1572768"/>
            <a:ext cx="3200400" cy="41148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Technical Standards</a:t>
            </a:r>
            <a:endParaRPr lang="en-US" sz="1350" dirty="0"/>
          </a:p>
        </p:txBody>
      </p:sp>
      <p:sp>
        <p:nvSpPr>
          <p:cNvPr id="7" name="Text 4"/>
          <p:cNvSpPr/>
          <p:nvPr/>
        </p:nvSpPr>
        <p:spPr>
          <a:xfrm>
            <a:off x="566928" y="2057400"/>
            <a:ext cx="3703320" cy="2651760"/>
          </a:xfrm>
          <a:prstGeom prst="rect">
            <a:avLst/>
          </a:prstGeom>
          <a:noFill/>
          <a:ln/>
        </p:spPr>
        <p:txBody>
          <a:bodyPr wrap="square" lIns="0" tIns="0" rIns="0" bIns="0" rtlCol="0" anchor="ctr"/>
          <a:lstStyle/>
          <a:p>
            <a:pPr indent="0" marL="0">
              <a:lnSpc>
                <a:spcPct val="155000"/>
              </a:lnSpc>
              <a:buNone/>
            </a:pPr>
            <a:r>
              <a:rPr lang="en-US" sz="1000" dirty="0">
                <a:solidFill>
                  <a:srgbClr val="E8F1F5"/>
                </a:solidFill>
                <a:latin typeface="Calibri" pitchFamily="34" charset="0"/>
                <a:ea typeface="Calibri" pitchFamily="34" charset="-122"/>
                <a:cs typeface="Calibri" pitchFamily="34" charset="-120"/>
              </a:rPr>
              <a:t>✓  snake_case naming on all tables, columns, files
</a:t>
            </a:r>
            <a:pPr indent="0" marL="0">
              <a:lnSpc>
                <a:spcPct val="155000"/>
              </a:lnSpc>
              <a:buNone/>
            </a:pPr>
            <a:r>
              <a:rPr lang="en-US" sz="1000" dirty="0">
                <a:solidFill>
                  <a:srgbClr val="E8F1F5"/>
                </a:solidFill>
                <a:latin typeface="Calibri" pitchFamily="34" charset="0"/>
                <a:ea typeface="Calibri" pitchFamily="34" charset="-122"/>
                <a:cs typeface="Calibri" pitchFamily="34" charset="-120"/>
              </a:rPr>
              <a:t>✓  UUID primary keys on all new entities
</a:t>
            </a:r>
            <a:pPr indent="0" marL="0">
              <a:lnSpc>
                <a:spcPct val="155000"/>
              </a:lnSpc>
              <a:buNone/>
            </a:pPr>
            <a:r>
              <a:rPr lang="en-US" sz="1000" dirty="0">
                <a:solidFill>
                  <a:srgbClr val="E8F1F5"/>
                </a:solidFill>
                <a:latin typeface="Calibri" pitchFamily="34" charset="0"/>
                <a:ea typeface="Calibri" pitchFamily="34" charset="-122"/>
                <a:cs typeface="Calibri" pitchFamily="34" charset="-120"/>
              </a:rPr>
              <a:t>✓  Soft deletes — never hard DELETE on core tables
</a:t>
            </a:r>
            <a:pPr indent="0" marL="0">
              <a:lnSpc>
                <a:spcPct val="155000"/>
              </a:lnSpc>
              <a:buNone/>
            </a:pPr>
            <a:r>
              <a:rPr lang="en-US" sz="1000" dirty="0">
                <a:solidFill>
                  <a:srgbClr val="E8F1F5"/>
                </a:solidFill>
                <a:latin typeface="Calibri" pitchFamily="34" charset="0"/>
                <a:ea typeface="Calibri" pitchFamily="34" charset="-122"/>
                <a:cs typeface="Calibri" pitchFamily="34" charset="-120"/>
              </a:rPr>
              <a:t>✓  Audit columns (created_at, updated_at, created_by)
</a:t>
            </a:r>
            <a:pPr indent="0" marL="0">
              <a:lnSpc>
                <a:spcPct val="155000"/>
              </a:lnSpc>
              <a:buNone/>
            </a:pPr>
            <a:r>
              <a:rPr lang="en-US" sz="1000" dirty="0">
                <a:solidFill>
                  <a:srgbClr val="E8F1F5"/>
                </a:solidFill>
                <a:latin typeface="Calibri" pitchFamily="34" charset="0"/>
                <a:ea typeface="Calibri" pitchFamily="34" charset="-122"/>
                <a:cs typeface="Calibri" pitchFamily="34" charset="-120"/>
              </a:rPr>
              <a:t>✓  TIMESTAMPTZ (UTC) for all timestamps
</a:t>
            </a:r>
            <a:pPr indent="0" marL="0">
              <a:lnSpc>
                <a:spcPct val="155000"/>
              </a:lnSpc>
              <a:buNone/>
            </a:pPr>
            <a:r>
              <a:rPr lang="en-US" sz="1000" dirty="0">
                <a:solidFill>
                  <a:srgbClr val="E8F1F5"/>
                </a:solidFill>
                <a:latin typeface="Calibri" pitchFamily="34" charset="0"/>
                <a:ea typeface="Calibri" pitchFamily="34" charset="-122"/>
                <a:cs typeface="Calibri" pitchFamily="34" charset="-120"/>
              </a:rPr>
              <a:t>✓  NUMERIC(19,4) for money — never FLOAT
</a:t>
            </a:r>
            <a:pPr indent="0" marL="0">
              <a:lnSpc>
                <a:spcPct val="155000"/>
              </a:lnSpc>
              <a:buNone/>
            </a:pPr>
            <a:r>
              <a:rPr lang="en-US" sz="1000" dirty="0">
                <a:solidFill>
                  <a:srgbClr val="E8F1F5"/>
                </a:solidFill>
                <a:latin typeface="Calibri" pitchFamily="34" charset="0"/>
                <a:ea typeface="Calibri" pitchFamily="34" charset="-122"/>
                <a:cs typeface="Calibri" pitchFamily="34" charset="-120"/>
              </a:rPr>
              <a:t>✓  Parameterised queries — no string interpolation
</a:t>
            </a:r>
            <a:pPr indent="0" marL="0">
              <a:lnSpc>
                <a:spcPct val="155000"/>
              </a:lnSpc>
              <a:buNone/>
            </a:pPr>
            <a:r>
              <a:rPr lang="en-US" sz="1000" dirty="0">
                <a:solidFill>
                  <a:srgbClr val="E8F1F5"/>
                </a:solidFill>
                <a:latin typeface="Calibri" pitchFamily="34" charset="0"/>
                <a:ea typeface="Calibri" pitchFamily="34" charset="-122"/>
                <a:cs typeface="Calibri" pitchFamily="34" charset="-120"/>
              </a:rPr>
              <a:t>✓  Idempotent pipelines — safe to re-run always</a:t>
            </a:r>
            <a:endParaRPr lang="en-US" sz="1000" dirty="0"/>
          </a:p>
        </p:txBody>
      </p:sp>
      <p:sp>
        <p:nvSpPr>
          <p:cNvPr id="8" name="Shape 5"/>
          <p:cNvSpPr/>
          <p:nvPr/>
        </p:nvSpPr>
        <p:spPr>
          <a:xfrm>
            <a:off x="4754880" y="1417320"/>
            <a:ext cx="4023360" cy="3456432"/>
          </a:xfrm>
          <a:prstGeom prst="roundRect">
            <a:avLst>
              <a:gd name="adj" fmla="val 2646"/>
            </a:avLst>
          </a:prstGeom>
          <a:solidFill>
            <a:srgbClr val="0D3060"/>
          </a:solidFill>
          <a:ln w="12700">
            <a:solidFill>
              <a:srgbClr val="028090">
                <a:alpha val="45000"/>
              </a:srgbClr>
            </a:solidFill>
            <a:prstDash val="solid"/>
          </a:ln>
          <a:effectLst>
            <a:outerShdw sx="100000" sy="100000" kx="0" ky="0" algn="bl" rotWithShape="0" blurRad="101600" dist="38100" dir="2700000">
              <a:srgbClr val="000000">
                <a:alpha val="18000"/>
              </a:srgbClr>
            </a:outerShdw>
          </a:effectLst>
        </p:spPr>
      </p:sp>
      <p:pic>
        <p:nvPicPr>
          <p:cNvPr id="9" name="Image 1" descr="preencoded.png">    </p:cNvPr>
          <p:cNvPicPr>
            <a:picLocks noChangeAspect="1"/>
          </p:cNvPicPr>
          <p:nvPr/>
        </p:nvPicPr>
        <p:blipFill>
          <a:blip r:embed="rId2"/>
          <a:stretch>
            <a:fillRect/>
          </a:stretch>
        </p:blipFill>
        <p:spPr>
          <a:xfrm>
            <a:off x="4956048" y="1572768"/>
            <a:ext cx="384048" cy="384048"/>
          </a:xfrm>
          <a:prstGeom prst="rect">
            <a:avLst/>
          </a:prstGeom>
        </p:spPr>
      </p:pic>
      <p:sp>
        <p:nvSpPr>
          <p:cNvPr id="10" name="Text 6"/>
          <p:cNvSpPr/>
          <p:nvPr/>
        </p:nvSpPr>
        <p:spPr>
          <a:xfrm>
            <a:off x="5431536" y="1572768"/>
            <a:ext cx="3200400" cy="41148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Security &amp; Governance</a:t>
            </a:r>
            <a:endParaRPr lang="en-US" sz="1350" dirty="0"/>
          </a:p>
        </p:txBody>
      </p:sp>
      <p:sp>
        <p:nvSpPr>
          <p:cNvPr id="11" name="Text 7"/>
          <p:cNvSpPr/>
          <p:nvPr/>
        </p:nvSpPr>
        <p:spPr>
          <a:xfrm>
            <a:off x="4956048" y="2057400"/>
            <a:ext cx="3703320" cy="2651760"/>
          </a:xfrm>
          <a:prstGeom prst="rect">
            <a:avLst/>
          </a:prstGeom>
          <a:noFill/>
          <a:ln/>
        </p:spPr>
        <p:txBody>
          <a:bodyPr wrap="square" lIns="0" tIns="0" rIns="0" bIns="0" rtlCol="0" anchor="ctr"/>
          <a:lstStyle/>
          <a:p>
            <a:pPr indent="0" marL="0">
              <a:lnSpc>
                <a:spcPct val="155000"/>
              </a:lnSpc>
              <a:buNone/>
            </a:pPr>
            <a:r>
              <a:rPr lang="en-US" sz="1000" dirty="0">
                <a:solidFill>
                  <a:srgbClr val="E8F1F5"/>
                </a:solidFill>
                <a:latin typeface="Calibri" pitchFamily="34" charset="0"/>
                <a:ea typeface="Calibri" pitchFamily="34" charset="-122"/>
                <a:cs typeface="Calibri" pitchFamily="34" charset="-120"/>
              </a:rPr>
              <a:t>✓  PII fields tagged [PII:CAT1/2/3] in DDL
</a:t>
            </a:r>
            <a:pPr indent="0" marL="0">
              <a:lnSpc>
                <a:spcPct val="155000"/>
              </a:lnSpc>
              <a:buNone/>
            </a:pPr>
            <a:r>
              <a:rPr lang="en-US" sz="1000" dirty="0">
                <a:solidFill>
                  <a:srgbClr val="E8F1F5"/>
                </a:solidFill>
                <a:latin typeface="Calibri" pitchFamily="34" charset="0"/>
                <a:ea typeface="Calibri" pitchFamily="34" charset="-122"/>
                <a:cs typeface="Calibri" pitchFamily="34" charset="-120"/>
              </a:rPr>
              <a:t>✓  No credentials hardcoded — always Key Vault
</a:t>
            </a:r>
            <a:pPr indent="0" marL="0">
              <a:lnSpc>
                <a:spcPct val="155000"/>
              </a:lnSpc>
              <a:buNone/>
            </a:pPr>
            <a:r>
              <a:rPr lang="en-US" sz="1000" dirty="0">
                <a:solidFill>
                  <a:srgbClr val="E8F1F5"/>
                </a:solidFill>
                <a:latin typeface="Calibri" pitchFamily="34" charset="0"/>
                <a:ea typeface="Calibri" pitchFamily="34" charset="-122"/>
                <a:cs typeface="Calibri" pitchFamily="34" charset="-120"/>
              </a:rPr>
              <a:t>✓  Bronze data never mixed with Silver/Gold
</a:t>
            </a:r>
            <a:pPr indent="0" marL="0">
              <a:lnSpc>
                <a:spcPct val="155000"/>
              </a:lnSpc>
              <a:buNone/>
            </a:pPr>
            <a:r>
              <a:rPr lang="en-US" sz="1000" dirty="0">
                <a:solidFill>
                  <a:srgbClr val="E8F1F5"/>
                </a:solidFill>
                <a:latin typeface="Calibri" pitchFamily="34" charset="0"/>
                <a:ea typeface="Calibri" pitchFamily="34" charset="-122"/>
                <a:cs typeface="Calibri" pitchFamily="34" charset="-120"/>
              </a:rPr>
              <a:t>✓  PII masked before Silver, absent from Gold
</a:t>
            </a:r>
            <a:pPr indent="0" marL="0">
              <a:lnSpc>
                <a:spcPct val="155000"/>
              </a:lnSpc>
              <a:buNone/>
            </a:pPr>
            <a:r>
              <a:rPr lang="en-US" sz="1000" dirty="0">
                <a:solidFill>
                  <a:srgbClr val="E8F1F5"/>
                </a:solidFill>
                <a:latin typeface="Calibri" pitchFamily="34" charset="0"/>
                <a:ea typeface="Calibri" pitchFamily="34" charset="-122"/>
                <a:cs typeface="Calibri" pitchFamily="34" charset="-120"/>
              </a:rPr>
              <a:t>✓  All errors caught, logged, never silent
</a:t>
            </a:r>
            <a:pPr indent="0" marL="0">
              <a:lnSpc>
                <a:spcPct val="155000"/>
              </a:lnSpc>
              <a:buNone/>
            </a:pPr>
            <a:r>
              <a:rPr lang="en-US" sz="1000" dirty="0">
                <a:solidFill>
                  <a:srgbClr val="E8F1F5"/>
                </a:solidFill>
                <a:latin typeface="Calibri" pitchFamily="34" charset="0"/>
                <a:ea typeface="Calibri" pitchFamily="34" charset="-122"/>
                <a:cs typeface="Calibri" pitchFamily="34" charset="-120"/>
              </a:rPr>
              <a:t>✓  Dead letter queue for invalid records
</a:t>
            </a:r>
            <a:pPr indent="0" marL="0">
              <a:lnSpc>
                <a:spcPct val="155000"/>
              </a:lnSpc>
              <a:buNone/>
            </a:pPr>
            <a:r>
              <a:rPr lang="en-US" sz="1000" dirty="0">
                <a:solidFill>
                  <a:srgbClr val="E8F1F5"/>
                </a:solidFill>
                <a:latin typeface="Calibri" pitchFamily="34" charset="0"/>
                <a:ea typeface="Calibri" pitchFamily="34" charset="-122"/>
                <a:cs typeface="Calibri" pitchFamily="34" charset="-120"/>
              </a:rPr>
              <a:t>✓  Migration file required for every schema change
</a:t>
            </a:r>
            <a:pPr indent="0" marL="0">
              <a:lnSpc>
                <a:spcPct val="155000"/>
              </a:lnSpc>
              <a:buNone/>
            </a:pPr>
            <a:r>
              <a:rPr lang="en-US" sz="1000" dirty="0">
                <a:solidFill>
                  <a:srgbClr val="E8F1F5"/>
                </a:solidFill>
                <a:latin typeface="Calibri" pitchFamily="34" charset="0"/>
                <a:ea typeface="Calibri" pitchFamily="34" charset="-122"/>
                <a:cs typeface="Calibri" pitchFamily="34" charset="-120"/>
              </a:rPr>
              <a:t>✓  Row-level security applied on Gold tables</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F3D"/>
        </a:solidFill>
      </p:bgPr>
    </p:bg>
    <p:spTree>
      <p:nvGrpSpPr>
        <p:cNvPr id="1" name=""/>
        <p:cNvGrpSpPr/>
        <p:nvPr/>
      </p:nvGrpSpPr>
      <p:grpSpPr>
        <a:xfrm>
          <a:off x="0" y="0"/>
          <a:ext cx="0" cy="0"/>
          <a:chOff x="0" y="0"/>
          <a:chExt cx="0" cy="0"/>
        </a:xfrm>
      </p:grpSpPr>
      <p:sp>
        <p:nvSpPr>
          <p:cNvPr id="2" name="Shape 0"/>
          <p:cNvSpPr/>
          <p:nvPr/>
        </p:nvSpPr>
        <p:spPr>
          <a:xfrm>
            <a:off x="6858000" y="0"/>
            <a:ext cx="2286000" cy="5143500"/>
          </a:xfrm>
          <a:prstGeom prst="rect">
            <a:avLst/>
          </a:prstGeom>
          <a:solidFill>
            <a:srgbClr val="028090">
              <a:alpha val="9000"/>
            </a:srgbClr>
          </a:solidFill>
          <a:ln w="12700">
            <a:solidFill>
              <a:srgbClr val="028090">
                <a:alpha val="9000"/>
              </a:srgbClr>
            </a:solidFill>
            <a:prstDash val="solid"/>
          </a:ln>
        </p:spPr>
      </p:sp>
      <p:sp>
        <p:nvSpPr>
          <p:cNvPr id="3" name="Shape 1"/>
          <p:cNvSpPr/>
          <p:nvPr/>
        </p:nvSpPr>
        <p:spPr>
          <a:xfrm>
            <a:off x="8046720" y="0"/>
            <a:ext cx="1097280" cy="5143500"/>
          </a:xfrm>
          <a:prstGeom prst="rect">
            <a:avLst/>
          </a:prstGeom>
          <a:solidFill>
            <a:srgbClr val="02C39A">
              <a:alpha val="16000"/>
            </a:srgbClr>
          </a:solidFill>
          <a:ln w="12700">
            <a:solidFill>
              <a:srgbClr val="02C39A">
                <a:alpha val="16000"/>
              </a:srgbClr>
            </a:solidFill>
            <a:prstDash val="solid"/>
          </a:ln>
        </p:spPr>
      </p:sp>
      <p:sp>
        <p:nvSpPr>
          <p:cNvPr id="4" name="Text 2"/>
          <p:cNvSpPr/>
          <p:nvPr/>
        </p:nvSpPr>
        <p:spPr>
          <a:xfrm>
            <a:off x="502920" y="347472"/>
            <a:ext cx="6400800" cy="411480"/>
          </a:xfrm>
          <a:prstGeom prst="rect">
            <a:avLst/>
          </a:prstGeom>
          <a:noFill/>
          <a:ln/>
        </p:spPr>
        <p:txBody>
          <a:bodyPr wrap="square" lIns="0" tIns="0" rIns="0" bIns="0" rtlCol="0" anchor="ctr"/>
          <a:lstStyle/>
          <a:p>
            <a:pPr indent="0" marL="0">
              <a:buNone/>
            </a:pPr>
            <a:r>
              <a:rPr lang="en-US" sz="1100" b="1" spc="300" kern="0" dirty="0">
                <a:solidFill>
                  <a:srgbClr val="02C39A"/>
                </a:solidFill>
                <a:latin typeface="Calibri" pitchFamily="34" charset="0"/>
                <a:ea typeface="Calibri" pitchFamily="34" charset="-122"/>
                <a:cs typeface="Calibri" pitchFamily="34" charset="-120"/>
              </a:rPr>
              <a:t>Next Steps</a:t>
            </a:r>
            <a:endParaRPr lang="en-US" sz="1100" dirty="0"/>
          </a:p>
        </p:txBody>
      </p:sp>
      <p:sp>
        <p:nvSpPr>
          <p:cNvPr id="5" name="Text 3"/>
          <p:cNvSpPr/>
          <p:nvPr/>
        </p:nvSpPr>
        <p:spPr>
          <a:xfrm>
            <a:off x="502920" y="749808"/>
            <a:ext cx="6217920" cy="68580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Getting Started</a:t>
            </a:r>
            <a:endParaRPr lang="en-US" sz="3200" dirty="0"/>
          </a:p>
        </p:txBody>
      </p:sp>
      <p:sp>
        <p:nvSpPr>
          <p:cNvPr id="6" name="Shape 4"/>
          <p:cNvSpPr/>
          <p:nvPr/>
        </p:nvSpPr>
        <p:spPr>
          <a:xfrm>
            <a:off x="502920" y="1682496"/>
            <a:ext cx="475488" cy="475488"/>
          </a:xfrm>
          <a:prstGeom prst="ellipse">
            <a:avLst/>
          </a:prstGeom>
          <a:solidFill>
            <a:srgbClr val="02C39A"/>
          </a:solidFill>
          <a:ln w="12700">
            <a:solidFill>
              <a:srgbClr val="02C39A"/>
            </a:solidFill>
            <a:prstDash val="solid"/>
          </a:ln>
        </p:spPr>
      </p:sp>
      <p:sp>
        <p:nvSpPr>
          <p:cNvPr id="7" name="Text 5"/>
          <p:cNvSpPr/>
          <p:nvPr/>
        </p:nvSpPr>
        <p:spPr>
          <a:xfrm>
            <a:off x="502920" y="1682496"/>
            <a:ext cx="475488" cy="475488"/>
          </a:xfrm>
          <a:prstGeom prst="rect">
            <a:avLst/>
          </a:prstGeom>
          <a:noFill/>
          <a:ln/>
        </p:spPr>
        <p:txBody>
          <a:bodyPr wrap="square" lIns="0" tIns="0" rIns="0" bIns="0" rtlCol="0" anchor="ctr"/>
          <a:lstStyle/>
          <a:p>
            <a:pPr algn="ctr" indent="0" marL="0">
              <a:buNone/>
            </a:pPr>
            <a:r>
              <a:rPr lang="en-US" sz="1300" b="1" dirty="0">
                <a:solidFill>
                  <a:srgbClr val="0F1F3D"/>
                </a:solidFill>
              </a:rPr>
              <a:t>1</a:t>
            </a:r>
            <a:endParaRPr lang="en-US" sz="1300" dirty="0"/>
          </a:p>
        </p:txBody>
      </p:sp>
      <p:sp>
        <p:nvSpPr>
          <p:cNvPr id="8" name="Text 6"/>
          <p:cNvSpPr/>
          <p:nvPr/>
        </p:nvSpPr>
        <p:spPr>
          <a:xfrm>
            <a:off x="1115568" y="1664208"/>
            <a:ext cx="5486400" cy="27432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Fill in workspace.config.md</a:t>
            </a:r>
            <a:endParaRPr lang="en-US" sz="1250" dirty="0"/>
          </a:p>
        </p:txBody>
      </p:sp>
      <p:sp>
        <p:nvSpPr>
          <p:cNvPr id="9" name="Text 7"/>
          <p:cNvSpPr/>
          <p:nvPr/>
        </p:nvSpPr>
        <p:spPr>
          <a:xfrm>
            <a:off x="1115568" y="1956816"/>
            <a:ext cx="5486400" cy="384048"/>
          </a:xfrm>
          <a:prstGeom prst="rect">
            <a:avLst/>
          </a:prstGeom>
          <a:noFill/>
          <a:ln/>
        </p:spPr>
        <p:txBody>
          <a:bodyPr wrap="square" lIns="0" tIns="0" rIns="0" bIns="0" rtlCol="0" anchor="ctr"/>
          <a:lstStyle/>
          <a:p>
            <a:pPr indent="0" marL="0">
              <a:lnSpc>
                <a:spcPct val="120000"/>
              </a:lnSpc>
              <a:buNone/>
            </a:pPr>
            <a:r>
              <a:rPr lang="en-US" sz="1000" dirty="0">
                <a:solidFill>
                  <a:srgbClr val="8FB3CC"/>
                </a:solidFill>
                <a:latin typeface="Calibri" pitchFamily="34" charset="0"/>
                <a:ea typeface="Calibri" pitchFamily="34" charset="-122"/>
                <a:cs typeface="Calibri" pitchFamily="34" charset="-120"/>
              </a:rPr>
              <a:t>Add your real catalog names, workspace IDs, cluster specs, and secret scope names for each environment.</a:t>
            </a:r>
            <a:endParaRPr lang="en-US" sz="1000" dirty="0"/>
          </a:p>
        </p:txBody>
      </p:sp>
      <p:sp>
        <p:nvSpPr>
          <p:cNvPr id="10" name="Shape 8"/>
          <p:cNvSpPr/>
          <p:nvPr/>
        </p:nvSpPr>
        <p:spPr>
          <a:xfrm>
            <a:off x="502920" y="2487168"/>
            <a:ext cx="475488" cy="475488"/>
          </a:xfrm>
          <a:prstGeom prst="ellipse">
            <a:avLst/>
          </a:prstGeom>
          <a:solidFill>
            <a:srgbClr val="02C39A"/>
          </a:solidFill>
          <a:ln w="12700">
            <a:solidFill>
              <a:srgbClr val="02C39A"/>
            </a:solidFill>
            <a:prstDash val="solid"/>
          </a:ln>
        </p:spPr>
      </p:sp>
      <p:sp>
        <p:nvSpPr>
          <p:cNvPr id="11" name="Text 9"/>
          <p:cNvSpPr/>
          <p:nvPr/>
        </p:nvSpPr>
        <p:spPr>
          <a:xfrm>
            <a:off x="502920" y="2487168"/>
            <a:ext cx="475488" cy="475488"/>
          </a:xfrm>
          <a:prstGeom prst="rect">
            <a:avLst/>
          </a:prstGeom>
          <a:noFill/>
          <a:ln/>
        </p:spPr>
        <p:txBody>
          <a:bodyPr wrap="square" lIns="0" tIns="0" rIns="0" bIns="0" rtlCol="0" anchor="ctr"/>
          <a:lstStyle/>
          <a:p>
            <a:pPr algn="ctr" indent="0" marL="0">
              <a:buNone/>
            </a:pPr>
            <a:r>
              <a:rPr lang="en-US" sz="1300" b="1" dirty="0">
                <a:solidFill>
                  <a:srgbClr val="0F1F3D"/>
                </a:solidFill>
              </a:rPr>
              <a:t>2</a:t>
            </a:r>
            <a:endParaRPr lang="en-US" sz="1300" dirty="0"/>
          </a:p>
        </p:txBody>
      </p:sp>
      <p:sp>
        <p:nvSpPr>
          <p:cNvPr id="12" name="Text 10"/>
          <p:cNvSpPr/>
          <p:nvPr/>
        </p:nvSpPr>
        <p:spPr>
          <a:xfrm>
            <a:off x="1115568" y="2468880"/>
            <a:ext cx="5486400" cy="27432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Commit to your Git repository</a:t>
            </a:r>
            <a:endParaRPr lang="en-US" sz="1250" dirty="0"/>
          </a:p>
        </p:txBody>
      </p:sp>
      <p:sp>
        <p:nvSpPr>
          <p:cNvPr id="13" name="Text 11"/>
          <p:cNvSpPr/>
          <p:nvPr/>
        </p:nvSpPr>
        <p:spPr>
          <a:xfrm>
            <a:off x="1115568" y="2761488"/>
            <a:ext cx="5486400" cy="384048"/>
          </a:xfrm>
          <a:prstGeom prst="rect">
            <a:avLst/>
          </a:prstGeom>
          <a:noFill/>
          <a:ln/>
        </p:spPr>
        <p:txBody>
          <a:bodyPr wrap="square" lIns="0" tIns="0" rIns="0" bIns="0" rtlCol="0" anchor="ctr"/>
          <a:lstStyle/>
          <a:p>
            <a:pPr indent="0" marL="0">
              <a:lnSpc>
                <a:spcPct val="120000"/>
              </a:lnSpc>
              <a:buNone/>
            </a:pPr>
            <a:r>
              <a:rPr lang="en-US" sz="1000" dirty="0">
                <a:solidFill>
                  <a:srgbClr val="8FB3CC"/>
                </a:solidFill>
                <a:latin typeface="Calibri" pitchFamily="34" charset="0"/>
                <a:ea typeface="Calibri" pitchFamily="34" charset="-122"/>
                <a:cs typeface="Calibri" pitchFamily="34" charset="-120"/>
              </a:rPr>
              <a:t>Place the /playbook folder at the repo root so all AI coding tools can discover it automatically.</a:t>
            </a:r>
            <a:endParaRPr lang="en-US" sz="1000" dirty="0"/>
          </a:p>
        </p:txBody>
      </p:sp>
      <p:sp>
        <p:nvSpPr>
          <p:cNvPr id="14" name="Shape 12"/>
          <p:cNvSpPr/>
          <p:nvPr/>
        </p:nvSpPr>
        <p:spPr>
          <a:xfrm>
            <a:off x="502920" y="3291840"/>
            <a:ext cx="475488" cy="475488"/>
          </a:xfrm>
          <a:prstGeom prst="ellipse">
            <a:avLst/>
          </a:prstGeom>
          <a:solidFill>
            <a:srgbClr val="02C39A"/>
          </a:solidFill>
          <a:ln w="12700">
            <a:solidFill>
              <a:srgbClr val="02C39A"/>
            </a:solidFill>
            <a:prstDash val="solid"/>
          </a:ln>
        </p:spPr>
      </p:sp>
      <p:sp>
        <p:nvSpPr>
          <p:cNvPr id="15" name="Text 13"/>
          <p:cNvSpPr/>
          <p:nvPr/>
        </p:nvSpPr>
        <p:spPr>
          <a:xfrm>
            <a:off x="502920" y="3291840"/>
            <a:ext cx="475488" cy="475488"/>
          </a:xfrm>
          <a:prstGeom prst="rect">
            <a:avLst/>
          </a:prstGeom>
          <a:noFill/>
          <a:ln/>
        </p:spPr>
        <p:txBody>
          <a:bodyPr wrap="square" lIns="0" tIns="0" rIns="0" bIns="0" rtlCol="0" anchor="ctr"/>
          <a:lstStyle/>
          <a:p>
            <a:pPr algn="ctr" indent="0" marL="0">
              <a:buNone/>
            </a:pPr>
            <a:r>
              <a:rPr lang="en-US" sz="1300" b="1" dirty="0">
                <a:solidFill>
                  <a:srgbClr val="0F1F3D"/>
                </a:solidFill>
              </a:rPr>
              <a:t>3</a:t>
            </a:r>
            <a:endParaRPr lang="en-US" sz="1300" dirty="0"/>
          </a:p>
        </p:txBody>
      </p:sp>
      <p:sp>
        <p:nvSpPr>
          <p:cNvPr id="16" name="Text 14"/>
          <p:cNvSpPr/>
          <p:nvPr/>
        </p:nvSpPr>
        <p:spPr>
          <a:xfrm>
            <a:off x="1115568" y="3273552"/>
            <a:ext cx="5486400" cy="27432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Point your AI agent at MASTER.md</a:t>
            </a:r>
            <a:endParaRPr lang="en-US" sz="1250" dirty="0"/>
          </a:p>
        </p:txBody>
      </p:sp>
      <p:sp>
        <p:nvSpPr>
          <p:cNvPr id="17" name="Text 15"/>
          <p:cNvSpPr/>
          <p:nvPr/>
        </p:nvSpPr>
        <p:spPr>
          <a:xfrm>
            <a:off x="1115568" y="3566160"/>
            <a:ext cx="5486400" cy="384048"/>
          </a:xfrm>
          <a:prstGeom prst="rect">
            <a:avLst/>
          </a:prstGeom>
          <a:noFill/>
          <a:ln/>
        </p:spPr>
        <p:txBody>
          <a:bodyPr wrap="square" lIns="0" tIns="0" rIns="0" bIns="0" rtlCol="0" anchor="ctr"/>
          <a:lstStyle/>
          <a:p>
            <a:pPr indent="0" marL="0">
              <a:lnSpc>
                <a:spcPct val="120000"/>
              </a:lnSpc>
              <a:buNone/>
            </a:pPr>
            <a:r>
              <a:rPr lang="en-US" sz="1000" dirty="0">
                <a:solidFill>
                  <a:srgbClr val="8FB3CC"/>
                </a:solidFill>
                <a:latin typeface="Calibri" pitchFamily="34" charset="0"/>
                <a:ea typeface="Calibri" pitchFamily="34" charset="-122"/>
                <a:cs typeface="Calibri" pitchFamily="34" charset="-120"/>
              </a:rPr>
              <a:t>In your AI tool (Cursor, Copilot, Claude, etc.) instruct the agent to read MASTER.md before any task.</a:t>
            </a:r>
            <a:endParaRPr lang="en-US" sz="1000" dirty="0"/>
          </a:p>
        </p:txBody>
      </p:sp>
      <p:sp>
        <p:nvSpPr>
          <p:cNvPr id="18" name="Shape 16"/>
          <p:cNvSpPr/>
          <p:nvPr/>
        </p:nvSpPr>
        <p:spPr>
          <a:xfrm>
            <a:off x="502920" y="4096512"/>
            <a:ext cx="475488" cy="475488"/>
          </a:xfrm>
          <a:prstGeom prst="ellipse">
            <a:avLst/>
          </a:prstGeom>
          <a:solidFill>
            <a:srgbClr val="02C39A"/>
          </a:solidFill>
          <a:ln w="12700">
            <a:solidFill>
              <a:srgbClr val="02C39A"/>
            </a:solidFill>
            <a:prstDash val="solid"/>
          </a:ln>
        </p:spPr>
      </p:sp>
      <p:sp>
        <p:nvSpPr>
          <p:cNvPr id="19" name="Text 17"/>
          <p:cNvSpPr/>
          <p:nvPr/>
        </p:nvSpPr>
        <p:spPr>
          <a:xfrm>
            <a:off x="502920" y="4096512"/>
            <a:ext cx="475488" cy="475488"/>
          </a:xfrm>
          <a:prstGeom prst="rect">
            <a:avLst/>
          </a:prstGeom>
          <a:noFill/>
          <a:ln/>
        </p:spPr>
        <p:txBody>
          <a:bodyPr wrap="square" lIns="0" tIns="0" rIns="0" bIns="0" rtlCol="0" anchor="ctr"/>
          <a:lstStyle/>
          <a:p>
            <a:pPr algn="ctr" indent="0" marL="0">
              <a:buNone/>
            </a:pPr>
            <a:r>
              <a:rPr lang="en-US" sz="1300" b="1" dirty="0">
                <a:solidFill>
                  <a:srgbClr val="0F1F3D"/>
                </a:solidFill>
              </a:rPr>
              <a:t>4</a:t>
            </a:r>
            <a:endParaRPr lang="en-US" sz="1300" dirty="0"/>
          </a:p>
        </p:txBody>
      </p:sp>
      <p:sp>
        <p:nvSpPr>
          <p:cNvPr id="20" name="Text 18"/>
          <p:cNvSpPr/>
          <p:nvPr/>
        </p:nvSpPr>
        <p:spPr>
          <a:xfrm>
            <a:off x="1115568" y="4078224"/>
            <a:ext cx="5486400" cy="27432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Validate on one real task</a:t>
            </a:r>
            <a:endParaRPr lang="en-US" sz="1250" dirty="0"/>
          </a:p>
        </p:txBody>
      </p:sp>
      <p:sp>
        <p:nvSpPr>
          <p:cNvPr id="21" name="Text 19"/>
          <p:cNvSpPr/>
          <p:nvPr/>
        </p:nvSpPr>
        <p:spPr>
          <a:xfrm>
            <a:off x="1115568" y="4370832"/>
            <a:ext cx="5486400" cy="384048"/>
          </a:xfrm>
          <a:prstGeom prst="rect">
            <a:avLst/>
          </a:prstGeom>
          <a:noFill/>
          <a:ln/>
        </p:spPr>
        <p:txBody>
          <a:bodyPr wrap="square" lIns="0" tIns="0" rIns="0" bIns="0" rtlCol="0" anchor="ctr"/>
          <a:lstStyle/>
          <a:p>
            <a:pPr indent="0" marL="0">
              <a:lnSpc>
                <a:spcPct val="120000"/>
              </a:lnSpc>
              <a:buNone/>
            </a:pPr>
            <a:r>
              <a:rPr lang="en-US" sz="1000" dirty="0">
                <a:solidFill>
                  <a:srgbClr val="8FB3CC"/>
                </a:solidFill>
                <a:latin typeface="Calibri" pitchFamily="34" charset="0"/>
                <a:ea typeface="Calibri" pitchFamily="34" charset="-122"/>
                <a:cs typeface="Calibri" pitchFamily="34" charset="-120"/>
              </a:rPr>
              <a:t>Run a pipeline generation task and review the output against the checklist in the relevant CORE.md.</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Engineering Playbook</dc:title>
  <dc:subject>PptxGenJS Presentation</dc:subject>
  <dc:creator>PptxGenJS</dc:creator>
  <cp:lastModifiedBy>PptxGenJS</cp:lastModifiedBy>
  <cp:revision>1</cp:revision>
  <dcterms:created xsi:type="dcterms:W3CDTF">2026-06-13T09:13:57Z</dcterms:created>
  <dcterms:modified xsi:type="dcterms:W3CDTF">2026-06-13T09:13:57Z</dcterms:modified>
</cp:coreProperties>
</file>